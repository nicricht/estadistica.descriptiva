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Noto Sans"/>
              </a:rPr>
              <a:t>DEL ACERO AL ALGORITMO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417320"/>
            <a:ext cx="969264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50" b="0">
                <a:solidFill>
                  <a:srgbClr val="CFDBE6"/>
                </a:solidFill>
                <a:latin typeface="Noto Sans"/>
              </a:rPr>
              <a:t>Estadística Descriptiva aplicada a la Educación Superior del Biobío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057400"/>
            <a:ext cx="1005840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20" b="1">
                <a:solidFill>
                  <a:srgbClr val="FFFFFF"/>
                </a:solidFill>
                <a:latin typeface="Noto Sans"/>
              </a:rPr>
              <a:t>¿Desde qué base de capital humano parte el Biobío para transformar su histórica vocación industrial hacia una economía de manufactura avanzada e Industria 4.0?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4983480" cy="1417320"/>
          </a:xfrm>
          <a:prstGeom prst="roundRect">
            <a:avLst/>
          </a:prstGeom>
          <a:solidFill>
            <a:srgbClr val="1C3958"/>
          </a:solidFill>
          <a:ln w="8890">
            <a:solidFill>
              <a:srgbClr val="34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187952"/>
            <a:ext cx="1097280" cy="3200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59753"/>
                </a:solidFill>
                <a:latin typeface="Noto Sans"/>
              </a:rPr>
              <a:t>ACERO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069080"/>
            <a:ext cx="338328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Noto Sans"/>
              </a:rPr>
              <a:t>motores productivos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3886200"/>
            <a:ext cx="4983480" cy="1417320"/>
          </a:xfrm>
          <a:prstGeom prst="roundRect">
            <a:avLst/>
          </a:prstGeom>
          <a:solidFill>
            <a:srgbClr val="104852"/>
          </a:solidFill>
          <a:ln w="8890">
            <a:solidFill>
              <a:srgbClr val="1D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4187952"/>
            <a:ext cx="1508760" cy="3200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00AD9F"/>
                </a:solidFill>
                <a:latin typeface="Noto Sans"/>
              </a:rPr>
              <a:t>ALGORITMO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4069080"/>
            <a:ext cx="2971800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750" b="1">
                <a:solidFill>
                  <a:srgbClr val="FFFFFF"/>
                </a:solidFill>
                <a:latin typeface="Noto Sans"/>
              </a:rPr>
              <a:t>capacidades transformadoras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24728"/>
            <a:ext cx="103327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30" b="0">
                <a:solidFill>
                  <a:srgbClr val="ADC0CF"/>
                </a:solidFill>
                <a:latin typeface="Noto Sans"/>
              </a:rPr>
              <a:t>Base oficial: Matrículas de Educación Superior del Biobío ·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Contexto del análisis y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Una misma base exige unidades de análisis distintas según la pregunta.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72768"/>
            <a:ext cx="233172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09928"/>
            <a:ext cx="2185415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00AD9F"/>
                </a:solidFill>
                <a:latin typeface="Noto Sans"/>
              </a:rPr>
              <a:t>106.555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31136"/>
            <a:ext cx="2185415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BASE ORIGINAL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487168"/>
            <a:ext cx="2185415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720" b="0">
                <a:solidFill>
                  <a:srgbClr val="BCCCD8"/>
                </a:solidFill>
                <a:latin typeface="Noto Sans"/>
              </a:rPr>
              <a:t>28 columnas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4408" y="1572768"/>
            <a:ext cx="233172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709928"/>
            <a:ext cx="2185415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00AD9F"/>
                </a:solidFill>
                <a:latin typeface="Noto Sans"/>
              </a:rPr>
              <a:t>101.093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231136"/>
            <a:ext cx="2185415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MATRÍCULAS DE PREGRADO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487168"/>
            <a:ext cx="2185415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720" b="0">
                <a:solidFill>
                  <a:srgbClr val="BCCCD8"/>
                </a:solidFill>
                <a:latin typeface="Noto Sans"/>
              </a:rPr>
              <a:t>análisis de personas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15584" y="1572768"/>
            <a:ext cx="233172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8736" y="1709928"/>
            <a:ext cx="2185415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00AD9F"/>
                </a:solidFill>
                <a:latin typeface="Noto Sans"/>
              </a:rPr>
              <a:t>101.067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736" y="2231136"/>
            <a:ext cx="2185415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PREGRADO CON PRECIO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8736" y="2487168"/>
            <a:ext cx="2185415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720" b="0">
                <a:solidFill>
                  <a:srgbClr val="BCCCD8"/>
                </a:solidFill>
                <a:latin typeface="Noto Sans"/>
              </a:rPr>
              <a:t>arancel &gt; 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1572768"/>
            <a:ext cx="233172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1709928"/>
            <a:ext cx="2185415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F59753"/>
                </a:solidFill>
                <a:latin typeface="Noto Sans"/>
              </a:rPr>
              <a:t>1.273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2231136"/>
            <a:ext cx="2185415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OFERTAS ÚNICAS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2487168"/>
            <a:ext cx="2185415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720" b="0">
                <a:solidFill>
                  <a:srgbClr val="BCCCD8"/>
                </a:solidFill>
                <a:latin typeface="Noto Sans"/>
              </a:rPr>
              <a:t>comparación de precios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127248"/>
            <a:ext cx="5303520" cy="233172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3364992"/>
            <a:ext cx="489204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50" b="1">
                <a:solidFill>
                  <a:srgbClr val="0E2D4B"/>
                </a:solidFill>
                <a:latin typeface="Noto Sans"/>
              </a:rPr>
              <a:t>¿Qué hacemos con la base?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" y="3840480"/>
            <a:ext cx="384048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3858768"/>
            <a:ext cx="310896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3776472"/>
            <a:ext cx="42976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30" b="0">
                <a:solidFill>
                  <a:srgbClr val="243B54"/>
                </a:solidFill>
                <a:latin typeface="Noto Sans"/>
              </a:rPr>
              <a:t>Filtramos las matrículas de pregrado.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" y="4315968"/>
            <a:ext cx="384048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4334256"/>
            <a:ext cx="310896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4752" y="4251960"/>
            <a:ext cx="42976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30" b="0">
                <a:solidFill>
                  <a:srgbClr val="243B54"/>
                </a:solidFill>
                <a:latin typeface="Noto Sans"/>
              </a:rPr>
              <a:t>Separamos los registros con arancel válido.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" y="4791456"/>
            <a:ext cx="384048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4809744"/>
            <a:ext cx="310896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44752" y="4727448"/>
            <a:ext cx="42976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30" b="0">
                <a:solidFill>
                  <a:srgbClr val="243B54"/>
                </a:solidFill>
                <a:latin typeface="Noto Sans"/>
              </a:rPr>
              <a:t>Para comparar precios, dejamos una sola vez cada oferta académica.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1072" y="3127248"/>
            <a:ext cx="4407408" cy="233172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1072" y="3127248"/>
            <a:ext cx="32004" cy="2331720"/>
          </a:xfrm>
          <a:prstGeom prst="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3236976"/>
            <a:ext cx="3995928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DECISIÓN METODOLÓGICA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9672" y="3474720"/>
            <a:ext cx="3995928" cy="1911095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No repetimos el mismo arancel una vez por cada estudiante. Las 1.273 ofertas únicas permiten comparar precios sin que una carrera con más matrícula pese artificialmente más.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742432"/>
            <a:ext cx="108996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596C82"/>
                </a:solidFill>
                <a:latin typeface="Noto Sans"/>
              </a:rPr>
              <a:t>Control de calidad: 0 duplicados completos · nulos solo en acreditación · 26 registros con arancel $0 excluidos del análisis de precios.</a:t>
            </a:r>
          </a:p>
        </p:txBody>
      </p:sp>
      <p:pic>
        <p:nvPicPr>
          <p:cNvPr id="40" name="Picture 39" descr="contexto_regional_del_biobío_y_hallazgos_cl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Áreas de estudio en frecuencias relativas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Los porcentajes permiten comparar el peso de cada área dentro de las 101.093 matrículas de pregrado.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517904"/>
            <a:ext cx="4297680" cy="457200"/>
          </a:xfrm>
          <a:prstGeom prst="rect">
            <a:avLst/>
          </a:prstGeom>
          <a:solidFill>
            <a:srgbClr val="0E2D4B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17904"/>
            <a:ext cx="4114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Noto Sans"/>
              </a:rPr>
              <a:t>Área del conocimiento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6048" y="1517904"/>
            <a:ext cx="1828800" cy="457200"/>
          </a:xfrm>
          <a:prstGeom prst="rect">
            <a:avLst/>
          </a:prstGeom>
          <a:solidFill>
            <a:srgbClr val="0E2D4B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1517904"/>
            <a:ext cx="16459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"/>
              </a:rPr>
              <a:t>Participación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84848" y="1517904"/>
            <a:ext cx="2011680" cy="457200"/>
          </a:xfrm>
          <a:prstGeom prst="rect">
            <a:avLst/>
          </a:prstGeom>
          <a:solidFill>
            <a:srgbClr val="0E2D4B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1517904"/>
            <a:ext cx="1828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"/>
              </a:rPr>
              <a:t>Lectura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1975104"/>
            <a:ext cx="429768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75104"/>
            <a:ext cx="4114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Tecnología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6048" y="1975104"/>
            <a:ext cx="182880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1975104"/>
            <a:ext cx="16459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27,6%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84848" y="1975104"/>
            <a:ext cx="201168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8" y="1975104"/>
            <a:ext cx="1828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Mayor participación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432304"/>
            <a:ext cx="42976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2432304"/>
            <a:ext cx="4114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Salud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56048" y="2432304"/>
            <a:ext cx="18288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7488" y="2432304"/>
            <a:ext cx="16459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24,3%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84848" y="2432304"/>
            <a:ext cx="20116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2432304"/>
            <a:ext cx="1828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Segunda mayor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2889504"/>
            <a:ext cx="429768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2889504"/>
            <a:ext cx="4114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Administración y Comercio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56048" y="2889504"/>
            <a:ext cx="182880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7488" y="2889504"/>
            <a:ext cx="16459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13,4%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4848" y="2889504"/>
            <a:ext cx="201168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76288" y="2889504"/>
            <a:ext cx="1828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Participación intermedia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3346704"/>
            <a:ext cx="42976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3346704"/>
            <a:ext cx="4114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Educación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56048" y="3346704"/>
            <a:ext cx="18288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47488" y="3346704"/>
            <a:ext cx="16459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11,4%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84848" y="3346704"/>
            <a:ext cx="20116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76288" y="3346704"/>
            <a:ext cx="1828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Participación intermedia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3803904"/>
            <a:ext cx="429768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3803904"/>
            <a:ext cx="4114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Otros campos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56048" y="3803904"/>
            <a:ext cx="182880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47488" y="3803904"/>
            <a:ext cx="16459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23,3%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84848" y="3803904"/>
            <a:ext cx="201168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76288" y="3803904"/>
            <a:ext cx="18288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Resto de las áreas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4709160"/>
            <a:ext cx="8138160" cy="987552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368" y="4709160"/>
            <a:ext cx="32004" cy="987552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968" y="4818888"/>
            <a:ext cx="772668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HALLAZGO PRINCIPAL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" y="5056632"/>
            <a:ext cx="772668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Tecnología y Salud concentran 51,9% de la matrícula. Las cuatro áreas principales representan 76,7% del total.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62288" y="1682496"/>
            <a:ext cx="219456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1819656"/>
            <a:ext cx="2048255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00AD9F"/>
                </a:solidFill>
                <a:latin typeface="Noto Sans"/>
              </a:rPr>
              <a:t>51,9%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2340864"/>
            <a:ext cx="2048255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TECNOLOGÍA + SALUD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62288" y="3090672"/>
            <a:ext cx="219456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35440" y="3227832"/>
            <a:ext cx="2048255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F59753"/>
                </a:solidFill>
                <a:latin typeface="Noto Sans"/>
              </a:rPr>
              <a:t>76,7%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3749039"/>
            <a:ext cx="2048255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4 ÁREAS PRINCIPALES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Arial"/>
              </a:rPr>
              <a:t>Áreas de estudio en frecuencias relativas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r"/>
            <a:r>
              <a:rPr sz="950" b="1">
                <a:solidFill>
                  <a:srgbClr val="596C82"/>
                </a:solidFill>
                <a:latin typeface="Arial"/>
              </a:rPr>
              <a:t>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Arial"/>
              </a:rPr>
              <a:t>Porcentaje de matrículas de pregrado en cada área del conocimiento.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Arial"/>
              </a:rPr>
              <a:t>EduBío 360 · Estadística Descriptiva · Biobío 2021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40" y="1627632"/>
            <a:ext cx="10652760" cy="35295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78992" y="4389120"/>
            <a:ext cx="9829800" cy="7315"/>
          </a:xfrm>
          <a:prstGeom prst="rect">
            <a:avLst/>
          </a:prstGeom>
          <a:solidFill>
            <a:srgbClr val="E5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9808" y="4279392"/>
            <a:ext cx="27432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r"/>
            <a:r>
              <a:rPr sz="760" b="0">
                <a:solidFill>
                  <a:srgbClr val="596C82"/>
                </a:solidFill>
                <a:latin typeface="Arial"/>
              </a:rPr>
              <a:t>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78992" y="3560064"/>
            <a:ext cx="9829800" cy="7315"/>
          </a:xfrm>
          <a:prstGeom prst="rect">
            <a:avLst/>
          </a:prstGeom>
          <a:solidFill>
            <a:srgbClr val="E5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808" y="3450336"/>
            <a:ext cx="27432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r"/>
            <a:r>
              <a:rPr sz="760" b="0">
                <a:solidFill>
                  <a:srgbClr val="596C82"/>
                </a:solidFill>
                <a:latin typeface="Arial"/>
              </a:rPr>
              <a:t>10%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78992" y="2731008"/>
            <a:ext cx="9829800" cy="7315"/>
          </a:xfrm>
          <a:prstGeom prst="rect">
            <a:avLst/>
          </a:prstGeom>
          <a:solidFill>
            <a:srgbClr val="E5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9808" y="2621280"/>
            <a:ext cx="27432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r"/>
            <a:r>
              <a:rPr sz="760" b="0">
                <a:solidFill>
                  <a:srgbClr val="596C82"/>
                </a:solidFill>
                <a:latin typeface="Arial"/>
              </a:rPr>
              <a:t>20%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78992" y="1901952"/>
            <a:ext cx="9829800" cy="7315"/>
          </a:xfrm>
          <a:prstGeom prst="rect">
            <a:avLst/>
          </a:prstGeom>
          <a:solidFill>
            <a:srgbClr val="E5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" y="1792224"/>
            <a:ext cx="27432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r"/>
            <a:r>
              <a:rPr sz="760" b="0">
                <a:solidFill>
                  <a:srgbClr val="596C82"/>
                </a:solidFill>
                <a:latin typeface="Arial"/>
              </a:rPr>
              <a:t>30%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78992" y="2100925"/>
            <a:ext cx="834847" cy="2288194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51560" y="1883664"/>
            <a:ext cx="889711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840" b="1">
                <a:solidFill>
                  <a:srgbClr val="0E2D4B"/>
                </a:solidFill>
                <a:latin typeface="Arial"/>
              </a:rPr>
              <a:t>27,6%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7551" y="4462272"/>
            <a:ext cx="1017727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700" b="1">
                <a:solidFill>
                  <a:srgbClr val="243B54"/>
                </a:solidFill>
                <a:latin typeface="Arial"/>
              </a:rPr>
              <a:t>Tecnología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78431" y="2374513"/>
            <a:ext cx="834847" cy="2014606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50999" y="2091049"/>
            <a:ext cx="889711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840" b="1">
                <a:solidFill>
                  <a:srgbClr val="0E2D4B"/>
                </a:solidFill>
                <a:latin typeface="Arial"/>
              </a:rPr>
              <a:t>24,3%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86991" y="4462272"/>
            <a:ext cx="1017727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700" b="1">
                <a:solidFill>
                  <a:srgbClr val="243B54"/>
                </a:solidFill>
                <a:latin typeface="Arial"/>
              </a:rPr>
              <a:t>Salud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77870" y="3278184"/>
            <a:ext cx="834847" cy="1110935"/>
          </a:xfrm>
          <a:prstGeom prst="rect">
            <a:avLst/>
          </a:prstGeom>
          <a:solidFill>
            <a:srgbClr val="07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50438" y="2994720"/>
            <a:ext cx="889711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840" b="1">
                <a:solidFill>
                  <a:srgbClr val="0E2D4B"/>
                </a:solidFill>
                <a:latin typeface="Arial"/>
              </a:rPr>
              <a:t>13,4%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86430" y="4462272"/>
            <a:ext cx="1017727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700" b="1">
                <a:solidFill>
                  <a:srgbClr val="243B54"/>
                </a:solidFill>
                <a:latin typeface="Arial"/>
              </a:rPr>
              <a:t>Adm. y
Comercio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77309" y="3443996"/>
            <a:ext cx="834847" cy="945123"/>
          </a:xfrm>
          <a:prstGeom prst="rect">
            <a:avLst/>
          </a:prstGeom>
          <a:solidFill>
            <a:srgbClr val="07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49877" y="3160532"/>
            <a:ext cx="889711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840" b="1">
                <a:solidFill>
                  <a:srgbClr val="0E2D4B"/>
                </a:solidFill>
                <a:latin typeface="Arial"/>
              </a:rPr>
              <a:t>11,4%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85869" y="4462272"/>
            <a:ext cx="1017727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700" b="1">
                <a:solidFill>
                  <a:srgbClr val="243B54"/>
                </a:solidFill>
                <a:latin typeface="Arial"/>
              </a:rPr>
              <a:t>Educación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76748" y="3510320"/>
            <a:ext cx="834847" cy="878799"/>
          </a:xfrm>
          <a:prstGeom prst="rect">
            <a:avLst/>
          </a:prstGeom>
          <a:solidFill>
            <a:srgbClr val="07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049316" y="3226856"/>
            <a:ext cx="889711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840" b="1">
                <a:solidFill>
                  <a:srgbClr val="0E2D4B"/>
                </a:solidFill>
                <a:latin typeface="Arial"/>
              </a:rPr>
              <a:t>10,6%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85308" y="4462272"/>
            <a:ext cx="1017727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700" b="1">
                <a:solidFill>
                  <a:srgbClr val="243B54"/>
                </a:solidFill>
                <a:latin typeface="Arial"/>
              </a:rPr>
              <a:t>Cs.
Sociales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76188" y="4090659"/>
            <a:ext cx="834847" cy="298460"/>
          </a:xfrm>
          <a:prstGeom prst="rect">
            <a:avLst/>
          </a:prstGeom>
          <a:solidFill>
            <a:srgbClr val="07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048755" y="3807195"/>
            <a:ext cx="889711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840" b="1">
                <a:solidFill>
                  <a:srgbClr val="0E2D4B"/>
                </a:solidFill>
                <a:latin typeface="Arial"/>
              </a:rPr>
              <a:t>3,6%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84748" y="4462272"/>
            <a:ext cx="1017727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700" b="1">
                <a:solidFill>
                  <a:srgbClr val="243B54"/>
                </a:solidFill>
                <a:latin typeface="Arial"/>
              </a:rPr>
              <a:t>Arte y
Arquitectura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75627" y="4098950"/>
            <a:ext cx="834847" cy="290169"/>
          </a:xfrm>
          <a:prstGeom prst="rect">
            <a:avLst/>
          </a:prstGeom>
          <a:solidFill>
            <a:srgbClr val="07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048195" y="3815486"/>
            <a:ext cx="889711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840" b="1">
                <a:solidFill>
                  <a:srgbClr val="0E2D4B"/>
                </a:solidFill>
                <a:latin typeface="Arial"/>
              </a:rPr>
              <a:t>3,5%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84187" y="4462272"/>
            <a:ext cx="1017727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700" b="1">
                <a:solidFill>
                  <a:srgbClr val="243B54"/>
                </a:solidFill>
                <a:latin typeface="Arial"/>
              </a:rPr>
              <a:t>Derecho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075066" y="4148693"/>
            <a:ext cx="834847" cy="240426"/>
          </a:xfrm>
          <a:prstGeom prst="rect">
            <a:avLst/>
          </a:prstGeom>
          <a:solidFill>
            <a:srgbClr val="07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47634" y="3865229"/>
            <a:ext cx="889711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840" b="1">
                <a:solidFill>
                  <a:srgbClr val="0E2D4B"/>
                </a:solidFill>
                <a:latin typeface="Arial"/>
              </a:rPr>
              <a:t>2,9%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83626" y="4462272"/>
            <a:ext cx="1017727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700" b="1">
                <a:solidFill>
                  <a:srgbClr val="243B54"/>
                </a:solidFill>
                <a:latin typeface="Arial"/>
              </a:rPr>
              <a:t>Cs.
Básicas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074505" y="4198437"/>
            <a:ext cx="834847" cy="190682"/>
          </a:xfrm>
          <a:prstGeom prst="rect">
            <a:avLst/>
          </a:prstGeom>
          <a:solidFill>
            <a:srgbClr val="07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047073" y="3914973"/>
            <a:ext cx="889711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840" b="1">
                <a:solidFill>
                  <a:srgbClr val="0E2D4B"/>
                </a:solidFill>
                <a:latin typeface="Arial"/>
              </a:rPr>
              <a:t>2,3%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3065" y="4462272"/>
            <a:ext cx="1017727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700" b="1">
                <a:solidFill>
                  <a:srgbClr val="243B54"/>
                </a:solidFill>
                <a:latin typeface="Arial"/>
              </a:rPr>
              <a:t>Agropec.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073944" y="4347667"/>
            <a:ext cx="834847" cy="41452"/>
          </a:xfrm>
          <a:prstGeom prst="rect">
            <a:avLst/>
          </a:prstGeom>
          <a:solidFill>
            <a:srgbClr val="07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046512" y="4064203"/>
            <a:ext cx="889711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840" b="1">
                <a:solidFill>
                  <a:srgbClr val="0E2D4B"/>
                </a:solidFill>
                <a:latin typeface="Arial"/>
              </a:rPr>
              <a:t>0,5%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982504" y="4462272"/>
            <a:ext cx="1017727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700" b="1">
                <a:solidFill>
                  <a:srgbClr val="243B54"/>
                </a:solidFill>
                <a:latin typeface="Arial"/>
              </a:rPr>
              <a:t>Humanidades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60120" y="4882896"/>
            <a:ext cx="2103120" cy="658368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78992" y="4956048"/>
            <a:ext cx="1865376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00AD9F"/>
                </a:solidFill>
                <a:latin typeface="Arial"/>
              </a:rPr>
              <a:t>51,9%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78992" y="5230368"/>
            <a:ext cx="1865376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TECNOLOGÍA + SALUD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273552" y="4882896"/>
            <a:ext cx="2103120" cy="658368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392424" y="4956048"/>
            <a:ext cx="1865376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F59753"/>
                </a:solidFill>
                <a:latin typeface="Arial"/>
              </a:rPr>
              <a:t>76,7%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392424" y="5230368"/>
            <a:ext cx="1865376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4 ÁREAS PRINCIPALES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623560" y="4846320"/>
            <a:ext cx="5577840" cy="749808"/>
          </a:xfrm>
          <a:prstGeom prst="roundRect">
            <a:avLst/>
          </a:prstGeom>
          <a:solidFill>
            <a:srgbClr val="F6F9FC"/>
          </a:solidFill>
          <a:ln w="1016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623560" y="4846320"/>
            <a:ext cx="36576" cy="74980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870448" y="4910328"/>
            <a:ext cx="507492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919" b="1">
                <a:solidFill>
                  <a:srgbClr val="0E2D4B"/>
                </a:solidFill>
                <a:latin typeface="Arial"/>
              </a:rPr>
              <a:t>LECTURA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870448" y="5138928"/>
            <a:ext cx="507492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869" b="0">
                <a:solidFill>
                  <a:srgbClr val="596C82"/>
                </a:solidFill>
                <a:latin typeface="Arial"/>
              </a:rPr>
              <a:t>Tecnología y Salud concentran más de la mitad de las matrículas de pregrado.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Del acero al algoritmo: clasificación propia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Agrupamos carreras en nueve familias para construir una lectura regional del capital humano.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5321808" cy="416052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9632" y="1481328"/>
            <a:ext cx="5321808" cy="416052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28216"/>
            <a:ext cx="182880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F59753"/>
                </a:solidFill>
                <a:latin typeface="Noto Sans"/>
              </a:rPr>
              <a:t>ACERO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1737360"/>
            <a:ext cx="283464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0E2D4B"/>
                </a:solidFill>
                <a:latin typeface="Noto Sans"/>
              </a:rPr>
              <a:t>Motores productivos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" y="2267712"/>
            <a:ext cx="393192" cy="31089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2286000"/>
            <a:ext cx="32004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212848"/>
            <a:ext cx="40690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19" b="1">
                <a:solidFill>
                  <a:srgbClr val="243B54"/>
                </a:solidFill>
                <a:latin typeface="Noto Sans"/>
              </a:rPr>
              <a:t>Industria y manufactura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" y="2752344"/>
            <a:ext cx="393192" cy="31089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2770632"/>
            <a:ext cx="32004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697480"/>
            <a:ext cx="40690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19" b="1">
                <a:solidFill>
                  <a:srgbClr val="243B54"/>
                </a:solidFill>
                <a:latin typeface="Noto Sans"/>
              </a:rPr>
              <a:t>Construcción e infraestructura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" y="3236976"/>
            <a:ext cx="393192" cy="31089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255264"/>
            <a:ext cx="32004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182112"/>
            <a:ext cx="40690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19" b="1">
                <a:solidFill>
                  <a:srgbClr val="243B54"/>
                </a:solidFill>
                <a:latin typeface="Noto Sans"/>
              </a:rPr>
              <a:t>Logística y puertos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" y="3721608"/>
            <a:ext cx="393192" cy="31089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739896"/>
            <a:ext cx="32004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666744"/>
            <a:ext cx="40690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19" b="1">
                <a:solidFill>
                  <a:srgbClr val="243B54"/>
                </a:solidFill>
                <a:latin typeface="Noto Sans"/>
              </a:rPr>
              <a:t>Forestal y madera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" y="4206240"/>
            <a:ext cx="393192" cy="31089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224527"/>
            <a:ext cx="32004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151376"/>
            <a:ext cx="40690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19" b="1">
                <a:solidFill>
                  <a:srgbClr val="243B54"/>
                </a:solidFill>
                <a:latin typeface="Noto Sans"/>
              </a:rPr>
              <a:t>Pesca y acuicultura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" y="4690872"/>
            <a:ext cx="393192" cy="31089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4709160"/>
            <a:ext cx="32004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636008"/>
            <a:ext cx="40690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19" b="1">
                <a:solidFill>
                  <a:srgbClr val="243B54"/>
                </a:solidFill>
                <a:latin typeface="Noto Sans"/>
              </a:rPr>
              <a:t>Agroalimentario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1728216"/>
            <a:ext cx="21945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00AD9F"/>
                </a:solidFill>
                <a:latin typeface="Noto Sans"/>
              </a:rPr>
              <a:t>ALGORITMO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8512" y="1737360"/>
            <a:ext cx="246888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050" b="1">
                <a:solidFill>
                  <a:srgbClr val="0E2D4B"/>
                </a:solidFill>
                <a:latin typeface="Noto Sans"/>
              </a:rPr>
              <a:t>Capacidades transformadoras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73952" y="2395728"/>
            <a:ext cx="393192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2414016"/>
            <a:ext cx="32004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2322576"/>
            <a:ext cx="37947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69" b="1">
                <a:solidFill>
                  <a:srgbClr val="243B54"/>
                </a:solidFill>
                <a:latin typeface="Noto Sans"/>
              </a:rPr>
              <a:t>Digital y TIC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73952" y="3072384"/>
            <a:ext cx="393192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3090672"/>
            <a:ext cx="32004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2999232"/>
            <a:ext cx="37947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69" b="1">
                <a:solidFill>
                  <a:srgbClr val="243B54"/>
                </a:solidFill>
                <a:latin typeface="Noto Sans"/>
              </a:rPr>
              <a:t>Automatización y robótica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73952" y="3749039"/>
            <a:ext cx="393192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3767327"/>
            <a:ext cx="32004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2592" y="3675887"/>
            <a:ext cx="37947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69" b="1">
                <a:solidFill>
                  <a:srgbClr val="243B54"/>
                </a:solidFill>
                <a:latin typeface="Noto Sans"/>
              </a:rPr>
              <a:t>Energía, sustentabilidad y biotecnología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82512" y="4535424"/>
            <a:ext cx="4864608" cy="804672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82512" y="4535424"/>
            <a:ext cx="32004" cy="804672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11112" y="4645152"/>
            <a:ext cx="4453128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Arial"/>
              </a:rPr>
              <a:t>CÓMO LA USAMOS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11112" y="4882896"/>
            <a:ext cx="4453128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>
                <a:solidFill>
                  <a:srgbClr val="596C82"/>
                </a:solidFill>
                <a:latin typeface="Arial"/>
              </a:rPr>
              <a:t>Esta clasificación fue creada para el trabajo. Cada carrera se asigna a una sola familia para evitar contarla dos veces.</a:t>
            </a:r>
          </a:p>
        </p:txBody>
      </p:sp>
      <p:pic>
        <p:nvPicPr>
          <p:cNvPr id="45" name="Picture 44" descr="del_acero_al_algorit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Hallazgo central: motores productivos vs. capacidades transformadoras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La comparación resume la composición de la matrícula de pregrado en 2021.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288036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91639"/>
            <a:ext cx="2734056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F59753"/>
                </a:solidFill>
                <a:latin typeface="Noto Sans"/>
              </a:rPr>
              <a:t>20.368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12848"/>
            <a:ext cx="2734056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MOTORES PRODUCTIVOS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68880"/>
            <a:ext cx="2734056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720" b="0">
                <a:solidFill>
                  <a:srgbClr val="BCCCD8"/>
                </a:solidFill>
                <a:latin typeface="Noto Sans"/>
              </a:rPr>
              <a:t>20,15%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50208" y="1554480"/>
            <a:ext cx="288036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1691639"/>
            <a:ext cx="2734056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00AD9F"/>
                </a:solidFill>
                <a:latin typeface="Noto Sans"/>
              </a:rPr>
              <a:t>7.000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212848"/>
            <a:ext cx="2734056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CAPACIDADES TRANSFORMADORAS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468880"/>
            <a:ext cx="2734056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720" b="0">
                <a:solidFill>
                  <a:srgbClr val="BCCCD8"/>
                </a:solidFill>
                <a:latin typeface="Noto Sans"/>
              </a:rPr>
              <a:t>6,92%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554480"/>
            <a:ext cx="278892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91272" y="1691639"/>
            <a:ext cx="2642615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3AA484"/>
                </a:solidFill>
                <a:latin typeface="Noto Sans"/>
              </a:rPr>
              <a:t>≈ 2,9 :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2212848"/>
            <a:ext cx="2642615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RELACIÓN ENTRE BLOQUES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2" y="2468880"/>
            <a:ext cx="2642615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720" b="0">
                <a:solidFill>
                  <a:srgbClr val="BCCCD8"/>
                </a:solidFill>
                <a:latin typeface="Noto Sans"/>
              </a:rPr>
              <a:t>productivas / transformadora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273552"/>
            <a:ext cx="987552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70" b="1">
                <a:solidFill>
                  <a:srgbClr val="0E2D4B"/>
                </a:solidFill>
                <a:latin typeface="Noto Sans"/>
              </a:rPr>
              <a:t>Participación dentro de las 101.093 matrículas de pregrado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822191"/>
            <a:ext cx="8961120" cy="438912"/>
          </a:xfrm>
          <a:prstGeom prst="roundRect">
            <a:avLst/>
          </a:prstGeom>
          <a:solidFill>
            <a:srgbClr val="E1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3822191"/>
            <a:ext cx="7222662" cy="438912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3767328"/>
            <a:ext cx="11430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F59753"/>
                </a:solidFill>
                <a:latin typeface="Noto Sans"/>
              </a:rPr>
              <a:t>20,15%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498848"/>
            <a:ext cx="8961120" cy="438912"/>
          </a:xfrm>
          <a:prstGeom prst="roundRect">
            <a:avLst/>
          </a:prstGeom>
          <a:solidFill>
            <a:srgbClr val="E1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4498848"/>
            <a:ext cx="2480438" cy="438912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4443984"/>
            <a:ext cx="11430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100" b="1">
                <a:solidFill>
                  <a:srgbClr val="00AD9F"/>
                </a:solidFill>
                <a:latin typeface="Noto Sans"/>
              </a:rPr>
              <a:t>6,92%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257800"/>
            <a:ext cx="10332720" cy="713232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5257800"/>
            <a:ext cx="32004" cy="713232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367528"/>
            <a:ext cx="992124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INTERPRETACIÓN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605272"/>
            <a:ext cx="992124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En esta fotografía de 2021, el bloque productivo pesa cerca de tres veces más que el transformador. Esto no demuestra déficit de profesionales.</a:t>
            </a:r>
          </a:p>
        </p:txBody>
      </p:sp>
      <p:pic>
        <p:nvPicPr>
          <p:cNvPr id="31" name="Picture 30" descr="hallazgo_central_productividad_y_transformació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r>
              <a:t>¿Hay áreas donde las carreras sean más caras?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Comparamos la mediana del arancel sobre 1.273 ofertas académicas únicas.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699516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70" b="1">
                <a:solidFill>
                  <a:srgbClr val="0E2D4B"/>
                </a:solidFill>
                <a:latin typeface="Noto Sans"/>
              </a:rPr>
              <a:t>Mediana de arancel por área (millones de pesos)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74520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Derecho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901952"/>
            <a:ext cx="406908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1901952"/>
            <a:ext cx="3647930" cy="292608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34072" y="1901952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0648" y="1920240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$3.586M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920240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F59753"/>
                </a:solidFill>
                <a:latin typeface="Noto Sans"/>
              </a:rPr>
              <a:t>$3.586M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459736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Ciencias Básicas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2487168"/>
            <a:ext cx="406908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0" y="2487168"/>
            <a:ext cx="3346818" cy="292608"/>
          </a:xfrm>
          <a:prstGeom prst="roundRect">
            <a:avLst/>
          </a:prstGeom>
          <a:solidFill>
            <a:srgbClr val="3A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34072" y="2487168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0648" y="2505456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$3.290M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505456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3AA484"/>
                </a:solidFill>
                <a:latin typeface="Noto Sans"/>
              </a:rPr>
              <a:t>$3.290M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044952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Agropecuaria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3072384"/>
            <a:ext cx="406908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00400" y="3072384"/>
            <a:ext cx="3033499" cy="292608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34072" y="3072384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0648" y="3090672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$2.982M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090672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00AD9F"/>
                </a:solidFill>
                <a:latin typeface="Noto Sans"/>
              </a:rPr>
              <a:t>$2.982M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3630168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Tecnología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3657600"/>
            <a:ext cx="406908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00400" y="3657600"/>
            <a:ext cx="2158646" cy="292608"/>
          </a:xfrm>
          <a:prstGeom prst="roundRect">
            <a:avLst/>
          </a:prstGeom>
          <a:solidFill>
            <a:srgbClr val="07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34072" y="3657600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0648" y="3675887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$2.122M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3675887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077596"/>
                </a:solidFill>
                <a:latin typeface="Noto Sans"/>
              </a:rPr>
              <a:t>$2.122M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215384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Salud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0" y="4242816"/>
            <a:ext cx="406908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200400" y="4242816"/>
            <a:ext cx="2115921" cy="292608"/>
          </a:xfrm>
          <a:prstGeom prst="round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34072" y="4242816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0648" y="4261104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$2.080M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4261104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00899A"/>
                </a:solidFill>
                <a:latin typeface="Noto Sans"/>
              </a:rPr>
              <a:t>$2.080M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32520" y="1645920"/>
            <a:ext cx="224028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05672" y="1783080"/>
            <a:ext cx="2093976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00AD9F"/>
                </a:solidFill>
                <a:latin typeface="Noto Sans"/>
              </a:rPr>
              <a:t>$2.030M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05672" y="2304288"/>
            <a:ext cx="2093976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MEDIANA GLOBAL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12480" y="3154680"/>
            <a:ext cx="2880360" cy="1901952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12480" y="3154680"/>
            <a:ext cx="32004" cy="1901952"/>
          </a:xfrm>
          <a:prstGeom prst="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41080" y="3264408"/>
            <a:ext cx="2468879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RESPUESTA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80" y="3502152"/>
            <a:ext cx="2468879" cy="14813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Sí. Derecho, Ciencias Básicas y Agropecuaria presentan medianas por encima de la mediana global. Usamos mediana porque los valores extremos la afectan menos.</a:t>
            </a:r>
          </a:p>
        </p:txBody>
      </p:sp>
      <p:pic>
        <p:nvPicPr>
          <p:cNvPr id="46" name="Picture 45" descr="aranceles_por_área_hallazgos_glob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219456" y="5943600"/>
            <a:ext cx="11759184" cy="676656"/>
          </a:xfrm>
          <a:prstGeom prst="roundRect">
            <a:avLst/>
          </a:prstGeom>
          <a:solidFill>
            <a:srgbClr val="0A273F"/>
          </a:solidFill>
          <a:ln w="12700">
            <a:solidFill>
              <a:srgbClr val="00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4" y="5980176"/>
            <a:ext cx="11356848" cy="256032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r>
              <a:rPr sz="940" b="1">
                <a:solidFill>
                  <a:srgbClr val="FFFFFF"/>
                </a:solidFill>
                <a:latin typeface="Arial"/>
              </a:rPr>
              <a:t>CRITERIO: mediana por área vs. mediana global, porque la mediana es menos sensible a valores extremos.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" y="6236208"/>
            <a:ext cx="11356848" cy="274320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r>
              <a:rPr sz="940" b="0">
                <a:solidFill>
                  <a:srgbClr val="FFFFFF"/>
                </a:solidFill>
                <a:latin typeface="Arial"/>
              </a:rPr>
              <a:t>HALLAZGO: Derecho, Ciencias Básicas y Agropecuaria presentan aranceles medianos sobre la mediana global de $2.030.000.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r>
              <a:t>Edad y tipo de institución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Comparamos la composición institucional de dos grupos de edad con porcentajes.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72768"/>
            <a:ext cx="5074920" cy="278892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810512"/>
            <a:ext cx="45262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50" b="1">
                <a:solidFill>
                  <a:srgbClr val="0E2D4B"/>
                </a:solidFill>
                <a:latin typeface="Noto Sans"/>
              </a:rPr>
              <a:t>Estudiantes de 15 a 19 años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368296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Universidad CRUCH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2395728"/>
            <a:ext cx="100584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64992" y="2395728"/>
            <a:ext cx="775167" cy="292608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35424" y="2395728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414016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46.2%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414016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00AD9F"/>
                </a:solidFill>
                <a:latin typeface="Noto Sans"/>
              </a:rPr>
              <a:t>46.2%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127248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Instituto Profesional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3154680"/>
            <a:ext cx="100584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64992" y="3154680"/>
            <a:ext cx="323545" cy="292608"/>
          </a:xfrm>
          <a:prstGeom prst="roundRect">
            <a:avLst/>
          </a:prstGeom>
          <a:solidFill>
            <a:srgbClr val="07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35424" y="3154680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172968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19.3%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172968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077596"/>
                </a:solidFill>
                <a:latin typeface="Noto Sans"/>
              </a:rPr>
              <a:t>19.3%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572768"/>
            <a:ext cx="5074920" cy="278892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1810512"/>
            <a:ext cx="45262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50" b="1">
                <a:solidFill>
                  <a:srgbClr val="0E2D4B"/>
                </a:solidFill>
                <a:latin typeface="Noto Sans"/>
              </a:rPr>
              <a:t>Estudiantes de 40 años o más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368296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Instituto Profesional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2395728"/>
            <a:ext cx="100584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15400" y="2395728"/>
            <a:ext cx="887318" cy="292608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85832" y="2395728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7" y="2414016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52.9%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2414016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F59753"/>
                </a:solidFill>
                <a:latin typeface="Noto Sans"/>
              </a:rPr>
              <a:t>52.9%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3127248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0E2D4B"/>
                </a:solidFill>
                <a:latin typeface="Noto Sans"/>
              </a:rPr>
              <a:t>Universidad CRUCH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3154680"/>
            <a:ext cx="1005840" cy="292608"/>
          </a:xfrm>
          <a:prstGeom prst="round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15400" y="3154680"/>
            <a:ext cx="182392" cy="292608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85832" y="3154680"/>
            <a:ext cx="868680" cy="310896"/>
          </a:xfrm>
          <a:prstGeom prst="roundRect">
            <a:avLst/>
          </a:prstGeom>
          <a:solidFill>
            <a:srgbClr val="0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2407" y="3172968"/>
            <a:ext cx="79552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10.9%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20" y="3172968"/>
            <a:ext cx="832104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00AD9F"/>
                </a:solidFill>
                <a:latin typeface="Noto Sans"/>
              </a:rPr>
              <a:t>10.9%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4681728"/>
            <a:ext cx="10625328" cy="100584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4681728"/>
            <a:ext cx="32004" cy="1005840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" y="4791456"/>
            <a:ext cx="10213848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INTERPRETACIÓN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" y="5029200"/>
            <a:ext cx="10213848" cy="58521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La composición institucional cambia entre grupos de edad. Observamos una asociación descriptiva, pero la base no permite afirmar que la edad cause la elección de institución.</a:t>
            </a:r>
          </a:p>
        </p:txBody>
      </p:sp>
      <p:pic>
        <p:nvPicPr>
          <p:cNvPr id="40" name="Picture 39" descr="edad_e_institución_por_grupo_et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r>
              <a:t>¿Qué aranceles están entre los más altos?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r>
              <a:t>Usamos el percentil 90 (P90) para identificar aproximadamente el 10% superior de las ofertas.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242316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09928"/>
            <a:ext cx="2276856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00AD9F"/>
                </a:solidFill>
                <a:latin typeface="Noto Sans"/>
              </a:rPr>
              <a:t>$4.106.400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31136"/>
            <a:ext cx="2276856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PERCENTIL 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87168"/>
            <a:ext cx="2276856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720" b="0">
                <a:solidFill>
                  <a:srgbClr val="BCCCD8"/>
                </a:solidFill>
                <a:latin typeface="Noto Sans"/>
              </a:rPr>
              <a:t>P90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572768"/>
            <a:ext cx="214884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1709928"/>
            <a:ext cx="2002536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E8674A"/>
                </a:solidFill>
                <a:latin typeface="Noto Sans"/>
              </a:rPr>
              <a:t>128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2231136"/>
            <a:ext cx="2002536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OFERTAS SOBRE P90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487168"/>
            <a:ext cx="2002536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720" b="0">
                <a:solidFill>
                  <a:srgbClr val="BCCCD8"/>
                </a:solidFill>
                <a:latin typeface="Noto Sans"/>
              </a:rPr>
              <a:t>de 1.273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572768"/>
            <a:ext cx="214884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71032" y="1709928"/>
            <a:ext cx="2002536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3AA484"/>
                </a:solidFill>
                <a:latin typeface="Noto Sans"/>
              </a:rPr>
              <a:t>10,1%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1032" y="2231136"/>
            <a:ext cx="2002536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DEL TOTAL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9327" y="1572768"/>
            <a:ext cx="2560320" cy="1225296"/>
          </a:xfrm>
          <a:prstGeom prst="round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709928"/>
            <a:ext cx="2414015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F59753"/>
                </a:solidFill>
                <a:latin typeface="Noto Sans"/>
              </a:rPr>
              <a:t>$8.783.670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231136"/>
            <a:ext cx="2414015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DAE4ED"/>
                </a:solidFill>
                <a:latin typeface="Noto Sans"/>
              </a:rPr>
              <a:t>VALOR MÁXIMO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328416"/>
            <a:ext cx="10058400" cy="3200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E2D4B"/>
                </a:solidFill>
                <a:latin typeface="Noto Sans"/>
              </a:rPr>
              <a:t>Cómo leer el P90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" y="3867912"/>
            <a:ext cx="9765792" cy="493776"/>
          </a:xfrm>
          <a:prstGeom prst="roundRect">
            <a:avLst/>
          </a:prstGeom>
          <a:solidFill>
            <a:srgbClr val="D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8096" y="3867912"/>
            <a:ext cx="8787384" cy="49377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55480" y="3867912"/>
            <a:ext cx="978408" cy="49377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3895344"/>
            <a:ext cx="80467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Noto Sans"/>
              </a:rPr>
              <a:t>≈ 90% de las ofertas está en o bajo $4.106.400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488" y="3895344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"/>
              </a:rPr>
              <a:t>≈10%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" y="4791456"/>
            <a:ext cx="10149840" cy="941832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8096" y="4791456"/>
            <a:ext cx="32004" cy="941832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5" y="4901184"/>
            <a:ext cx="973836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RESPUESTA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5" y="5138928"/>
            <a:ext cx="9738360" cy="5212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El P90 es $4.106.400. Lo superan 128 ofertas, equivalentes al 10,1% del total. Ese es el grupo que analizamos como arancel alto.</a:t>
            </a:r>
          </a:p>
        </p:txBody>
      </p:sp>
      <p:pic>
        <p:nvPicPr>
          <p:cNvPr id="32" name="Picture 31" descr="ofertas_sobre_el_p90_en_cif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¿Qué caracteriza al grupo de ofertas sobre P90?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Describimos las 128 ofertas de arancel alto sin interpretar estas variables como causas del precio.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27632"/>
            <a:ext cx="5074920" cy="129844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819656"/>
            <a:ext cx="1691640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837943"/>
            <a:ext cx="161848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TIPO DE INSTITUCIÓN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40280"/>
            <a:ext cx="214884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0E2D4B"/>
                </a:solidFill>
                <a:latin typeface="Noto Sans"/>
              </a:rPr>
              <a:t>73 CRUCH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2240280"/>
            <a:ext cx="233172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400" b="1">
                <a:solidFill>
                  <a:srgbClr val="00AD9F"/>
                </a:solidFill>
                <a:latin typeface="Noto Sans"/>
              </a:rPr>
              <a:t>55 privadas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627632"/>
            <a:ext cx="5074920" cy="129844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1819656"/>
            <a:ext cx="1691640" cy="310896"/>
          </a:xfrm>
          <a:prstGeom prst="roundRect">
            <a:avLst/>
          </a:prstGeom>
          <a:solidFill>
            <a:srgbClr val="3A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837943"/>
            <a:ext cx="161848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ÁREA DEL CONOCIMIENTO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240280"/>
            <a:ext cx="214884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0E2D4B"/>
                </a:solidFill>
                <a:latin typeface="Noto Sans"/>
              </a:rPr>
              <a:t>38 Salud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2240280"/>
            <a:ext cx="233172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400" b="1">
                <a:solidFill>
                  <a:srgbClr val="3AA484"/>
                </a:solidFill>
                <a:latin typeface="Noto Sans"/>
              </a:rPr>
              <a:t>38 Tecnología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00400"/>
            <a:ext cx="5074920" cy="129844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392424"/>
            <a:ext cx="1691640" cy="31089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410712"/>
            <a:ext cx="161848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PROVINCIA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3813048"/>
            <a:ext cx="214884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0E2D4B"/>
                </a:solidFill>
                <a:latin typeface="Noto Sans"/>
              </a:rPr>
              <a:t>123 Concepción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2112" y="3813048"/>
            <a:ext cx="233172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400" b="1">
                <a:solidFill>
                  <a:srgbClr val="F59753"/>
                </a:solidFill>
                <a:latin typeface="Noto Sans"/>
              </a:rPr>
              <a:t>5 Biobío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3200400"/>
            <a:ext cx="5074920" cy="129844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3392424"/>
            <a:ext cx="1691640" cy="310896"/>
          </a:xfrm>
          <a:prstGeom prst="roundRect">
            <a:avLst/>
          </a:prstGeom>
          <a:solidFill>
            <a:srgbClr val="07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3410712"/>
            <a:ext cx="161848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DURACIÓN MEDIANA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813048"/>
            <a:ext cx="214884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0E2D4B"/>
                </a:solidFill>
                <a:latin typeface="Noto Sans"/>
              </a:rPr>
              <a:t>10 semestres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4232" y="3813048"/>
            <a:ext cx="233172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400" b="1">
                <a:solidFill>
                  <a:srgbClr val="077596"/>
                </a:solidFill>
                <a:latin typeface="Noto Sans"/>
              </a:rPr>
              <a:t>resto: 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4956048"/>
            <a:ext cx="10625328" cy="804672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" y="4956048"/>
            <a:ext cx="32004" cy="804672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065776"/>
            <a:ext cx="10213848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LECTURA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" y="5303520"/>
            <a:ext cx="10213848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Las ofertas altas se concentran en determinados tipos de institución, áreas y territorio, y tienen mayor duración mediana. La base no demuestra que estas variables causen el precio.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736592"/>
            <a:ext cx="10899648" cy="120700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736592"/>
            <a:ext cx="45720" cy="1207008"/>
          </a:xfrm>
          <a:prstGeom prst="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828032"/>
            <a:ext cx="3154680" cy="256032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r>
              <a:rPr sz="980" b="1">
                <a:solidFill>
                  <a:srgbClr val="243B54"/>
                </a:solidFill>
                <a:latin typeface="Arial"/>
              </a:rPr>
              <a:t>QUÉ OBSERVAMOS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102352"/>
            <a:ext cx="10241280" cy="676656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r>
              <a:rPr sz="910" b="0">
                <a:solidFill>
                  <a:srgbClr val="596C82"/>
                </a:solidFill>
                <a:latin typeface="Arial"/>
              </a:rPr>
              <a:t>Las ofertas sobre P90 se concentran en universidades, Salud y Tecnología, carreras de mayor duración y especialmente en Concepción. La concentración territorial aporta contexto regional; estas asociaciones describen el perfil del grupo, pero no demuestran causalidad.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Capacidades transformadoras por provincia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 b="0">
                <a:solidFill>
                  <a:srgbClr val="596C82"/>
                </a:solidFill>
                <a:latin typeface="Noto Sans"/>
              </a:rPr>
              <a:t>La proporción y la cantidad absoluta cuentan historias distintas.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27632"/>
            <a:ext cx="3218688" cy="212140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56231"/>
            <a:ext cx="2788920" cy="3200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0E2D4B"/>
                </a:solidFill>
                <a:latin typeface="Noto Sans"/>
              </a:rPr>
              <a:t>ARAUCO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304288"/>
            <a:ext cx="27432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400" b="1">
                <a:solidFill>
                  <a:srgbClr val="F59753"/>
                </a:solidFill>
                <a:latin typeface="Noto Sans"/>
              </a:rPr>
              <a:t>8,55%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017520"/>
            <a:ext cx="2816352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596C82"/>
                </a:solidFill>
                <a:latin typeface="Noto Sans"/>
              </a:rPr>
              <a:t>232 matrículas</a:t>
            </a:r>
          </a:p>
        </p:txBody>
      </p:sp>
      <p:sp>
        <p:nvSpPr>
          <p:cNvPr id="12" name="Oval 11"/>
          <p:cNvSpPr/>
          <p:nvPr/>
        </p:nvSpPr>
        <p:spPr>
          <a:xfrm>
            <a:off x="2089417" y="4101097"/>
            <a:ext cx="539469" cy="539469"/>
          </a:xfrm>
          <a:prstGeom prst="ellipse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53128" y="1627632"/>
            <a:ext cx="3218688" cy="212140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1856231"/>
            <a:ext cx="2788920" cy="3200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0E2D4B"/>
                </a:solidFill>
                <a:latin typeface="Noto Sans"/>
              </a:rPr>
              <a:t>BIOBÍO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304288"/>
            <a:ext cx="27432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400" b="1">
                <a:solidFill>
                  <a:srgbClr val="3AA484"/>
                </a:solidFill>
                <a:latin typeface="Noto Sans"/>
              </a:rPr>
              <a:t>7,61%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3017520"/>
            <a:ext cx="2816352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596C82"/>
                </a:solidFill>
                <a:latin typeface="Noto Sans"/>
              </a:rPr>
              <a:t>966 matrículas</a:t>
            </a:r>
          </a:p>
        </p:txBody>
      </p:sp>
      <p:sp>
        <p:nvSpPr>
          <p:cNvPr id="17" name="Oval 16"/>
          <p:cNvSpPr/>
          <p:nvPr/>
        </p:nvSpPr>
        <p:spPr>
          <a:xfrm>
            <a:off x="5711876" y="4020236"/>
            <a:ext cx="701190" cy="701190"/>
          </a:xfrm>
          <a:prstGeom prst="ellipse">
            <a:avLst/>
          </a:prstGeom>
          <a:solidFill>
            <a:srgbClr val="3A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6448" y="1627632"/>
            <a:ext cx="3218688" cy="2121408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856231"/>
            <a:ext cx="2788920" cy="3200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0E2D4B"/>
                </a:solidFill>
                <a:latin typeface="Noto Sans"/>
              </a:rPr>
              <a:t>CONCEPCIÓN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304288"/>
            <a:ext cx="274320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400" b="1">
                <a:solidFill>
                  <a:srgbClr val="00AD9F"/>
                </a:solidFill>
                <a:latin typeface="Noto Sans"/>
              </a:rPr>
              <a:t>6,77%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3017520"/>
            <a:ext cx="2816352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596C82"/>
                </a:solidFill>
                <a:latin typeface="Noto Sans"/>
              </a:rPr>
              <a:t>5.802 matrículas</a:t>
            </a:r>
          </a:p>
        </p:txBody>
      </p:sp>
      <p:sp>
        <p:nvSpPr>
          <p:cNvPr id="22" name="Oval 21"/>
          <p:cNvSpPr/>
          <p:nvPr/>
        </p:nvSpPr>
        <p:spPr>
          <a:xfrm>
            <a:off x="9185148" y="3790188"/>
            <a:ext cx="1161288" cy="1161288"/>
          </a:xfrm>
          <a:prstGeom prst="ellipse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9808" y="4983480"/>
            <a:ext cx="10625328" cy="804672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4983480"/>
            <a:ext cx="32004" cy="804672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7" y="5093208"/>
            <a:ext cx="10213848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HALLAZGO TERRITORIAL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5330952"/>
            <a:ext cx="10213848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Arauco tiene la mayor proporción dentro de su provincia, pero Concepción concentra por lejos el mayor volumen absoluto de matrículas transformadoras.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Conclusiones principales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60">
                <a:solidFill>
                  <a:srgbClr val="596C82"/>
                </a:solidFill>
                <a:latin typeface="Arial"/>
              </a:rPr>
              <a:t>Resumen de los principales resultados del análisis.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91056"/>
            <a:ext cx="3246120" cy="2907792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810512"/>
            <a:ext cx="457200" cy="31089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828800"/>
            <a:ext cx="38404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783080"/>
            <a:ext cx="2212848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0E2D4B"/>
                </a:solidFill>
                <a:latin typeface="Noto Sans"/>
              </a:rPr>
              <a:t>COMPOSICIÓN REGIONAL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432304"/>
            <a:ext cx="2816352" cy="1051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20,15% productivo vs. 6,92% transformador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17904" y="3867912"/>
            <a:ext cx="1645920" cy="310896"/>
          </a:xfrm>
          <a:prstGeom prst="roundRect">
            <a:avLst/>
          </a:prstGeom>
          <a:solidFill>
            <a:srgbClr val="F5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886200"/>
            <a:ext cx="157276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≈ 2,9 :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1591056"/>
            <a:ext cx="3246120" cy="2907792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7720" y="1810512"/>
            <a:ext cx="457200" cy="310896"/>
          </a:xfrm>
          <a:prstGeom prst="round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4296" y="1828800"/>
            <a:ext cx="38404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1783080"/>
            <a:ext cx="2212848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0E2D4B"/>
                </a:solidFill>
                <a:latin typeface="Noto Sans"/>
              </a:rPr>
              <a:t>PRECIOS Y EDAD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2432304"/>
            <a:ext cx="2816352" cy="1051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Hay áreas con arancel mediano mayor y cambia la composición institucional por edad.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1" y="1591056"/>
            <a:ext cx="3246120" cy="2907792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40" y="1810512"/>
            <a:ext cx="457200" cy="310896"/>
          </a:xfrm>
          <a:prstGeom prst="roundRect">
            <a:avLst/>
          </a:prstGeom>
          <a:solidFill>
            <a:srgbClr val="3A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5" y="1828800"/>
            <a:ext cx="38404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783080"/>
            <a:ext cx="2212848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0E2D4B"/>
                </a:solidFill>
                <a:latin typeface="Noto Sans"/>
              </a:rPr>
              <a:t>ARANCELES ALTOS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432304"/>
            <a:ext cx="2816352" cy="1051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128 de 1.273 ofertas superan el P90 de $4.106.400.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4544" y="3867912"/>
            <a:ext cx="1645920" cy="310896"/>
          </a:xfrm>
          <a:prstGeom prst="roundRect">
            <a:avLst/>
          </a:prstGeom>
          <a:solidFill>
            <a:srgbClr val="3A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19" y="3886200"/>
            <a:ext cx="157276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Noto Sans"/>
              </a:rPr>
              <a:t>10,1%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846320"/>
            <a:ext cx="10625328" cy="960120"/>
          </a:xfrm>
          <a:prstGeom prst="round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846320"/>
            <a:ext cx="32004" cy="960120"/>
          </a:xfrm>
          <a:prstGeom prst="rect">
            <a:avLst/>
          </a:prstGeom>
          <a:solidFill>
            <a:srgbClr val="E8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4956048"/>
            <a:ext cx="10213848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243B54"/>
                </a:solidFill>
                <a:latin typeface="Noto Sans"/>
              </a:rPr>
              <a:t>LÍMITE DEL ESTUDIO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5193792"/>
            <a:ext cx="10213848" cy="5394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90" b="0">
                <a:solidFill>
                  <a:srgbClr val="596C82"/>
                </a:solidFill>
                <a:latin typeface="Noto Sans"/>
              </a:rPr>
              <a:t>La base corresponde solo a 2021. Describe diferencias y asociaciones, pero no demuestra causalidad, déficit profesional ni evolución temporal.</a:t>
            </a:r>
          </a:p>
        </p:txBody>
      </p:sp>
      <p:pic>
        <p:nvPicPr>
          <p:cNvPr id="31" name="Picture 30" descr="conclusiones_sobre_el_capital_humano_del_biobí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41148" cy="384048"/>
          </a:xfrm>
          <a:prstGeom prst="rect">
            <a:avLst/>
          </a:prstGeom>
          <a:solidFill>
            <a:srgbClr val="00A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37844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E2D4B"/>
                </a:solidFill>
                <a:latin typeface="Noto Sans"/>
              </a:rPr>
              <a:t>ANEXO · Herramientas del curso utilizadas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502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50976"/>
            <a:ext cx="1042416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r>
              <a:t>Resumen de las herramientas estadísticas aplicadas en el trabajo.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676656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730" b="0">
                <a:solidFill>
                  <a:srgbClr val="758495"/>
                </a:solidFill>
                <a:latin typeface="Noto Sans"/>
              </a:rPr>
              <a:t>EduBío 360 · Estadística Descriptiva · Biobío 2021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444752"/>
            <a:ext cx="1554480" cy="457200"/>
          </a:xfrm>
          <a:prstGeom prst="rect">
            <a:avLst/>
          </a:prstGeom>
          <a:solidFill>
            <a:srgbClr val="0E2D4B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44752"/>
            <a:ext cx="13716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Noto Sans"/>
              </a:rPr>
              <a:t>Laboratorio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1444752"/>
            <a:ext cx="3657600" cy="457200"/>
          </a:xfrm>
          <a:prstGeom prst="rect">
            <a:avLst/>
          </a:prstGeom>
          <a:solidFill>
            <a:srgbClr val="0E2D4B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4288" y="1444752"/>
            <a:ext cx="34747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"/>
              </a:rPr>
              <a:t>Contenido aplicado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70448" y="1444752"/>
            <a:ext cx="5120640" cy="457200"/>
          </a:xfrm>
          <a:prstGeom prst="rect">
            <a:avLst/>
          </a:prstGeom>
          <a:solidFill>
            <a:srgbClr val="0E2D4B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1888" y="1444752"/>
            <a:ext cx="4937759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"/>
              </a:rPr>
              <a:t>Uso en el proyecto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1901952"/>
            <a:ext cx="155448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01952"/>
            <a:ext cx="13716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0 · Pandas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12848" y="1901952"/>
            <a:ext cx="365760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04288" y="1901952"/>
            <a:ext cx="34747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read_excel, head, info, filtros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70448" y="1901952"/>
            <a:ext cx="512064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61888" y="1901952"/>
            <a:ext cx="4937759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Carga, revisión y preparación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359152"/>
            <a:ext cx="15544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2359152"/>
            <a:ext cx="13716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1 · Conceptos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12848" y="2359152"/>
            <a:ext cx="36576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04288" y="2359152"/>
            <a:ext cx="34747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población, muestra, tipos de variables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70448" y="2359152"/>
            <a:ext cx="512064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61888" y="2359152"/>
            <a:ext cx="4937759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Definición de unidades de análisis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2816352"/>
            <a:ext cx="155448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2816352"/>
            <a:ext cx="13716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2 · Frecuencias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12848" y="2816352"/>
            <a:ext cx="365760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04288" y="2816352"/>
            <a:ext cx="34747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groupby().size(), relativas, cumsum()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70448" y="2816352"/>
            <a:ext cx="512064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61888" y="2816352"/>
            <a:ext cx="4937759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Áreas, género, edad y arancel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3273552"/>
            <a:ext cx="15544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3273552"/>
            <a:ext cx="13716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3 · Gráficos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12848" y="3273552"/>
            <a:ext cx="36576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04288" y="3273552"/>
            <a:ext cx="34747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barras y subplots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70448" y="3273552"/>
            <a:ext cx="512064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61888" y="3273552"/>
            <a:ext cx="4937759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Distribuciones y comparación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3730752"/>
            <a:ext cx="155448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3730752"/>
            <a:ext cx="13716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4 · Tendencia y percentiles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12848" y="3730752"/>
            <a:ext cx="365760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04288" y="3730752"/>
            <a:ext cx="34747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mean, median, mode, quantile, crosstab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70448" y="3730752"/>
            <a:ext cx="5120640" cy="457200"/>
          </a:xfrm>
          <a:prstGeom prst="rect">
            <a:avLst/>
          </a:prstGeom>
          <a:solidFill>
            <a:srgbClr val="F6F9FC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61888" y="3730752"/>
            <a:ext cx="4937759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Preguntas 1, 2 y P90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4187952"/>
            <a:ext cx="15544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4187952"/>
            <a:ext cx="13716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243B54"/>
                </a:solidFill>
                <a:latin typeface="Noto Sans"/>
              </a:rPr>
              <a:t>5 · Dispersión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12848" y="4187952"/>
            <a:ext cx="36576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04288" y="4187952"/>
            <a:ext cx="34747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899A"/>
                </a:solidFill>
                <a:latin typeface="Noto Sans"/>
              </a:rPr>
              <a:t>rango, std, CV, agg, isin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70448" y="4187952"/>
            <a:ext cx="512064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61888" y="4187952"/>
            <a:ext cx="4937759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96C82"/>
                </a:solidFill>
                <a:latin typeface="Noto Sans"/>
              </a:rPr>
              <a:t>Dispersión general y comparaciones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0E2D4B"/>
                </a:solidFill>
                <a:latin typeface="Arial"/>
              </a:rPr>
              <a:t>¿Preguntas o comentarios?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7840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00899A"/>
                </a:solidFill>
                <a:latin typeface="Arial"/>
              </a:rPr>
              <a:t>Estadística Descriptiva aplicada a la Educación Superior del Biobío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310128"/>
            <a:ext cx="8686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596C82"/>
                </a:solidFill>
                <a:latin typeface="Arial"/>
              </a:rPr>
              <a:t>Gracias por su atención.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3913632"/>
            <a:ext cx="6400800" cy="566928"/>
          </a:xfrm>
          <a:prstGeom prst="roundRect">
            <a:avLst/>
          </a:prstGeom>
          <a:solidFill>
            <a:srgbClr val="F6F9FC"/>
          </a:solidFill>
          <a:ln w="10160"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3968496"/>
            <a:ext cx="60350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596C82"/>
                </a:solidFill>
                <a:latin typeface="Arial"/>
              </a:rPr>
              <a:t>Estadística Descriptiva · Biobío 2021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