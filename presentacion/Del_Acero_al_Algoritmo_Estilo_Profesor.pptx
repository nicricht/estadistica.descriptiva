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Noto Sans"/>
              </a:rPr>
              <a:t>DEL ACERO AL ALGORITMO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417320"/>
            <a:ext cx="969264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50" b="0">
                <a:solidFill>
                  <a:srgbClr val="CFDBE6"/>
                </a:solidFill>
                <a:latin typeface="Noto Sans"/>
              </a:rPr>
              <a:t>Estadística Descriptiva aplicada a la Educación Superior del Biobío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057400"/>
            <a:ext cx="1005840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20" b="1">
                <a:solidFill>
                  <a:srgbClr val="FFFFFF"/>
                </a:solidFill>
                <a:latin typeface="Noto Sans"/>
              </a:rPr>
              <a:t>¿Desde qué base de capital humano parte el Biobío para transformar su histórica vocación industrial hacia una economía de manufactura avanzada e Industria 4.0?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86200"/>
            <a:ext cx="4983480" cy="1417320"/>
          </a:xfrm>
          <a:prstGeom prst="roundRect">
            <a:avLst/>
          </a:prstGeom>
          <a:solidFill>
            <a:srgbClr val="1C3958"/>
          </a:solidFill>
          <a:ln w="8890">
            <a:solidFill>
              <a:srgbClr val="344F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87952"/>
            <a:ext cx="109728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F59753"/>
                </a:solidFill>
                <a:latin typeface="Noto Sans"/>
              </a:rPr>
              <a:t>ACERO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4069080"/>
            <a:ext cx="338328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Noto Sans"/>
              </a:rPr>
              <a:t>motores productivos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3886200"/>
            <a:ext cx="4983480" cy="1417320"/>
          </a:xfrm>
          <a:prstGeom prst="roundRect">
            <a:avLst/>
          </a:prstGeom>
          <a:solidFill>
            <a:srgbClr val="104852"/>
          </a:solidFill>
          <a:ln w="8890">
            <a:solidFill>
              <a:srgbClr val="1D6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4187952"/>
            <a:ext cx="150876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00AD9F"/>
                </a:solidFill>
                <a:latin typeface="Noto Sans"/>
              </a:rPr>
              <a:t>ALGORITMO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3568" y="4069080"/>
            <a:ext cx="297180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750" b="1">
                <a:solidFill>
                  <a:srgbClr val="FFFFFF"/>
                </a:solidFill>
                <a:latin typeface="Noto Sans"/>
              </a:rPr>
              <a:t>capacidades transformadoras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24728"/>
            <a:ext cx="103327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ADC0CF"/>
                </a:solidFill>
                <a:latin typeface="Noto Sans"/>
              </a:rPr>
              <a:t>Base oficial: Matrículas de Educación Superior del Biobío ·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Contexto del análisis y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Una misma base exige unidades de análisis distintas según la pregunta.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106.555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BASE ORIGINAL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28 columnas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4408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101.093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MATRÍCULAS DE PREGRADO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análisis de personas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15584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88736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101.067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736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PREGRADO CON PRECIO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88736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arancel &gt; $0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1.273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OFERTAS ÚNICAS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2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comparación de precios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127248"/>
            <a:ext cx="5303520" cy="23317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3364992"/>
            <a:ext cx="489204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50" b="1">
                <a:solidFill>
                  <a:srgbClr val="0E2D4B"/>
                </a:solidFill>
                <a:latin typeface="Noto Sans"/>
              </a:rPr>
              <a:t>¿Qué hacemos con la base?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" y="3840480"/>
            <a:ext cx="384048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3858768"/>
            <a:ext cx="3108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4752" y="3776472"/>
            <a:ext cx="42976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243B54"/>
                </a:solidFill>
                <a:latin typeface="Noto Sans"/>
              </a:rPr>
              <a:t>Filtramos las matrículas de pregrado.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" y="4315968"/>
            <a:ext cx="384048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" y="4334256"/>
            <a:ext cx="3108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44752" y="4251960"/>
            <a:ext cx="42976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243B54"/>
                </a:solidFill>
                <a:latin typeface="Noto Sans"/>
              </a:rPr>
              <a:t>Separamos los registros con arancel válido.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" y="4791456"/>
            <a:ext cx="384048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809744"/>
            <a:ext cx="3108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44752" y="4727448"/>
            <a:ext cx="42976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243B54"/>
                </a:solidFill>
                <a:latin typeface="Noto Sans"/>
              </a:rPr>
              <a:t>Para comparar precios, dejamos una sola vez cada oferta académica.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91072" y="3127248"/>
            <a:ext cx="4407408" cy="23317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1072" y="3127248"/>
            <a:ext cx="32004" cy="2331720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9672" y="3236976"/>
            <a:ext cx="399592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DECISIÓN METODOLÓGICA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9672" y="3474720"/>
            <a:ext cx="3995928" cy="191109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No repetimos el mismo arancel una vez por cada estudiante. Las 1.273 ofertas únicas permiten comparar precios sin que una carrera con más matrícula pese artificialmente más.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5742432"/>
            <a:ext cx="108996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50" b="1">
                <a:solidFill>
                  <a:srgbClr val="596C82"/>
                </a:solidFill>
                <a:latin typeface="Noto Sans"/>
              </a:rPr>
              <a:t>Control de calidad: 0 duplicados completos · nulos solo en acreditación · 26 registros con arancel $0 excluidos del análisis de precios.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Áreas de estudio en frecuencias relativas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Los porcentajes permiten comparar el peso de cada área dentro de las 101.093 matrículas de pregrado.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517904"/>
            <a:ext cx="429768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179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Noto Sans"/>
              </a:rPr>
              <a:t>Área del conocimiento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6048" y="1517904"/>
            <a:ext cx="182880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488" y="15179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Participación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84848" y="1517904"/>
            <a:ext cx="201168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15179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Lectura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1975104"/>
            <a:ext cx="4297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751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Tecnología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975104"/>
            <a:ext cx="18288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488" y="19751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27,6%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84848" y="1975104"/>
            <a:ext cx="2011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76288" y="19751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Mayor participación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432304"/>
            <a:ext cx="4297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4323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Salud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6048" y="2432304"/>
            <a:ext cx="18288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488" y="24323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24,3%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84848" y="2432304"/>
            <a:ext cx="2011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24323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Segunda mayor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889504"/>
            <a:ext cx="4297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28895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Administración y Comercio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889504"/>
            <a:ext cx="18288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488" y="28895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13,4%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84848" y="2889504"/>
            <a:ext cx="2011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76288" y="28895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Participación intermedia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3346704"/>
            <a:ext cx="4297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3467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Educación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56048" y="3346704"/>
            <a:ext cx="18288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488" y="33467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11,4%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4848" y="3346704"/>
            <a:ext cx="2011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76288" y="33467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Participación intermedia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3803904"/>
            <a:ext cx="4297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38039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Otros campos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56048" y="3803904"/>
            <a:ext cx="18288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47488" y="38039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23,3%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84848" y="3803904"/>
            <a:ext cx="2011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76288" y="38039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Resto de las áreas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4709160"/>
            <a:ext cx="8138160" cy="98755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8368" y="4709160"/>
            <a:ext cx="32004" cy="98755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6968" y="4818888"/>
            <a:ext cx="772668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HALLAZGO PRINCIPAL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" y="5056632"/>
            <a:ext cx="772668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Tecnología y Salud concentran 51,9% de la matrícula. Las cuatro áreas principales representan 76,7% del total.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62288" y="1682496"/>
            <a:ext cx="21945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5440" y="1819656"/>
            <a:ext cx="204825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51,9%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2340864"/>
            <a:ext cx="204825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TECNOLOGÍA + SALUD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62288" y="3090672"/>
            <a:ext cx="21945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35440" y="3227832"/>
            <a:ext cx="204825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76,7%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749039"/>
            <a:ext cx="204825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4 ÁREAS PRINCIPALES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Del acero al algoritmo: clasificación propia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Agrupamos carreras en nueve familias para construir una lectura regional del capital humano.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321808" cy="41605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99632" y="1481328"/>
            <a:ext cx="5321808" cy="41605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728216"/>
            <a:ext cx="182880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F59753"/>
                </a:solidFill>
                <a:latin typeface="Noto Sans"/>
              </a:rPr>
              <a:t>ACERO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1488" y="1737360"/>
            <a:ext cx="283464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0E2D4B"/>
                </a:solidFill>
                <a:latin typeface="Noto Sans"/>
              </a:rPr>
              <a:t>Motores productivos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" y="2267712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2286000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212848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Industria y manufactura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" y="2752344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2770632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2697480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Construcción e infraestructura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1832" y="3236976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55264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3182112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Logística y puertos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" y="3721608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3739896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666744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Forestal y madera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" y="4206240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4224527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4151376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Pesca y acuicultura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2" y="4690872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" y="4709160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636008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Agroalimentario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1728216"/>
            <a:ext cx="21945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00AD9F"/>
                </a:solidFill>
                <a:latin typeface="Noto Sans"/>
              </a:rPr>
              <a:t>ALGORITMO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68512" y="1737360"/>
            <a:ext cx="246888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050" b="1">
                <a:solidFill>
                  <a:srgbClr val="0E2D4B"/>
                </a:solidFill>
                <a:latin typeface="Noto Sans"/>
              </a:rPr>
              <a:t>Capacidades transformadoras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73952" y="2395728"/>
            <a:ext cx="393192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2414016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2322576"/>
            <a:ext cx="3794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69" b="1">
                <a:solidFill>
                  <a:srgbClr val="243B54"/>
                </a:solidFill>
                <a:latin typeface="Noto Sans"/>
              </a:rPr>
              <a:t>Digital y TIC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73952" y="3072384"/>
            <a:ext cx="393192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090672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2592" y="2999232"/>
            <a:ext cx="3794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69" b="1">
                <a:solidFill>
                  <a:srgbClr val="243B54"/>
                </a:solidFill>
                <a:latin typeface="Noto Sans"/>
              </a:rPr>
              <a:t>Automatización y robótica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3749039"/>
            <a:ext cx="393192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3767327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2592" y="3675887"/>
            <a:ext cx="3794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69" b="1">
                <a:solidFill>
                  <a:srgbClr val="243B54"/>
                </a:solidFill>
                <a:latin typeface="Noto Sans"/>
              </a:rPr>
              <a:t>Energía, sustentabilidad y biotecnología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82512" y="4535424"/>
            <a:ext cx="4864608" cy="80467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82512" y="4535424"/>
            <a:ext cx="32004" cy="80467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11112" y="4645152"/>
            <a:ext cx="445312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REGLA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1112" y="4882896"/>
            <a:ext cx="445312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Es una taxonomía creada para este trabajo. Cada carrera se asigna a una sola familia para evitar doble conteo.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Hallazgo central: motores productivos vs. capacidades transformadoras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comparación resume la composición de la matrícula de pregrado en 2021.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28803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691639"/>
            <a:ext cx="273405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20.368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12848"/>
            <a:ext cx="273405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MOTORES PRODUCTIVOS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468880"/>
            <a:ext cx="273405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20,15%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1554480"/>
            <a:ext cx="28803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1691639"/>
            <a:ext cx="273405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7.000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212848"/>
            <a:ext cx="273405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CAPACIDADES TRANSFORMADORAS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468880"/>
            <a:ext cx="273405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6,92%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1554480"/>
            <a:ext cx="27889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91272" y="1691639"/>
            <a:ext cx="26426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3AA484"/>
                </a:solidFill>
                <a:latin typeface="Noto Sans"/>
              </a:rPr>
              <a:t>≈ 2,9 :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2212848"/>
            <a:ext cx="26426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RELACIÓN ENTRE BLOQUES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2468880"/>
            <a:ext cx="26426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productivas / transformadora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273552"/>
            <a:ext cx="987552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70" b="1">
                <a:solidFill>
                  <a:srgbClr val="0E2D4B"/>
                </a:solidFill>
                <a:latin typeface="Noto Sans"/>
              </a:rPr>
              <a:t>Participación dentro de las 101.093 matrículas de pregrado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3822191"/>
            <a:ext cx="8961120" cy="438912"/>
          </a:xfrm>
          <a:prstGeom prst="roundRect">
            <a:avLst/>
          </a:prstGeom>
          <a:solidFill>
            <a:srgbClr val="E1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3822191"/>
            <a:ext cx="7222662" cy="438912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0" y="3767328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F59753"/>
                </a:solidFill>
                <a:latin typeface="Noto Sans"/>
              </a:rPr>
              <a:t>20,15%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498848"/>
            <a:ext cx="8961120" cy="438912"/>
          </a:xfrm>
          <a:prstGeom prst="roundRect">
            <a:avLst/>
          </a:prstGeom>
          <a:solidFill>
            <a:srgbClr val="E1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4498848"/>
            <a:ext cx="2480438" cy="438912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4443984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00AD9F"/>
                </a:solidFill>
                <a:latin typeface="Noto Sans"/>
              </a:rPr>
              <a:t>6,92%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257800"/>
            <a:ext cx="10332720" cy="71323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8680" y="5257800"/>
            <a:ext cx="32004" cy="71323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67528"/>
            <a:ext cx="992124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INTERPRETACIÓN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605272"/>
            <a:ext cx="9921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En esta fotografía de 2021, el bloque productivo pesa cerca de tres veces más que el transformador. Esto no demuestra déficit de profesionales.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Pregunta 1 · ¿Hay áreas donde las carreras sean más caras?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Comparamos la mediana del arancel sobre 1.273 ofertas académicas únicas.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699516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70" b="1">
                <a:solidFill>
                  <a:srgbClr val="0E2D4B"/>
                </a:solidFill>
                <a:latin typeface="Noto Sans"/>
              </a:rPr>
              <a:t>Mediana de arancel por área (millones de pesos)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7452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Derecho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901952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00400" y="1901952"/>
            <a:ext cx="3647930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34072" y="190195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70648" y="192024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$3.586M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92024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$3.586M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45973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Ciencias Básicas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2487168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00400" y="2487168"/>
            <a:ext cx="3346818" cy="292608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34072" y="248716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70648" y="250545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$3.290M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50545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3AA484"/>
                </a:solidFill>
                <a:latin typeface="Noto Sans"/>
              </a:rPr>
              <a:t>$3.290M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044952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Agropecuaria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3072384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0" y="3072384"/>
            <a:ext cx="3033499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434072" y="3072384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70648" y="3090672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$2.982M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3090672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$2.982M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63016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Tecnología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3657600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0" y="3657600"/>
            <a:ext cx="2158646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34072" y="365760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0648" y="3675887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$2.122M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3675887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$2.122M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215384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Salud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4242816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00400" y="4242816"/>
            <a:ext cx="2115921" cy="292608"/>
          </a:xfrm>
          <a:prstGeom prst="round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434072" y="4242816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70648" y="4261104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$2.080M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4261104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899A"/>
                </a:solidFill>
                <a:latin typeface="Noto Sans"/>
              </a:rPr>
              <a:t>$2.080M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32520" y="1645920"/>
            <a:ext cx="224028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05672" y="1783080"/>
            <a:ext cx="209397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$2.030M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05672" y="2304288"/>
            <a:ext cx="209397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MEDIANA GLOBAL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12480" y="3154680"/>
            <a:ext cx="2880360" cy="190195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3154680"/>
            <a:ext cx="32004" cy="1901952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41080" y="3264408"/>
            <a:ext cx="246887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CRITERIO Y RESPUESTA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41080" y="3502152"/>
            <a:ext cx="2468879" cy="14813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Criterio: comparar la mediana por área con la mediana global, porque la mediana es menos sensible a valores extremos. Resultado: Derecho, Ciencias Básicas y Agropecuaria quedan por encima de $2.030.000.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Pregunta 2 · Edad y tipo de institución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Comparamos la composición institucional de dos grupos de edad con porcentajes.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72768"/>
            <a:ext cx="5074920" cy="27889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1810512"/>
            <a:ext cx="45262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50" b="1">
                <a:solidFill>
                  <a:srgbClr val="0E2D4B"/>
                </a:solidFill>
                <a:latin typeface="Noto Sans"/>
              </a:rPr>
              <a:t>Estudiantes de 15 a 19 años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36829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 CRUCH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2395728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64992" y="2395728"/>
            <a:ext cx="775167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35424" y="239572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41401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46.2%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41401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46.2%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12724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Instituto Profesional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3154680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64992" y="3154680"/>
            <a:ext cx="323545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35424" y="315468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172968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19.3%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172968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19.3%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572768"/>
            <a:ext cx="5074920" cy="27889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1810512"/>
            <a:ext cx="45262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50" b="1">
                <a:solidFill>
                  <a:srgbClr val="0E2D4B"/>
                </a:solidFill>
                <a:latin typeface="Noto Sans"/>
              </a:rPr>
              <a:t>Estudiantes de 40 años o más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36829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Instituto Profesional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400" y="2395728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15400" y="2395728"/>
            <a:ext cx="887318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85832" y="239572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22407" y="241401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52.9%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120" y="241401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52.9%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9672" y="312724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 CRUCH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3154680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15400" y="3154680"/>
            <a:ext cx="182392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85832" y="315468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22407" y="3172968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10.9%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4120" y="3172968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10.9%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81728"/>
            <a:ext cx="10625328" cy="10058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81728"/>
            <a:ext cx="32004" cy="1005840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1832" y="4791456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INTERPRETACIÓN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" y="5029200"/>
            <a:ext cx="10213848" cy="5852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 composición institucional cambia entre grupos de edad. Observamos una asociación descriptiva, pero la base no permite afirmar que la edad cause la elección de institución.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Pregunta 3 · ¿Qué aranceles están entre los más altos?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Para operacionalizar “sustantivamente más caro”, usamos el percentil 90 (P90), trabajado en el Laboratorio 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572768"/>
            <a:ext cx="24231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09928"/>
            <a:ext cx="227685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$4.106.400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31136"/>
            <a:ext cx="227685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PERCENTIL 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487168"/>
            <a:ext cx="227685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P90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572768"/>
            <a:ext cx="214884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709928"/>
            <a:ext cx="200253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E8674A"/>
                </a:solidFill>
                <a:latin typeface="Noto Sans"/>
              </a:rPr>
              <a:t>128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2231136"/>
            <a:ext cx="200253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OFERTAS SOBRE P90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487168"/>
            <a:ext cx="200253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de 1.273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1572768"/>
            <a:ext cx="214884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71032" y="1709928"/>
            <a:ext cx="200253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3AA484"/>
                </a:solidFill>
                <a:latin typeface="Noto Sans"/>
              </a:rPr>
              <a:t>10,1%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71032" y="2231136"/>
            <a:ext cx="200253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DEL 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39327" y="1572768"/>
            <a:ext cx="25603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709928"/>
            <a:ext cx="24140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$8.783.670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31136"/>
            <a:ext cx="24140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VALOR MÁXIMO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328416"/>
            <a:ext cx="1005840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E2D4B"/>
                </a:solidFill>
                <a:latin typeface="Noto Sans"/>
              </a:rPr>
              <a:t>Cómo leer el P90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" y="3867912"/>
            <a:ext cx="9765792" cy="493776"/>
          </a:xfrm>
          <a:prstGeom prst="roundRect">
            <a:avLst/>
          </a:prstGeom>
          <a:solidFill>
            <a:srgbClr val="DF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8096" y="3867912"/>
            <a:ext cx="8787384" cy="49377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555480" y="3867912"/>
            <a:ext cx="978408" cy="49377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895344"/>
            <a:ext cx="80467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Noto Sans"/>
              </a:rPr>
              <a:t>≈ 90% de las ofertas está en o bajo $4.106.400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3895344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≈10%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8096" y="4791456"/>
            <a:ext cx="10149840" cy="94183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8096" y="4791456"/>
            <a:ext cx="32004" cy="94183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5" y="4901184"/>
            <a:ext cx="973836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RESPUESTA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5" y="5138928"/>
            <a:ext cx="9738360" cy="5212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El P90 es $4.106.400. Lo superan 128 ofertas, equivalentes al 10,1% del total. Ese es el grupo que analizamos como arancel alto.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¿Qué caracteriza al grupo de ofertas sobre P90?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Describimos las 128 ofertas de arancel alto sin interpretar estas variables como causas del precio.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27632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19656"/>
            <a:ext cx="1691640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37943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TIPO DE INSTITUCIÓN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240280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73 CRUCH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2240280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00AD9F"/>
                </a:solidFill>
                <a:latin typeface="Noto Sans"/>
              </a:rPr>
              <a:t>55 privadas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627632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1819656"/>
            <a:ext cx="169164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1837943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ÁREA DEL CONOCIMIENTO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240280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38 Salud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4232" y="2240280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3AA484"/>
                </a:solidFill>
                <a:latin typeface="Noto Sans"/>
              </a:rPr>
              <a:t>38 Tecnología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200400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3392424"/>
            <a:ext cx="169164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3410712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PROVINCIA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3813048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123 Concepción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82112" y="3813048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F59753"/>
                </a:solidFill>
                <a:latin typeface="Noto Sans"/>
              </a:rPr>
              <a:t>5 Biobío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3200400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46520" y="3392424"/>
            <a:ext cx="1691640" cy="310896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3410712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DURACIÓN MEDIANA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3813048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10 semestres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4232" y="3813048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077596"/>
                </a:solidFill>
                <a:latin typeface="Noto Sans"/>
              </a:rPr>
              <a:t>resto: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828032"/>
            <a:ext cx="10625328" cy="10515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4828032"/>
            <a:ext cx="32004" cy="1051560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4937760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EXPLICACIÓN ENCONTRADA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" y="5175504"/>
            <a:ext cx="10213848" cy="63093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Las ofertas sobre P90 se concentran en universidades, Salud y Tecnología, carreras de mayor duración y especialmente en Concepción. La concentración territorial aporta contexto regional; estas asociaciones no demuestran causalidad.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Capacidades transformadoras por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proporción y la cantidad absoluta cuentan historias distintas.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27632"/>
            <a:ext cx="3218688" cy="212140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856231"/>
            <a:ext cx="278892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E2D4B"/>
                </a:solidFill>
                <a:latin typeface="Noto Sans"/>
              </a:rPr>
              <a:t>ARAUCO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2304288"/>
            <a:ext cx="27432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400" b="1">
                <a:solidFill>
                  <a:srgbClr val="F59753"/>
                </a:solidFill>
                <a:latin typeface="Noto Sans"/>
              </a:rPr>
              <a:t>8,55%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17520"/>
            <a:ext cx="28163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596C82"/>
                </a:solidFill>
                <a:latin typeface="Noto Sans"/>
              </a:rPr>
              <a:t>232 matrículas</a:t>
            </a:r>
          </a:p>
        </p:txBody>
      </p:sp>
      <p:sp>
        <p:nvSpPr>
          <p:cNvPr id="12" name="Oval 11"/>
          <p:cNvSpPr/>
          <p:nvPr/>
        </p:nvSpPr>
        <p:spPr>
          <a:xfrm>
            <a:off x="2089417" y="4101097"/>
            <a:ext cx="539469" cy="539469"/>
          </a:xfrm>
          <a:prstGeom prst="ellipse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53128" y="1627632"/>
            <a:ext cx="3218688" cy="212140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1856231"/>
            <a:ext cx="278892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E2D4B"/>
                </a:solidFill>
                <a:latin typeface="Noto Sans"/>
              </a:rPr>
              <a:t>BIOBÍO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304288"/>
            <a:ext cx="27432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400" b="1">
                <a:solidFill>
                  <a:srgbClr val="3AA484"/>
                </a:solidFill>
                <a:latin typeface="Noto Sans"/>
              </a:rPr>
              <a:t>7,61%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3017520"/>
            <a:ext cx="28163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596C82"/>
                </a:solidFill>
                <a:latin typeface="Noto Sans"/>
              </a:rPr>
              <a:t>966 matrículas</a:t>
            </a:r>
          </a:p>
        </p:txBody>
      </p:sp>
      <p:sp>
        <p:nvSpPr>
          <p:cNvPr id="17" name="Oval 16"/>
          <p:cNvSpPr/>
          <p:nvPr/>
        </p:nvSpPr>
        <p:spPr>
          <a:xfrm>
            <a:off x="5711876" y="4020236"/>
            <a:ext cx="701190" cy="701190"/>
          </a:xfrm>
          <a:prstGeom prst="ellipse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6448" y="1627632"/>
            <a:ext cx="3218688" cy="212140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1856231"/>
            <a:ext cx="278892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E2D4B"/>
                </a:solidFill>
                <a:latin typeface="Noto Sans"/>
              </a:rPr>
              <a:t>CONCEPCIÓN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304288"/>
            <a:ext cx="27432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400" b="1">
                <a:solidFill>
                  <a:srgbClr val="00AD9F"/>
                </a:solidFill>
                <a:latin typeface="Noto Sans"/>
              </a:rPr>
              <a:t>6,77%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6" y="3017520"/>
            <a:ext cx="28163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596C82"/>
                </a:solidFill>
                <a:latin typeface="Noto Sans"/>
              </a:rPr>
              <a:t>5.802 matrículas</a:t>
            </a:r>
          </a:p>
        </p:txBody>
      </p:sp>
      <p:sp>
        <p:nvSpPr>
          <p:cNvPr id="22" name="Oval 21"/>
          <p:cNvSpPr/>
          <p:nvPr/>
        </p:nvSpPr>
        <p:spPr>
          <a:xfrm>
            <a:off x="9185148" y="3790188"/>
            <a:ext cx="1161288" cy="1161288"/>
          </a:xfrm>
          <a:prstGeom prst="ellipse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9808" y="4983480"/>
            <a:ext cx="10625328" cy="80467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983480"/>
            <a:ext cx="32004" cy="80467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7" y="5093208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HALLAZGO TERRITORIAL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7" y="5330952"/>
            <a:ext cx="10213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Arauco tiene la mayor proporción dentro de su provincia, pero Concepción concentra por lejos el mayor volumen absoluto de matrículas transformadoras.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Conclusiones principales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Tres resultados responden el objetivo del trabajo y una cuarta idea delimita lo que no podemos afirmar.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91056"/>
            <a:ext cx="3246120" cy="290779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10512"/>
            <a:ext cx="45720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28800"/>
            <a:ext cx="38404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783080"/>
            <a:ext cx="2212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E2D4B"/>
                </a:solidFill>
                <a:latin typeface="Noto Sans"/>
              </a:rPr>
              <a:t>COMPOSICIÓN REGIONAL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32304"/>
            <a:ext cx="2816352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20,15% productivo vs. 6,92% transformador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17904" y="3867912"/>
            <a:ext cx="164592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3886200"/>
            <a:ext cx="157276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≈ 2,9 :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6552" y="1591056"/>
            <a:ext cx="3246120" cy="290779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17720" y="1810512"/>
            <a:ext cx="457200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54296" y="1828800"/>
            <a:ext cx="38404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1783080"/>
            <a:ext cx="2212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E2D4B"/>
                </a:solidFill>
                <a:latin typeface="Noto Sans"/>
              </a:rPr>
              <a:t>PRECIOS Y 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2432304"/>
            <a:ext cx="2816352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Hay áreas con arancel mediano mayor y cambia la composición institucional por edad.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9871" y="1591056"/>
            <a:ext cx="3246120" cy="290779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21040" y="1810512"/>
            <a:ext cx="45720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57615" y="1828800"/>
            <a:ext cx="38404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1783080"/>
            <a:ext cx="2212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E2D4B"/>
                </a:solidFill>
                <a:latin typeface="Noto Sans"/>
              </a:rPr>
              <a:t>ARANCELES ALTOS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432304"/>
            <a:ext cx="2816352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128 de 1.273 ofertas superan el P90 de $4.106.400.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3867912"/>
            <a:ext cx="164592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19" y="3886200"/>
            <a:ext cx="157276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10,1%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846320"/>
            <a:ext cx="10625328" cy="9601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846320"/>
            <a:ext cx="32004" cy="960120"/>
          </a:xfrm>
          <a:prstGeom prst="rect">
            <a:avLst/>
          </a:prstGeom>
          <a:solidFill>
            <a:srgbClr val="E8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4956048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LÍMITE DEL ESTUDIO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" y="5193792"/>
            <a:ext cx="10213848" cy="5394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 base corresponde solo a 2021. Describe diferencias y asociaciones, pero no demuestra causalidad, déficit profesional ni evolución temporal.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ANEXO · Herramientas del curso utilizadas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Úsalo si el profesor pregunta qué contenidos de los laboratorios aparecen en el trabajo.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444752"/>
            <a:ext cx="155448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4447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Noto Sans"/>
              </a:rPr>
              <a:t>Laboratorio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12848" y="1444752"/>
            <a:ext cx="365760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04288" y="14447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Contenido aplicado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0448" y="1444752"/>
            <a:ext cx="512064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1888" y="14447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Uso en el proyecto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1901952"/>
            <a:ext cx="15544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019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0 · Pandas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12848" y="1901952"/>
            <a:ext cx="36576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04288" y="19019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read_excel, head, info, filtros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70448" y="1901952"/>
            <a:ext cx="512064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61888" y="19019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Carga, revisión y preparación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359152"/>
            <a:ext cx="15544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3591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1 · Conceptos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12848" y="2359152"/>
            <a:ext cx="36576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04288" y="23591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población, muestra, tipos de variables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70448" y="2359152"/>
            <a:ext cx="51206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61888" y="23591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Definición de unidades de análisis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816352"/>
            <a:ext cx="15544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28163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2 · Frecuencias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12848" y="2816352"/>
            <a:ext cx="36576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04288" y="28163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groupby().size(), relativas, cumsum()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70448" y="2816352"/>
            <a:ext cx="512064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61888" y="28163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Áreas, género, edad y arancel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3273552"/>
            <a:ext cx="15544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2735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3 · Gráficos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12848" y="3273552"/>
            <a:ext cx="36576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04288" y="32735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barras y subplots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70448" y="3273552"/>
            <a:ext cx="51206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61888" y="32735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Distribuciones y comparación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3730752"/>
            <a:ext cx="15544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37307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4 · Tendencia y percentiles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3730752"/>
            <a:ext cx="36576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04288" y="37307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mean, median, mode, quantile, crosstab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70448" y="3730752"/>
            <a:ext cx="512064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61888" y="37307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Preguntas 1, 2 y P90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4187952"/>
            <a:ext cx="15544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" y="41879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5 · Dispersión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12848" y="4187952"/>
            <a:ext cx="36576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04288" y="41879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rango, std, CV, agg, isin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70448" y="4187952"/>
            <a:ext cx="51206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61888" y="41879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Dispersión general y comparaciones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ANEXO · Preguntas probables del profesor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Respuestas cortas que debes poder explicar con tus propias palabras.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¿Por qué usamos mediana?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8424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Porque los valores extremos afectan menos a la mediana y representa mejor un valor típico.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8132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62763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¿Por qué eliminamos ofertas repetidas?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98424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Para que una carrera con muchos estudiantes no repita su precio cientos de veces.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03580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8211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¿Qué significa 2,9 : 1?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53872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Aproximadamente 2,9 matrículas productivas por cada matrícula transformadora.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303580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18211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¿Edad causa el tipo de institución?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53872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No. Solo observamos una asociación descriptiva entre los grupos.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59028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3659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¿Por qué usamos P90?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93207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Porque necesitábamos un umbral reproducible y P90 usa percentiles trabajados en el Laboratorio 4.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459028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73659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¿Qué demuestra el notebook?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Patrones, diferencias y asociaciones en 2021; no causalidad ni evolución temporal.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