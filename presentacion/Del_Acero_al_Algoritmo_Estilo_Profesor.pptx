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749808"/>
            <a:ext cx="59436" cy="114300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786384"/>
            <a:ext cx="8046720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100" b="1" i="0">
                <a:solidFill>
                  <a:srgbClr val="10304B"/>
                </a:solidFill>
                <a:latin typeface="Aptos"/>
              </a:rPr>
              <a:t>DEL ACERO AL ALGORITMO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325880"/>
            <a:ext cx="886968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 i="0">
                <a:solidFill>
                  <a:srgbClr val="088B99"/>
                </a:solidFill>
                <a:latin typeface="Aptos"/>
              </a:rPr>
              <a:t>Estadística Descriptiva aplicada a la Educación Superior del Biobío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48840"/>
            <a:ext cx="996696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43566E"/>
                </a:solidFill>
                <a:latin typeface="Apto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" y="3931920"/>
            <a:ext cx="3063240" cy="107899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33087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900" b="1" i="0">
                <a:solidFill>
                  <a:srgbClr val="EA6F4F"/>
                </a:solidFill>
                <a:latin typeface="Aptos"/>
              </a:rPr>
              <a:t>ACERO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98848"/>
            <a:ext cx="2651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19" b="0" i="0">
                <a:solidFill>
                  <a:srgbClr val="5D6F85"/>
                </a:solidFill>
                <a:latin typeface="Aptos"/>
              </a:rPr>
              <a:t>motores productivos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224528"/>
            <a:ext cx="4114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200" b="1" i="0">
                <a:solidFill>
                  <a:srgbClr val="10304B"/>
                </a:solidFill>
                <a:latin typeface="Aptos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3931920"/>
            <a:ext cx="3063240" cy="107899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4133087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900" b="1" i="0">
                <a:solidFill>
                  <a:srgbClr val="088B99"/>
                </a:solidFill>
                <a:latin typeface="Aptos"/>
              </a:rPr>
              <a:t>ALGORITMO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4498848"/>
            <a:ext cx="2651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19" b="0" i="0">
                <a:solidFill>
                  <a:srgbClr val="5D6F85"/>
                </a:solidFill>
                <a:latin typeface="Aptos"/>
              </a:rPr>
              <a:t>capacidades transformadoras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85632" y="3456432"/>
            <a:ext cx="2651760" cy="104241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85632" y="3456432"/>
            <a:ext cx="41148" cy="1042415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621024"/>
            <a:ext cx="228599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BASE ORIGINAL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968496"/>
            <a:ext cx="2285999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088B99"/>
                </a:solidFill>
                <a:latin typeface="Aptos"/>
              </a:rPr>
              <a:t>106.555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379976"/>
            <a:ext cx="2267711" cy="9143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626864"/>
            <a:ext cx="2651760" cy="104241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85632" y="4626864"/>
            <a:ext cx="41148" cy="1042415"/>
          </a:xfrm>
          <a:prstGeom prst="rect">
            <a:avLst/>
          </a:prstGeom>
          <a:solidFill>
            <a:srgbClr val="EA6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4791455"/>
            <a:ext cx="228599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PREGRADO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138927"/>
            <a:ext cx="2285999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EA6F4F"/>
                </a:solidFill>
                <a:latin typeface="Aptos"/>
              </a:rPr>
              <a:t>101.093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550407"/>
            <a:ext cx="2267711" cy="91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matrículas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Contexto del análisis y muestra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Usamos la misma base, pero cada pregunta necesita una unidad de análisis distinta.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508760"/>
            <a:ext cx="257860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1673351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68249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9304" y="1673351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Base original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9304" y="2020824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88B99"/>
                </a:solidFill>
                <a:latin typeface="Aptos"/>
              </a:rPr>
              <a:t>106.555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" y="2432304"/>
            <a:ext cx="1709928" cy="5394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28 columnas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08760"/>
            <a:ext cx="257860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4448" y="1673351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68249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0A99D"/>
                </a:solidFill>
                <a:latin typeface="Aptos"/>
              </a:rPr>
              <a:t>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1673351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Matrículas de pregrado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5656" y="2020824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0A99D"/>
                </a:solidFill>
                <a:latin typeface="Aptos"/>
              </a:rPr>
              <a:t>101.093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05656" y="2432304"/>
            <a:ext cx="1709928" cy="5394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matrículas y estructura formativa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508760"/>
            <a:ext cx="257860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1673351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68249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673351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Pregrado con precio válido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020824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F69F5F"/>
                </a:solidFill>
                <a:latin typeface="Aptos"/>
              </a:rPr>
              <a:t>101.067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2008" y="2432304"/>
            <a:ext cx="1709928" cy="5394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matrículas con arancel mayor que $0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1508760"/>
            <a:ext cx="257860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7152" y="1673351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168249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EA6F4F"/>
                </a:solidFill>
                <a:latin typeface="Aptos"/>
              </a:rPr>
              <a:t>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1673351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Ofertas académicas únicas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2020824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EA6F4F"/>
                </a:solidFill>
                <a:latin typeface="Aptos"/>
              </a:rPr>
              <a:t>1.273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432304"/>
            <a:ext cx="1709928" cy="5394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precios sin repetir la misma oferta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3401568"/>
            <a:ext cx="10972800" cy="96012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" y="3401568"/>
            <a:ext cx="41148" cy="96012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" y="3547872"/>
            <a:ext cx="10607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En simple: para comparar precios, una misma carrera no puede repetir su arancel por cada estudiante. Por eso trabajamos con 1.273 ofertas únicas.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736592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Flujo de preparación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166360"/>
            <a:ext cx="2103120" cy="457200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175504"/>
            <a:ext cx="21031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Excel 2021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62656" y="5202936"/>
            <a:ext cx="4114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7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5166360"/>
            <a:ext cx="2103120" cy="457200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5175504"/>
            <a:ext cx="21031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Filtrar pregrado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05856" y="5202936"/>
            <a:ext cx="4114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7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166360"/>
            <a:ext cx="2103120" cy="457200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5175504"/>
            <a:ext cx="21031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Separar precio válido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9056" y="5202936"/>
            <a:ext cx="4114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7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06840" y="5166360"/>
            <a:ext cx="2103120" cy="457200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5175504"/>
            <a:ext cx="21031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Crear oferta única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Qué herramientas usamos y para qué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Cada herramienta del notebook corresponde a contenidos trabajados en los laboratorios del profesor.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36192"/>
            <a:ext cx="3401568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" y="17007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099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1700784"/>
            <a:ext cx="25511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Frecuencias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2048256"/>
            <a:ext cx="25511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88B99"/>
                </a:solidFill>
                <a:latin typeface="Aptos"/>
              </a:rPr>
              <a:t>cuántos · porcentajes · acumulados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2459736"/>
            <a:ext cx="2532888" cy="3566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groupby().size() · cumsum()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536192"/>
            <a:ext cx="3401568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89703" y="17007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3" y="17099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1700784"/>
            <a:ext cx="25511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Tendencia central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48256"/>
            <a:ext cx="25511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88B99"/>
                </a:solidFill>
                <a:latin typeface="Aptos"/>
              </a:rPr>
              <a:t>valor típico o central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2459736"/>
            <a:ext cx="2532888" cy="3566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mean() · median() · mode()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1536192"/>
            <a:ext cx="3401568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3023" y="17007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3" y="17099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4232" y="1700784"/>
            <a:ext cx="25511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Percentiles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4232" y="2048256"/>
            <a:ext cx="25511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88B99"/>
                </a:solidFill>
                <a:latin typeface="Aptos"/>
              </a:rPr>
              <a:t>posición dentro de la distribución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4232" y="2459736"/>
            <a:ext cx="2532888" cy="3566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quantile()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3227832"/>
            <a:ext cx="5257800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6384" y="339242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340156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7592" y="3392424"/>
            <a:ext cx="440740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Dispersión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3739896"/>
            <a:ext cx="4407408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F69F5F"/>
                </a:solidFill>
                <a:latin typeface="Aptos"/>
              </a:rPr>
              <a:t>rango · desviación estándar · CV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7592" y="4151376"/>
            <a:ext cx="4389120" cy="3566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std()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53912" y="3227832"/>
            <a:ext cx="5257800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18503" y="339242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18503" y="340156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3392424"/>
            <a:ext cx="440740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Bivariado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3739896"/>
            <a:ext cx="4407408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F69F5F"/>
                </a:solidFill>
                <a:latin typeface="Aptos"/>
              </a:rPr>
              <a:t>comparar dos variables o grupos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4151376"/>
            <a:ext cx="4389120" cy="3566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crosstab() · agg()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102352"/>
            <a:ext cx="10972800" cy="86868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" y="5102352"/>
            <a:ext cx="41148" cy="86868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" y="5248656"/>
            <a:ext cx="106070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Idea clave: primero elegimos la herramienta, después calculamos, mostramos el resultado y finalmente lo interpretamos.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Radiografía general de la matrícula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Primero describimos la estructura de la base antes de responder las preguntas obligatorias.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481328"/>
            <a:ext cx="3657600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9928"/>
            <a:ext cx="32918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Distribución por género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132588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300" b="1" i="0">
                <a:solidFill>
                  <a:srgbClr val="00A99D"/>
                </a:solidFill>
                <a:latin typeface="Aptos"/>
              </a:rPr>
              <a:t>54,3%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2032" y="2148840"/>
            <a:ext cx="132588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300" b="1" i="0">
                <a:solidFill>
                  <a:srgbClr val="088B99"/>
                </a:solidFill>
                <a:latin typeface="Aptos"/>
              </a:rP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651760"/>
            <a:ext cx="129844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30" b="1" i="0">
                <a:solidFill>
                  <a:srgbClr val="5D6F85"/>
                </a:solidFill>
                <a:latin typeface="Aptos"/>
              </a:rPr>
              <a:t>Femenino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651760"/>
            <a:ext cx="129844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30" b="1" i="0">
                <a:solidFill>
                  <a:srgbClr val="5D6F85"/>
                </a:solidFill>
                <a:latin typeface="Aptos"/>
              </a:rPr>
              <a:t>Masculino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54680"/>
            <a:ext cx="1638513" cy="292608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71201" y="3154680"/>
            <a:ext cx="1379006" cy="292608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749039"/>
            <a:ext cx="324612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En total hay más mujeres (54,3%) que hombres (45,7%); la distribución cambia según el área.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1481328"/>
            <a:ext cx="7068312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1709928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Áreas con mayor participación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189988"/>
            <a:ext cx="20848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Tecnología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194560"/>
            <a:ext cx="2852928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2194560"/>
            <a:ext cx="2624693" cy="30175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885" y="221742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27.6%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218541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2194560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27.6%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692908"/>
            <a:ext cx="20848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Salud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2697480"/>
            <a:ext cx="2852928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949440" y="2697480"/>
            <a:ext cx="2310871" cy="301752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9063" y="272034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24.3%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0" y="268833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0" y="2697480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24.3%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3195828"/>
            <a:ext cx="20848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Administración y Comercio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3200400"/>
            <a:ext cx="2852928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949440" y="3200400"/>
            <a:ext cx="1274307" cy="30175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82499" y="322326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13.4%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319125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3200400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13.4%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698748"/>
            <a:ext cx="20848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Educación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49440" y="3703320"/>
            <a:ext cx="2852928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49440" y="3703320"/>
            <a:ext cx="1084112" cy="30175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92304" y="372618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11.4%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369417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0" y="3703320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11.4%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" y="4754880"/>
            <a:ext cx="10972800" cy="841248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1792" y="4754880"/>
            <a:ext cx="41148" cy="841248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" y="4901184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Lectura: Tecnología (27,6%) y Salud (24,3%) concentran 51,9% de la matrícula. La base muestra el patrón, no su causa.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Áreas de estudio en frecuencias relativas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La frecuencia relativa permite comparar categorías aun cuando tengan tamaños distintos.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72768"/>
          <a:ext cx="1092708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920240"/>
                <a:gridCol w="4251960"/>
              </a:tblGrid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FFFFFF"/>
                          </a:solidFill>
                          <a:latin typeface="Aptos"/>
                        </a:rPr>
                        <a:t>Área del conocimiento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1">
                          <a:solidFill>
                            <a:srgbClr val="FFFFFF"/>
                          </a:solidFill>
                          <a:latin typeface="Aptos"/>
                        </a:rPr>
                        <a:t>Participación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1">
                          <a:solidFill>
                            <a:srgbClr val="FFFFFF"/>
                          </a:solidFill>
                          <a:latin typeface="Aptos"/>
                        </a:rPr>
                        <a:t>Lectura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Tecnología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27,6%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Mayor participación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Salud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24,3%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Segunda mayor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Administración y Comercio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13,4%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Participación intermedia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Educación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11,4%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Participación intermedia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Otros campos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23,3%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Resto de las áreas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919472"/>
            <a:ext cx="10927080" cy="850392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919472"/>
            <a:ext cx="41148" cy="850392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65776"/>
            <a:ext cx="10561319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Interpretación: </a:t>
            </a:r>
            <a:r>
              <a:rPr sz="960">
                <a:solidFill>
                  <a:srgbClr val="43566E"/>
                </a:solidFill>
                <a:latin typeface="Aptos"/>
              </a:rPr>
              <a:t>Las cuatro áreas principales representan 76,7% de la matrícula de pregrado; el resto de las áreas suma 23,3%.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Del acero al algoritmo: clasificación propia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Agrupamos carreras en 9 familias para comparar formación productiva y formación transformadora.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81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63239" y="1627632"/>
            <a:ext cx="749808" cy="25603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39" y="1636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664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Industria y manufactura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481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0" y="1627632"/>
            <a:ext cx="749808" cy="25603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636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664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Construcción e infraestructura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81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69880" y="1627632"/>
            <a:ext cx="749808" cy="25603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1636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1" y="1664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Logística y puertos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624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63239" y="2770632"/>
            <a:ext cx="749808" cy="25603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3239" y="2779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" y="2807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Forestal y madera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2624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766560" y="2770632"/>
            <a:ext cx="749808" cy="25603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2779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2807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Pesca y acuicultura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2624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69880" y="2770632"/>
            <a:ext cx="749808" cy="25603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69880" y="2779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1" y="2807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Agroalimentario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3767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063239" y="3913632"/>
            <a:ext cx="749808" cy="25603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39" y="3922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ALGORITMO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" y="3950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Digital y 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767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766560" y="3913632"/>
            <a:ext cx="749808" cy="25603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3922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ALGORITMO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7992" y="3950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Automatización y robótica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19" y="3767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69880" y="3913632"/>
            <a:ext cx="749808" cy="256032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69880" y="3922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ALGORITMO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1" y="3950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Energía, sustentabilidad y biotecnología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074920"/>
            <a:ext cx="10927080" cy="86868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5074920"/>
            <a:ext cx="41148" cy="86868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5221224"/>
            <a:ext cx="10561319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Importante: esta clasificación fue creada para el trabajo. No es oficial y cada carrera aparece en una sola familia para no contarla dos veces.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Hallazgo central: motores productivos vs. capacidades transformadoras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Comparamos cuánto pesa cada bloque dentro de la matrícula de pregrado de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97280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10512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50" b="1" i="0">
                <a:solidFill>
                  <a:srgbClr val="10304B"/>
                </a:solidFill>
                <a:latin typeface="Aptos"/>
              </a:rPr>
              <a:t>Motores productivos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20574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EA6F4F"/>
                </a:solidFill>
                <a:latin typeface="Aptos"/>
              </a:rPr>
              <a:t>20,15%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2057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5D6F85"/>
                </a:solidFill>
                <a:latin typeface="Aptos"/>
              </a:rPr>
              <a:t>20.368 matrículas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029968"/>
            <a:ext cx="6949440" cy="402336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26080" y="2029968"/>
            <a:ext cx="6217920" cy="402336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50" b="1" i="0">
                <a:solidFill>
                  <a:srgbClr val="10304B"/>
                </a:solidFill>
                <a:latin typeface="Aptos"/>
              </a:rPr>
              <a:t>Capacidades transformadoras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57600"/>
            <a:ext cx="20574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088B99"/>
                </a:solidFill>
                <a:latin typeface="Aptos"/>
              </a:rPr>
              <a:t>6,92%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2"/>
            <a:ext cx="2057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5D6F85"/>
                </a:solidFill>
                <a:latin typeface="Aptos"/>
              </a:rPr>
              <a:t>7.000 matrículas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474720"/>
            <a:ext cx="6949440" cy="402336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26080" y="3474720"/>
            <a:ext cx="2139696" cy="402336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21824" y="1956816"/>
            <a:ext cx="1234440" cy="512064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21824" y="1965960"/>
            <a:ext cx="1234440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80" b="1" i="0">
                <a:solidFill>
                  <a:srgbClr val="00A99D"/>
                </a:solidFill>
                <a:latin typeface="Aptos"/>
              </a:rPr>
              <a:t>≈ 2,9 :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57816" y="2596896"/>
            <a:ext cx="14173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69" b="1" i="0">
                <a:solidFill>
                  <a:srgbClr val="43566E"/>
                </a:solidFill>
                <a:latin typeface="Aptos"/>
              </a:rPr>
              <a:t>matrículas productivas por cada transformadora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19472"/>
            <a:ext cx="10972800" cy="877824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919472"/>
            <a:ext cx="41148" cy="877824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065776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En simple: hay cerca de 2,9 matrículas productivas por cada transformadora. Es una diferencia descriptiva, no prueba un déficit profesional.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Pregunta 1 · ¿Hay áreas donde las carreras sean más caras?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Usamos 1.273 ofertas únicas y comparamos su arancel mediano por área.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99616"/>
            <a:ext cx="1097280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05940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Derecho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1810512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72968" y="1810512"/>
            <a:ext cx="5779305" cy="30175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1025" y="1833372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$3.586M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19" y="1801368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19" y="1810512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$3.586M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290572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Ciencias Básicas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72968" y="2295144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72968" y="2295144"/>
            <a:ext cx="5302262" cy="30175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3982" y="2318003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$3.290M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19" y="2286000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2295144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$3.290M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775204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Agropecuaria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72968" y="2779776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72968" y="2779776"/>
            <a:ext cx="4805880" cy="30175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7600" y="2802636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$2.982M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19" y="2770632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19" y="2779776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$2.982M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259836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Tecnología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72968" y="3264408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172968" y="3264408"/>
            <a:ext cx="3419878" cy="30175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98" y="3287268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$2.122M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19" y="3255264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19" y="3264408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$2.122M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374446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Salud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72968" y="3749039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172968" y="3749039"/>
            <a:ext cx="3352190" cy="301752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83910" y="377190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$2.080M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75519" y="373989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19" y="3749039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$2.080M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229100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Mediana global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72968" y="4233672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172968" y="4233672"/>
            <a:ext cx="3271608" cy="301752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03328" y="4256532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$2.030M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75519" y="4224528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75519" y="4233672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$2.030M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368" y="5157216"/>
            <a:ext cx="10972800" cy="841248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368" y="5157216"/>
            <a:ext cx="41148" cy="841248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6968" y="53035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Respuesta: Sí. La mediana global es $2.030.000. Derecho, Ciencias Básicas y Agropecuaria están por encima. Usamos mediana porque los valores extremos la afectan menos.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Pregunta 2 · Edad y tipo de institución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Comparamos qué tipo de institución aparece con mayor frecuencia en dos grupos de edad.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17904"/>
            <a:ext cx="5321808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754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Estudiantes de 15 a 19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54580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Universidad CRUCH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2359152"/>
            <a:ext cx="2377439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0" y="2359152"/>
            <a:ext cx="1832213" cy="30175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08485" y="2382012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46,24%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96722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Instituto Profesional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2971800"/>
            <a:ext cx="2377439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0" y="2971800"/>
            <a:ext cx="764743" cy="30175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299466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19,30%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785615"/>
            <a:ext cx="466344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En este grupo, CRUCH tiene una participación mucho mayor que IP.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517904"/>
            <a:ext cx="5321808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755648"/>
            <a:ext cx="4754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Estudiantes de 40 años o más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4580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Instituto Profesional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2359152"/>
            <a:ext cx="2377439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95360" y="2359152"/>
            <a:ext cx="2097298" cy="30175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1410" y="2382012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52,93%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96722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Universidad CRUCH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95360" y="2971800"/>
            <a:ext cx="2377439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95360" y="2971800"/>
            <a:ext cx="431109" cy="30175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13648" y="299466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10,88%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3785615"/>
            <a:ext cx="466344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En este grupo, IP concentra una proporción mucho mayor que CRUCH.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10899648" cy="877824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5029200"/>
            <a:ext cx="41148" cy="877824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175504"/>
            <a:ext cx="1053388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Respuesta: la composición institucional cambia según el grupo de edad. Observamos una asociación, pero no podemos decir que la edad cause la elección.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Pregunta 3 · ¿Qué aranceles están entre los más altos?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Usamos el percentil 90 (P90): separa aproximadamente el 10% de ofertas con arancel más alto.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011680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" y="1618488"/>
            <a:ext cx="1700784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30" b="1" i="0">
                <a:solidFill>
                  <a:srgbClr val="5D6F85"/>
                </a:solidFill>
                <a:latin typeface="Aptos"/>
              </a:rPr>
              <a:t>P90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1892808"/>
            <a:ext cx="1700784" cy="55778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500" b="1" i="0">
                <a:solidFill>
                  <a:srgbClr val="10304B"/>
                </a:solidFill>
                <a:latin typeface="Aptos"/>
              </a:rPr>
              <a:t>$4.106.400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5768" y="1801368"/>
            <a:ext cx="2743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8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1481328"/>
            <a:ext cx="2011680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27248" y="1618488"/>
            <a:ext cx="1700784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30" b="1" i="0">
                <a:solidFill>
                  <a:srgbClr val="5D6F85"/>
                </a:solidFill>
                <a:latin typeface="Aptos"/>
              </a:rPr>
              <a:t>SIGNIFICADO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1892808"/>
            <a:ext cx="1700784" cy="55778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500" b="1" i="0">
                <a:solidFill>
                  <a:srgbClr val="10304B"/>
                </a:solidFill>
                <a:latin typeface="Aptos"/>
              </a:rPr>
              <a:t>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801368"/>
            <a:ext cx="2743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8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85232" y="1481328"/>
            <a:ext cx="2011680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1618488"/>
            <a:ext cx="1700784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30" b="1" i="0">
                <a:solidFill>
                  <a:srgbClr val="5D6F85"/>
                </a:solidFill>
                <a:latin typeface="Aptos"/>
              </a:rPr>
              <a:t>GRUPO SUPERIOR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1892808"/>
            <a:ext cx="1700784" cy="55778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500" b="1" i="0">
                <a:solidFill>
                  <a:srgbClr val="10304B"/>
                </a:solidFill>
                <a:latin typeface="Aptos"/>
              </a:rPr>
              <a:t>≈ 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2631" y="1801368"/>
            <a:ext cx="2743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8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98664" y="1481328"/>
            <a:ext cx="3968496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4112" y="1618488"/>
            <a:ext cx="36576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30" b="1" i="0">
                <a:solidFill>
                  <a:srgbClr val="5D6F85"/>
                </a:solidFill>
                <a:latin typeface="Aptos"/>
              </a:rPr>
              <a:t>VALOR MÁXIMO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1892808"/>
            <a:ext cx="3657600" cy="55778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500" b="1" i="0">
                <a:solidFill>
                  <a:srgbClr val="10304B"/>
                </a:solidFill>
                <a:latin typeface="Aptos"/>
              </a:rPr>
              <a:t>$8.783.670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907792"/>
            <a:ext cx="2743200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59" y="30723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30815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EA6F4F"/>
                </a:solidFill>
                <a:latin typeface="Aptos"/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3072384"/>
            <a:ext cx="189280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OFERTAS SOBRE P90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419856"/>
            <a:ext cx="1892807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300" b="1" i="0">
                <a:solidFill>
                  <a:srgbClr val="EA6F4F"/>
                </a:solidFill>
                <a:latin typeface="Aptos"/>
              </a:rPr>
              <a:t>128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4168" y="3831336"/>
            <a:ext cx="1874519" cy="44805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de 1.273 ofertas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2907792"/>
            <a:ext cx="257860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76472" y="30723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76472" y="30815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072384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PORCENTAJE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419856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300" b="1" i="0">
                <a:solidFill>
                  <a:srgbClr val="088B99"/>
                </a:solidFill>
                <a:latin typeface="Aptos"/>
              </a:rPr>
              <a:t>10,1%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831336"/>
            <a:ext cx="1709928" cy="44805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del 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91656" y="2907792"/>
            <a:ext cx="257860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56248" y="30723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30815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0A99D"/>
                </a:solidFill>
                <a:latin typeface="Aptos"/>
              </a:rPr>
              <a:t>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7456" y="3072384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INSTITUCIÓN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77456" y="3419856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00A99D"/>
                </a:solidFill>
                <a:latin typeface="Aptos"/>
              </a:rPr>
              <a:t>73 / 55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77456" y="3831336"/>
            <a:ext cx="1709928" cy="44805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CRUCH / privadas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71432" y="2907792"/>
            <a:ext cx="239572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36024" y="30723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36024" y="30815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57232" y="3072384"/>
            <a:ext cx="154533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TERRITORIO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57232" y="3419856"/>
            <a:ext cx="154533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F69F5F"/>
                </a:solidFill>
                <a:latin typeface="Aptos"/>
              </a:rPr>
              <a:t>123 /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57232" y="3831336"/>
            <a:ext cx="1527048" cy="44805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Concepción / Biobío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4800600"/>
            <a:ext cx="10908792" cy="100584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" y="4800600"/>
            <a:ext cx="41148" cy="100584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" y="4946904"/>
            <a:ext cx="105430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Respuesta: el P90 es $4.106.400. Lo superan 128 ofertas (10,1%). De ellas, 73 son CRUCH y 55 privadas; 123 están en Concepción y 5 en Biobío.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¿Cómo es el grupo de ofertas sobre P90?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Describimos el 10% superior de aranceles. Estas variables no explican la causa del precio.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5230368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1737360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46504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737360"/>
            <a:ext cx="4379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Tipo de institución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084832"/>
            <a:ext cx="43799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088B99"/>
                </a:solidFill>
                <a:latin typeface="Aptos"/>
              </a:rPr>
              <a:t>73 CRUCH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496312"/>
            <a:ext cx="4361688" cy="393191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55 privadas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572768"/>
            <a:ext cx="5230368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79" y="1737360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1746504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0A99D"/>
                </a:solidFill>
                <a:latin typeface="Aptos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1737360"/>
            <a:ext cx="4379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Área del conocimiento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084832"/>
            <a:ext cx="43799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00A99D"/>
                </a:solidFill>
                <a:latin typeface="Aptos"/>
              </a:rPr>
              <a:t>38 Salud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496312"/>
            <a:ext cx="4361688" cy="393191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38 Tecnología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91839"/>
            <a:ext cx="5230368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59" y="3456432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46557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3456432"/>
            <a:ext cx="4379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Provincia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4168" y="3803904"/>
            <a:ext cx="43799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F69F5F"/>
                </a:solidFill>
                <a:latin typeface="Aptos"/>
              </a:rPr>
              <a:t>123 Concepción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215384"/>
            <a:ext cx="4361688" cy="393191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5 Biobío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91839"/>
            <a:ext cx="5230368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55079" y="3456432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79" y="346557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EA6F4F"/>
                </a:solidFill>
                <a:latin typeface="Aptos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456432"/>
            <a:ext cx="4379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Duración mediana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03904"/>
            <a:ext cx="43799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EA6F4F"/>
                </a:solidFill>
                <a:latin typeface="Aptos"/>
              </a:rPr>
              <a:t>10 semestres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4215384"/>
            <a:ext cx="4361688" cy="393191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resto: 5 semestres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166360"/>
            <a:ext cx="10908792" cy="82296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166360"/>
            <a:ext cx="41148" cy="82296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5312664"/>
            <a:ext cx="1054303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Lectura: vemos diferencias por institución, área, provincia y duración, pero ninguna de ellas puede presentarse como causa del arancel.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Dimensión territorial de las capacidades transformadoras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Porcentaje y cantidad no significan lo mismo: debemos mirar ambos.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383280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2024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10304B"/>
                </a:solidFill>
                <a:latin typeface="Aptos"/>
              </a:rPr>
              <a:t>Arauco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92608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800" b="1" i="0">
                <a:solidFill>
                  <a:srgbClr val="EA6F4F"/>
                </a:solidFill>
                <a:latin typeface="Aptos"/>
              </a:rPr>
              <a:t>8,55%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01752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5D6F85"/>
                </a:solidFill>
                <a:latin typeface="Aptos"/>
              </a:rPr>
              <a:t>232 matrículas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5568" y="3493008"/>
            <a:ext cx="2615184" cy="16459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5568" y="3493008"/>
            <a:ext cx="2235982" cy="16459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1691640"/>
            <a:ext cx="3383280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92024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10304B"/>
                </a:solidFill>
                <a:latin typeface="Aptos"/>
              </a:rPr>
              <a:t>Biobío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395728"/>
            <a:ext cx="292608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800" b="1" i="0">
                <a:solidFill>
                  <a:srgbClr val="F69F5F"/>
                </a:solidFill>
                <a:latin typeface="Aptos"/>
              </a:rPr>
              <a:t>7,61%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301752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5D6F85"/>
                </a:solidFill>
                <a:latin typeface="Aptos"/>
              </a:rPr>
              <a:t>966 matrículas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0328" y="3493008"/>
            <a:ext cx="2615184" cy="16459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10328" y="3493008"/>
            <a:ext cx="1990155" cy="16459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40" y="1691640"/>
            <a:ext cx="3383280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192024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10304B"/>
                </a:solidFill>
                <a:latin typeface="Aptos"/>
              </a:rPr>
              <a:t>Concepción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2395728"/>
            <a:ext cx="292608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800" b="1" i="0">
                <a:solidFill>
                  <a:srgbClr val="088B99"/>
                </a:solidFill>
                <a:latin typeface="Aptos"/>
              </a:rPr>
              <a:t>6,77%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301752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5D6F85"/>
                </a:solidFill>
                <a:latin typeface="Aptos"/>
              </a:rPr>
              <a:t>5.802 matrículas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05088" y="3493008"/>
            <a:ext cx="2615184" cy="16459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05088" y="3493008"/>
            <a:ext cx="1770479" cy="16459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4315968"/>
            <a:ext cx="10972800" cy="96012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4315968"/>
            <a:ext cx="41148" cy="96012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462272"/>
            <a:ext cx="10607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En simple: Arauco tiene el mayor porcentaje dentro de su provincia, pero Concepción tiene muchas más matrículas transformadoras en cantidad total.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Qué podemos concluir y qué 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Los datos permiten describir diferencias y asociaciones, pero no demostrar causas.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5230368" cy="4224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83080"/>
            <a:ext cx="46634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2BA97C"/>
                </a:solidFill>
                <a:latin typeface="Aptos"/>
              </a:rPr>
              <a:t>SÍ podemos afirmar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331720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40863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2286000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Diferencias y concentraciones observadas.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98648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07791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2852928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Asociaciones descriptivas entre variables.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465576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3419856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Qué áreas tienen mayor mediana de arancel.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032504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41648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3986783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Qué grupos de edad presentan distinta composición institucional.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599431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08575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" y="4553712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Qué ofertas quedan por sobre el percentil 90.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536192"/>
            <a:ext cx="5230368" cy="4224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1783080"/>
            <a:ext cx="46634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D34F4F"/>
                </a:solidFill>
                <a:latin typeface="Aptos"/>
              </a:rPr>
              <a:t>NO podemos afirmar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2331720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2340863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2286000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la edad cause la elección institucional.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2898648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2907791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2852928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exista déficit de profesionales.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3952" y="3465576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3474720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4576" y="3419856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el territorio cause determinado arancel.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4032504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4041648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94576" y="3986783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la clasificación “Acero/Algoritmo” sea oficial.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73952" y="4599431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4608575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94576" y="4553712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una fotografía de 2021 demuestre evolución temporal.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Conclusiones principales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Tres resultados que responden al objetivo del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45920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901952"/>
            <a:ext cx="457200" cy="457200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11095"/>
            <a:ext cx="45720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542032"/>
            <a:ext cx="297180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Composición regional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044952"/>
            <a:ext cx="2971800" cy="12070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 i="0">
                <a:solidFill>
                  <a:srgbClr val="43566E"/>
                </a:solidFill>
                <a:latin typeface="Aptos"/>
              </a:rPr>
              <a:t>20,15% de la matrícula se vincula a motores productivos y 6,92% a capacidades transformadoras.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645920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62855" y="1901952"/>
            <a:ext cx="457200" cy="457200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5" y="1911095"/>
            <a:ext cx="45720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5" y="2542032"/>
            <a:ext cx="297180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Precios y edad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3044952"/>
            <a:ext cx="2971800" cy="12070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 i="0">
                <a:solidFill>
                  <a:srgbClr val="43566E"/>
                </a:solidFill>
                <a:latin typeface="Aptos"/>
              </a:rPr>
              <a:t>Existen áreas con arancel típico mayor y la composición institucional cambia entre grupos de edad.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645920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66176" y="1901952"/>
            <a:ext cx="457200" cy="457200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911095"/>
            <a:ext cx="45720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2542032"/>
            <a:ext cx="297180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Aranceles altos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3044952"/>
            <a:ext cx="2971800" cy="12070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 i="0">
                <a:solidFill>
                  <a:srgbClr val="43566E"/>
                </a:solidFill>
                <a:latin typeface="Aptos"/>
              </a:rPr>
              <a:t>128 de 1.273 ofertas superan el P90 de $4.106.400, equivalente a 10,1% del total.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138928"/>
            <a:ext cx="10927080" cy="82296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138928"/>
            <a:ext cx="41148" cy="82296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5285232"/>
            <a:ext cx="1056131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Respuesta central: en 2021 el bloque productivo tiene mayor peso que el transformador. Es una fotografía descriptiva de la matrícula, no una prueba de déficit ni de causalidad.</a:t>
            </a:r>
            <a:r>
              <a:rPr sz="960">
                <a:solidFill>
                  <a:srgbClr val="43566E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La presentación termina donde empieza una nueva pregunta de investigación.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600200"/>
            <a:ext cx="1060704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956816"/>
            <a:ext cx="10058400" cy="10789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300" b="1" i="0">
                <a:solidFill>
                  <a:srgbClr val="10304B"/>
                </a:solidFill>
                <a:latin typeface="Apto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9888" y="4315968"/>
            <a:ext cx="2560320" cy="502920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4325112"/>
            <a:ext cx="2560320" cy="4846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40" b="1" i="0">
                <a:solidFill>
                  <a:srgbClr val="FFFFFF"/>
                </a:solidFill>
                <a:latin typeface="Aptos"/>
              </a:rPr>
              <a:t>DATOS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36008" y="4315968"/>
            <a:ext cx="2560320" cy="502920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4325112"/>
            <a:ext cx="2560320" cy="4846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40" b="1" i="0">
                <a:solidFill>
                  <a:srgbClr val="FFFFFF"/>
                </a:solidFill>
                <a:latin typeface="Aptos"/>
              </a:rPr>
              <a:t>INTERPRETACIÓN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4315968"/>
            <a:ext cx="2560320" cy="502920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325112"/>
            <a:ext cx="2560320" cy="4846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40" b="1" i="0">
                <a:solidFill>
                  <a:srgbClr val="FFFFFF"/>
                </a:solidFill>
                <a:latin typeface="Aptos"/>
              </a:rPr>
              <a:t>DEFENSA INDIVIDUAL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175504"/>
            <a:ext cx="78181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100" b="1" i="0">
                <a:solidFill>
                  <a:srgbClr val="5D6F85"/>
                </a:solidFill>
                <a:latin typeface="Aptos"/>
              </a:rPr>
              <a:t>Notebook final ejecutado · 0 errores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Fin de presentación · anexos de apoyo a continuación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ANEXO · Herramientas del profesor usadas en el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Úsalo para la defensa individual si el docente pregunta “¿dónde vimos esto?”.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" y="1481328"/>
          <a:ext cx="1097280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114800"/>
                <a:gridCol w="4846320"/>
              </a:tblGrid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Laboratorio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Contenido aplicado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Ejemplo en el trabajo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0 · Pandas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read_excel, head, tail, shape, info, filtros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Carga y preparación del Excel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1 · Conceptos básicos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población, muestra, tipos de variables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Definición de las unidades del estudio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2 · Frecuencias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groupby().size(), relativas, acumuladas, pd.cut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Género, área, edad, arancel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3 · Gráficos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pie, barras, histogramas, scatter, subplots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Visualización de distribuciones y relaciones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4 · Tendencia y percentiles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mean, median, mode, quantile, describe, crosstab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Preguntas 1, 2 y 3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616572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5 · Dispersión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rango, std, CV, agg, isin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Dispersión general y comparación entre grupos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ANEXO · defensa individual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ANEXO · Conceptos que debes saber explicar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La clave es poder explicar qué mide cada concepto y cuándo lo usamos en 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63040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09344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Frecuencia relativa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591056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088B99"/>
                </a:solidFill>
                <a:latin typeface="Aptos"/>
              </a:rPr>
              <a:t>hi = fi / N ×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48256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Porcentaje de casos que pertenece a una categoría.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609344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Rango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591056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00A99D"/>
                </a:solidFill>
                <a:latin typeface="Aptos"/>
              </a:rPr>
              <a:t>máximo − mínimo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048256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Amplitud total observada.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944368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090672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Coeficiente de variación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3072384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F69F5F"/>
                </a:solidFill>
                <a:latin typeface="Aptos"/>
              </a:rPr>
              <a:t>CV = DE / media 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529584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Dispersión relativa para comparar escalas.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944368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3090672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Percentil 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072384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EA6F4F"/>
                </a:solidFill>
                <a:latin typeface="Aptos"/>
              </a:rPr>
              <a:t>quantile(0.90)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3529584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Valor que deja aproximadamente 90% de los datos en o bajo ese punto.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425696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572000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Desviación estándar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4553712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D34F4F"/>
                </a:solidFill>
                <a:latin typeface="Aptos"/>
              </a:rPr>
              <a:t>std()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5010912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Mide cuánto se alejan los valores respecto de su media, en la escala original.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425696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4572000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Mediana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553712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2BA97C"/>
                </a:solidFill>
                <a:latin typeface="Aptos"/>
              </a:rPr>
              <a:t>valor central ordenado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5010912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Medida robusta frente a valores extremos.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ANEXO · defensa individual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ANEXO · Preguntas probables del profesor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Respuestas cortas, técnicas y defendibles.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4475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58191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¿Por qué mediana en la Pregunta 1?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00253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Porque el arancel puede tener valores extremos y la mediana representa mejor el valor típico.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4475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58191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¿Por qué eliminar duplicados?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00253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Porque una oferta con muchos estudiantes no debe repetir su precio cientos de veces al comparar cuánto cuesta una carrera.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5351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09067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¿Qué significa 2,9 :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51129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Que hay aproximadamente 2,9 matrículas productivas por cada matrícula transformadora en la clasificación creada.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95351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09067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¿Edad causa el tipo de institución?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51129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No. Solo observamos una asociación descriptiva entre grupos de edad y composición institucional.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46227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59943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¿Por qué usamos P90?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502005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Porque permite separar de forma objetiva aproximadamente el 10% de ofertas con arancel más alto usando percentiles vistos en clase.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46227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59943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¿Qué demuestra el notebook?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502005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Patrones, diferencias y asociaciones en 2021; no causalidad ni evolución temporal.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ANEXO · defensa individual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