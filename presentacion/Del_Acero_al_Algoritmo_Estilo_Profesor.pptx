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749808"/>
            <a:ext cx="59436" cy="114300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786384"/>
            <a:ext cx="8046720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 i="0">
                <a:solidFill>
                  <a:srgbClr val="10304B"/>
                </a:solidFill>
                <a:latin typeface="Aptos"/>
              </a:rPr>
              <a:t>DEL ACERO AL ALGORITMO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325880"/>
            <a:ext cx="886968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 i="0">
                <a:solidFill>
                  <a:srgbClr val="088B99"/>
                </a:solidFill>
                <a:latin typeface="Aptos"/>
              </a:rPr>
              <a:t>Estadística Descriptiva aplicada a la Educación Superior del Biobío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48840"/>
            <a:ext cx="996696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43566E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3931920"/>
            <a:ext cx="3063240" cy="107899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33087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900" b="1" i="0">
                <a:solidFill>
                  <a:srgbClr val="EA6F4F"/>
                </a:solidFill>
                <a:latin typeface="Aptos"/>
              </a:rPr>
              <a:t>ACERO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19" b="0" i="0">
                <a:solidFill>
                  <a:srgbClr val="5D6F85"/>
                </a:solidFill>
                <a:latin typeface="Apto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224528"/>
            <a:ext cx="4114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200" b="1" i="0">
                <a:solidFill>
                  <a:srgbClr val="10304B"/>
                </a:solidFill>
                <a:latin typeface="Aptos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931920"/>
            <a:ext cx="3063240" cy="107899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4133087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900" b="1" i="0">
                <a:solidFill>
                  <a:srgbClr val="088B99"/>
                </a:solidFill>
                <a:latin typeface="Aptos"/>
              </a:rPr>
              <a:t>ALGORITMO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4498848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19" b="0" i="0">
                <a:solidFill>
                  <a:srgbClr val="5D6F85"/>
                </a:solidFill>
                <a:latin typeface="Aptos"/>
              </a:rPr>
              <a:t>capacidades transformadoras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85632" y="3456432"/>
            <a:ext cx="2651760" cy="104241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85632" y="3456432"/>
            <a:ext cx="41148" cy="1042415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621024"/>
            <a:ext cx="228599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BASE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968496"/>
            <a:ext cx="2285999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88B99"/>
                </a:solidFill>
                <a:latin typeface="Aptos"/>
              </a:rPr>
              <a:t>106.555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379976"/>
            <a:ext cx="2267711" cy="914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626864"/>
            <a:ext cx="2651760" cy="104241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4626864"/>
            <a:ext cx="41148" cy="1042415"/>
          </a:xfrm>
          <a:prstGeom prst="rect">
            <a:avLst/>
          </a:prstGeom>
          <a:solidFill>
            <a:srgbClr val="EA6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4791455"/>
            <a:ext cx="228599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PREGRADO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138927"/>
            <a:ext cx="2285999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EA6F4F"/>
                </a:solidFill>
                <a:latin typeface="Aptos"/>
              </a:rPr>
              <a:t>101.093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550407"/>
            <a:ext cx="2267711" cy="91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matrículas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Contexto del análisis y muestra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Una misma base exige distintas unidades de análisis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9304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Base original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9304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88B99"/>
                </a:solidFill>
                <a:latin typeface="Aptos"/>
              </a:rPr>
              <a:t>106.555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28 columnas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0A99D"/>
                </a:solidFill>
                <a:latin typeface="Aptos"/>
              </a:rPr>
              <a:t>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Matrículas de pregrado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5656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0A99D"/>
                </a:solidFill>
                <a:latin typeface="Aptos"/>
              </a:rPr>
              <a:t>101.093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05656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personas y estructura formativa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Pregrado con precio válido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F69F5F"/>
                </a:solidFill>
                <a:latin typeface="Aptos"/>
              </a:rPr>
              <a:t>101.067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análisis de arancel asociado a matrículas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1508760"/>
            <a:ext cx="257860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7152" y="1673351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168249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EA6F4F"/>
                </a:solidFill>
                <a:latin typeface="Aptos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1673351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Ofertas académicas únicas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2020824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EA6F4F"/>
                </a:solidFill>
                <a:latin typeface="Aptos"/>
              </a:rPr>
              <a:t>1.273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432304"/>
            <a:ext cx="1709928" cy="5394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comparación real de precios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3401568"/>
            <a:ext cx="10972800" cy="96012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" y="3401568"/>
            <a:ext cx="41148" cy="96012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" y="3547872"/>
            <a:ext cx="10607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Decisión metodológica: </a:t>
            </a:r>
            <a:r>
              <a:rPr sz="960">
                <a:solidFill>
                  <a:srgbClr val="43566E"/>
                </a:solidFill>
                <a:latin typeface="Aptos"/>
              </a:rPr>
              <a:t>Para estudiar cuánto cuesta una carrera no contamos el mismo arancel una vez por cada estudiante. Por eso eliminamos ofertas repetidas y trabajamos con 1.273 ofertas únicas.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736592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Flujo de preparación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166360"/>
            <a:ext cx="2103120" cy="457200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Excel 2021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62656" y="5202936"/>
            <a:ext cx="411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7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5166360"/>
            <a:ext cx="2103120" cy="457200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Filtrar pregrado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05856" y="5202936"/>
            <a:ext cx="411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7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166360"/>
            <a:ext cx="2103120" cy="457200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Separar precio válido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5202936"/>
            <a:ext cx="411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7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06840" y="5166360"/>
            <a:ext cx="2103120" cy="457200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5175504"/>
            <a:ext cx="210312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Crear oferta única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Herramientas estadísticas utilizadas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El notebook aplica los contenidos de los laboratorios del profesor, no técnicas externas al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36192"/>
            <a:ext cx="3401568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17007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099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1700784"/>
            <a:ext cx="25511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Frecuencias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048256"/>
            <a:ext cx="25511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88B99"/>
                </a:solidFill>
                <a:latin typeface="Aptos"/>
              </a:rPr>
              <a:t>fi · hi · acumuladas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459736"/>
            <a:ext cx="2532888" cy="3566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groupby().size() · cumsum()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536192"/>
            <a:ext cx="3401568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9703" y="17007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3" y="17099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1700784"/>
            <a:ext cx="25511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Tendencia central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48256"/>
            <a:ext cx="25511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88B99"/>
                </a:solidFill>
                <a:latin typeface="Aptos"/>
              </a:rPr>
              <a:t>media · mediana · moda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2459736"/>
            <a:ext cx="2532888" cy="3566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mean() · median() · mode()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1536192"/>
            <a:ext cx="3401568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3023" y="17007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3" y="17099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1700784"/>
            <a:ext cx="25511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Percentiles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4232" y="2048256"/>
            <a:ext cx="25511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88B99"/>
                </a:solidFill>
                <a:latin typeface="Aptos"/>
              </a:rPr>
              <a:t>P25 · P50 · P75 · P90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2459736"/>
            <a:ext cx="2532888" cy="3566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quantile()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3227832"/>
            <a:ext cx="5257800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6384" y="339242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40156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3392424"/>
            <a:ext cx="440740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Dispersión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3739896"/>
            <a:ext cx="4407408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F69F5F"/>
                </a:solidFill>
                <a:latin typeface="Aptos"/>
              </a:rPr>
              <a:t>rango · varianza · DE · CV · RIC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7592" y="4151376"/>
            <a:ext cx="4389120" cy="3566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var() · std()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3912" y="3227832"/>
            <a:ext cx="5257800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18503" y="339242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8503" y="340156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3392424"/>
            <a:ext cx="440740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Bivariado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3739896"/>
            <a:ext cx="4407408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F69F5F"/>
                </a:solidFill>
                <a:latin typeface="Aptos"/>
              </a:rPr>
              <a:t>cruces y comparación entre grupos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4151376"/>
            <a:ext cx="4389120" cy="3566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crosstab() · agg()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102352"/>
            <a:ext cx="10972800" cy="86868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" y="5102352"/>
            <a:ext cx="41148" cy="86868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" y="5248656"/>
            <a:ext cx="106070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Criterio de evaluación: </a:t>
            </a:r>
            <a:r>
              <a:rPr sz="960">
                <a:solidFill>
                  <a:srgbClr val="43566E"/>
                </a:solidFill>
                <a:latin typeface="Aptos"/>
              </a:rPr>
              <a:t>Cada resultado de la presentación sigue la secuencia que exige la rúbrica: herramienta seleccionada → cálculo → resultado → interpretación.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Radiografía general de la matrícula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Primero describimos la estructura de la base antes de responder las preguntas obligatorias.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481328"/>
            <a:ext cx="365760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9928"/>
            <a:ext cx="32918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Distribución por género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132588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300" b="1" i="0">
                <a:solidFill>
                  <a:srgbClr val="00A99D"/>
                </a:solidFill>
                <a:latin typeface="Aptos"/>
              </a:rPr>
              <a:t>54,3%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2032" y="2148840"/>
            <a:ext cx="132588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300" b="1" i="0">
                <a:solidFill>
                  <a:srgbClr val="088B99"/>
                </a:solidFill>
                <a:latin typeface="Aptos"/>
              </a:rP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651760"/>
            <a:ext cx="129844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30" b="1" i="0">
                <a:solidFill>
                  <a:srgbClr val="5D6F85"/>
                </a:solidFill>
                <a:latin typeface="Aptos"/>
              </a:rPr>
              <a:t>Femenino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651760"/>
            <a:ext cx="129844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30" b="1" i="0">
                <a:solidFill>
                  <a:srgbClr val="5D6F85"/>
                </a:solidFill>
                <a:latin typeface="Aptos"/>
              </a:rPr>
              <a:t>Masculino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54680"/>
            <a:ext cx="1638513" cy="292608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71201" y="3154680"/>
            <a:ext cx="1379006" cy="292608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749039"/>
            <a:ext cx="324612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La distribución global es relativamente equilibrada, aunque cambia según el área de estudio.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1481328"/>
            <a:ext cx="7068312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1709928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Áreas con mayor participación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18998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Tecnología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9456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2194560"/>
            <a:ext cx="2624693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885" y="221742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27.6%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218541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219456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27.6%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69290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Salud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269748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49440" y="2697480"/>
            <a:ext cx="2310871" cy="301752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9063" y="272034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24.3%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0" y="268833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0" y="269748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24.3%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19582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Administración y Comercio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320040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949440" y="3200400"/>
            <a:ext cx="1274307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82499" y="322326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13.4%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319125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320040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13.4%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698748"/>
            <a:ext cx="20848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Educación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49440" y="3703320"/>
            <a:ext cx="2852928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49440" y="3703320"/>
            <a:ext cx="1084112" cy="30175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92304" y="372618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11.4%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369417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0" y="3703320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11.4%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" y="4754880"/>
            <a:ext cx="10972800" cy="841248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1792" y="4754880"/>
            <a:ext cx="41148" cy="841248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4901184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Lectura descriptiva: </a:t>
            </a:r>
            <a:r>
              <a:rPr sz="960">
                <a:solidFill>
                  <a:srgbClr val="43566E"/>
                </a:solidFill>
                <a:latin typeface="Aptos"/>
              </a:rPr>
              <a:t>Tecnología y Salud concentran más de la mitad de la matrícula observada. Esta es una descripción de la base, no una explicación causal de por qué ocurre.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Áreas de estudio en frecuencias relativas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frecuencia relativa permite comparar categorías aun cuando tengan tamaños distintos.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72768"/>
          <a:ext cx="1092708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920240"/>
                <a:gridCol w="4251960"/>
              </a:tblGrid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FFFFFF"/>
                          </a:solidFill>
                          <a:latin typeface="Aptos"/>
                        </a:rPr>
                        <a:t>Área del conocimiento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1">
                          <a:solidFill>
                            <a:srgbClr val="FFFFFF"/>
                          </a:solidFill>
                          <a:latin typeface="Aptos"/>
                        </a:rPr>
                        <a:t>Participación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1">
                          <a:solidFill>
                            <a:srgbClr val="FFFFFF"/>
                          </a:solidFill>
                          <a:latin typeface="Aptos"/>
                        </a:rPr>
                        <a:t>Lectura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Tecnología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27,6%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Mayor participación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Salud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24,3%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Segunda mayor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Administración y Comercio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13,4%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Participación intermedia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Educación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11,4%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Participación intermedia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l"/>
                      <a:r>
                        <a:rPr sz="910" b="1">
                          <a:solidFill>
                            <a:srgbClr val="10304B"/>
                          </a:solidFill>
                          <a:latin typeface="Aptos"/>
                        </a:rPr>
                        <a:t>Otros campos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23,3%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0" b="0">
                          <a:solidFill>
                            <a:srgbClr val="088B99"/>
                          </a:solidFill>
                          <a:latin typeface="Aptos"/>
                        </a:rPr>
                        <a:t>Resto de las áreas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919472"/>
            <a:ext cx="10927080" cy="850392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919472"/>
            <a:ext cx="41148" cy="850392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65776"/>
            <a:ext cx="10561319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Interpretación: </a:t>
            </a:r>
            <a:r>
              <a:rPr sz="960">
                <a:solidFill>
                  <a:srgbClr val="43566E"/>
                </a:solidFill>
                <a:latin typeface="Aptos"/>
              </a:rPr>
              <a:t>Las cuatro áreas principales representan 76,7% de la matrícula de pregrado; el resto de las áreas suma 23,3%.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Del acero al algoritmo: clasificación propia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Agrupamos carreras en familias estratégicas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81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63239" y="1627632"/>
            <a:ext cx="749808" cy="25603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39" y="1636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664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Industria y manufactura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81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0" y="1627632"/>
            <a:ext cx="749808" cy="25603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636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664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Construcción e infraestructura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81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69880" y="1627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1636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1664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Logística y puertos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624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63239" y="2770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39" y="2779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2807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2624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66560" y="2770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2779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2807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Pesca y acuicultura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2624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69880" y="2770632"/>
            <a:ext cx="749808" cy="25603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69880" y="2779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ACERO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1" y="2807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Agroalimentario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767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63239" y="3913632"/>
            <a:ext cx="749808" cy="25603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39" y="3922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ALGORITMO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" y="3950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Digital y 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767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766560" y="3913632"/>
            <a:ext cx="749808" cy="25603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3922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ALGORITMO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7992" y="3950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Automatización y robótica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19" y="3767328"/>
            <a:ext cx="3401568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69880" y="3913632"/>
            <a:ext cx="749808" cy="256032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3922776"/>
            <a:ext cx="749808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Aptos"/>
              </a:rPr>
              <a:t>ALGORITMO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1" y="3950208"/>
            <a:ext cx="221284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Energía, sustentabilidad y biotecnología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074920"/>
            <a:ext cx="10927080" cy="86868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5074920"/>
            <a:ext cx="41148" cy="86868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221224"/>
            <a:ext cx="10561319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Regla de clasificación: </a:t>
            </a:r>
            <a:r>
              <a:rPr sz="960">
                <a:solidFill>
                  <a:srgbClr val="43566E"/>
                </a:solidFill>
                <a:latin typeface="Aptos"/>
              </a:rPr>
              <a:t>Es una taxonomía creada para este trabajo, no una clasificación oficial. Cada carrera se asigna a una sola familia para evitar doble conteo.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Hallazgo central: motores productivos vs. capacidades transformadoras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comparación describe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97280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10512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50" b="1" i="0">
                <a:solidFill>
                  <a:srgbClr val="10304B"/>
                </a:solidFill>
                <a:latin typeface="Aptos"/>
              </a:rPr>
              <a:t>Motores productivos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20574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EA6F4F"/>
                </a:solidFill>
                <a:latin typeface="Aptos"/>
              </a:rPr>
              <a:t>20,15%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2057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5D6F85"/>
                </a:solidFill>
                <a:latin typeface="Aptos"/>
              </a:rPr>
              <a:t>20.368 matrículas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029968"/>
            <a:ext cx="6949440" cy="402336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029968"/>
            <a:ext cx="6217920" cy="402336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50" b="1" i="0">
                <a:solidFill>
                  <a:srgbClr val="10304B"/>
                </a:solidFill>
                <a:latin typeface="Apto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57600"/>
            <a:ext cx="20574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088B99"/>
                </a:solidFill>
                <a:latin typeface="Aptos"/>
              </a:rPr>
              <a:t>6,92%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2"/>
            <a:ext cx="2057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5D6F85"/>
                </a:solidFill>
                <a:latin typeface="Aptos"/>
              </a:rPr>
              <a:t>7.000 matrículas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74720"/>
            <a:ext cx="6949440" cy="402336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26080" y="3474720"/>
            <a:ext cx="2139696" cy="402336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21824" y="1956816"/>
            <a:ext cx="1234440" cy="512064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21824" y="1965960"/>
            <a:ext cx="1234440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80" b="1" i="0">
                <a:solidFill>
                  <a:srgbClr val="00A99D"/>
                </a:solidFill>
                <a:latin typeface="Aptos"/>
              </a:rPr>
              <a:t>≈ 2,9 :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57816" y="2596896"/>
            <a:ext cx="14173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69" b="1" i="0">
                <a:solidFill>
                  <a:srgbClr val="43566E"/>
                </a:solidFill>
                <a:latin typeface="Aptos"/>
              </a:rPr>
              <a:t>matrículas productivas por cada transformadora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19472"/>
            <a:ext cx="10972800" cy="877824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919472"/>
            <a:ext cx="41148" cy="877824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065776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Interpretación correcta: </a:t>
            </a:r>
            <a:r>
              <a:rPr sz="960">
                <a:solidFill>
                  <a:srgbClr val="43566E"/>
                </a:solidFill>
                <a:latin typeface="Aptos"/>
              </a:rPr>
              <a:t>En la fotografía educativa de 2021, el bloque productivo tiene un peso cercano a tres veces el transformador. Esto no demuestra déficit de profesionales ni atraso de la educación.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Pregunta 1 · ¿Hay áreas donde las carreras sean más caras?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Criterio: comparar la mediana del arancel usando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9728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05940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1810512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72968" y="1810512"/>
            <a:ext cx="5779305" cy="30175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1025" y="183337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$3.586M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19" y="1801368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19" y="1810512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290572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72968" y="2295144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72968" y="2295144"/>
            <a:ext cx="5302262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3982" y="2318003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$3.290M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19" y="2286000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295144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775204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72968" y="2779776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72968" y="2779776"/>
            <a:ext cx="4805880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7600" y="2802636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$2.982M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19" y="2770632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19" y="2779776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259836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72968" y="3264408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172968" y="3264408"/>
            <a:ext cx="3419878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98" y="3287268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$2.122M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19" y="3255264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19" y="3264408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374446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72968" y="3749039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172968" y="3749039"/>
            <a:ext cx="3352190" cy="301752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83910" y="377190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$2.080M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75519" y="3739896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19" y="3749039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$2.080M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229100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Mediana global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72968" y="4233672"/>
            <a:ext cx="6446520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72968" y="4233672"/>
            <a:ext cx="3271608" cy="301752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03328" y="425653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$2.030M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19" y="4224528"/>
            <a:ext cx="914400" cy="320040"/>
          </a:xfrm>
          <a:prstGeom prst="roundRect">
            <a:avLst/>
          </a:prstGeom>
          <a:solidFill>
            <a:srgbClr val="10304B"/>
          </a:solidFill>
          <a:ln w="10160">
            <a:solidFill>
              <a:srgbClr val="1030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19" y="4233672"/>
            <a:ext cx="914400" cy="30175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40" b="1" i="0">
                <a:solidFill>
                  <a:srgbClr val="00A99D"/>
                </a:solidFill>
                <a:latin typeface="Aptos"/>
              </a:rPr>
              <a:t>$2.030M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5157216"/>
            <a:ext cx="10972800" cy="841248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" y="5157216"/>
            <a:ext cx="41148" cy="841248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" y="53035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Respuesta: </a:t>
            </a:r>
            <a:r>
              <a:rPr sz="960">
                <a:solidFill>
                  <a:srgbClr val="43566E"/>
                </a:solidFill>
                <a:latin typeface="Aptos"/>
              </a:rPr>
              <a:t>Sí. Derecho, Ciencias Básicas y Agropecuaria presentan medianas superiores a la mediana global de $2.030.000. Usamos mediana porque es menos sensible a valores extremos.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Pregunta 2 · Edad y tipo de institución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Comparamos grupos de edad con tablas de contingencia y frecuencias relativas.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17904"/>
            <a:ext cx="5321808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4754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5458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359152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0" y="2359152"/>
            <a:ext cx="1832213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08485" y="238201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46,24%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96722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Instituto Profesional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2971800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0" y="2971800"/>
            <a:ext cx="764743" cy="30175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299466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19,30%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785615"/>
            <a:ext cx="466344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En este grupo, CRUCH tiene una participación mucho mayor que 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517904"/>
            <a:ext cx="5321808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755648"/>
            <a:ext cx="4754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Estudiantes de 40 años o más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458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Instituto Profesional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2359152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95360" y="2359152"/>
            <a:ext cx="2097298" cy="30175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1410" y="2382012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52,93%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96722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1" i="0">
                <a:solidFill>
                  <a:srgbClr val="10304B"/>
                </a:solidFill>
                <a:latin typeface="Aptos"/>
              </a:rPr>
              <a:t>Universidad CRUCH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0" y="2971800"/>
            <a:ext cx="2377439" cy="30175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95360" y="2971800"/>
            <a:ext cx="431109" cy="30175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13648" y="2994660"/>
            <a:ext cx="768096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830" b="1" i="0">
                <a:solidFill>
                  <a:srgbClr val="FFFFFF"/>
                </a:solidFill>
                <a:latin typeface="Aptos"/>
              </a:rPr>
              <a:t>10,88%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3785615"/>
            <a:ext cx="466344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En este grupo, IP concentra una proporción mucho mayor que CRUCH.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10899648" cy="877824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029200"/>
            <a:ext cx="41148" cy="877824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175504"/>
            <a:ext cx="1053388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Interpretación: </a:t>
            </a:r>
            <a:r>
              <a:rPr sz="960">
                <a:solidFill>
                  <a:srgbClr val="43566E"/>
                </a:solidFill>
                <a:latin typeface="Aptos"/>
              </a:rPr>
              <a:t>La distribución institucional cambia entre grupos de edad. La base permite describir asociación, pero no afirmar que la edad cause la elección de institución.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Pregunta 3 · ¿Cuándo un arancel es sustantivamente alto?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Criterio definitivo: valores atípicos superiores con Q3 + 1,5 × RIC sobre ofertas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01168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1618488"/>
            <a:ext cx="1700784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1892808"/>
            <a:ext cx="1700784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$1.616.000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1801368"/>
            <a:ext cx="2743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1481328"/>
            <a:ext cx="201168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27248" y="1618488"/>
            <a:ext cx="1700784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1892808"/>
            <a:ext cx="1700784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$2.580.000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801368"/>
            <a:ext cx="2743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85232" y="1481328"/>
            <a:ext cx="201168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1618488"/>
            <a:ext cx="1700784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1892808"/>
            <a:ext cx="1700784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$964.000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1" y="1801368"/>
            <a:ext cx="2743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10304B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98664" y="1481328"/>
            <a:ext cx="3968496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4112" y="1618488"/>
            <a:ext cx="36576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30" b="1" i="0">
                <a:solidFill>
                  <a:srgbClr val="5D6F85"/>
                </a:solidFill>
                <a:latin typeface="Aptos"/>
              </a:rPr>
              <a:t>Límite superior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1892808"/>
            <a:ext cx="3657600" cy="55778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500" b="1" i="0">
                <a:solidFill>
                  <a:srgbClr val="10304B"/>
                </a:solidFill>
                <a:latin typeface="Aptos"/>
              </a:rPr>
              <a:t>Q3 + 1,5 × RIC = $4.026.000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907792"/>
            <a:ext cx="2743200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59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EA6F4F"/>
                </a:solidFill>
                <a:latin typeface="Aptos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3072384"/>
            <a:ext cx="189280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OFERTAS SOBRE EL LÍMITE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419856"/>
            <a:ext cx="1892807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300" b="1" i="0">
                <a:solidFill>
                  <a:srgbClr val="EA6F4F"/>
                </a:solidFill>
                <a:latin typeface="Aptos"/>
              </a:rPr>
              <a:t>135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4168" y="3831336"/>
            <a:ext cx="1874519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de 1.273 ofertas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2907792"/>
            <a:ext cx="257860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76472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76472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072384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PORCENTAJE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419856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300" b="1" i="0">
                <a:solidFill>
                  <a:srgbClr val="088B99"/>
                </a:solidFill>
                <a:latin typeface="Aptos"/>
              </a:rPr>
              <a:t>10,6%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831336"/>
            <a:ext cx="1709928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del 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1656" y="2907792"/>
            <a:ext cx="257860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56248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0A99D"/>
                </a:solidFill>
                <a:latin typeface="Aptos"/>
              </a:rPr>
              <a:t>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7456" y="3072384"/>
            <a:ext cx="1728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INSTITUCIÓN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7456" y="3419856"/>
            <a:ext cx="172821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0A99D"/>
                </a:solidFill>
                <a:latin typeface="Aptos"/>
              </a:rPr>
              <a:t>73 / 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77456" y="3831336"/>
            <a:ext cx="1709928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CRUCH / privadas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71432" y="2907792"/>
            <a:ext cx="239572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36024" y="3072384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36024" y="3081528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7232" y="3072384"/>
            <a:ext cx="154533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TERRITORIO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57232" y="3419856"/>
            <a:ext cx="154533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F69F5F"/>
                </a:solidFill>
                <a:latin typeface="Aptos"/>
              </a:rPr>
              <a:t>129 / 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57232" y="3831336"/>
            <a:ext cx="1527048" cy="44805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Concepción / Biobío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4800600"/>
            <a:ext cx="10908792" cy="100584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" y="4800600"/>
            <a:ext cx="41148" cy="100584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" y="4946904"/>
            <a:ext cx="105430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Respuesta: </a:t>
            </a:r>
            <a:r>
              <a:rPr sz="960">
                <a:solidFill>
                  <a:srgbClr val="43566E"/>
                </a:solidFill>
                <a:latin typeface="Aptos"/>
              </a:rPr>
              <a:t>Sí. 135 ofertas superan el límite de $4.026.000. Salud y Tecnología concentran 39 ofertas altas cada una, y la duración mediana de este grupo es 10 semestres frente a 5 en el resto.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¿Qué caracteriza a las ofertas de arancel alto?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Estas variables describen el grupo detectado; no se interpretan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1737360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46504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88B99"/>
                </a:solidFill>
                <a:latin typeface="Aptos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737360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Tipo de institución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084832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88B99"/>
                </a:solidFill>
                <a:latin typeface="Aptos"/>
              </a:rPr>
              <a:t>73 CRUCH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496312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62 privadas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572768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79" y="1737360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1746504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00A99D"/>
                </a:solidFill>
                <a:latin typeface="Aptos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737360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Área del conocimiento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084832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00A99D"/>
                </a:solidFill>
                <a:latin typeface="Aptos"/>
              </a:rPr>
              <a:t>39 Salud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496312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39 Tecnología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91839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59" y="3456432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46557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69F5F"/>
                </a:solidFill>
                <a:latin typeface="Aptos"/>
              </a:rPr>
              <a:t>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3456432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Provincia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4168" y="3803904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F69F5F"/>
                </a:solidFill>
                <a:latin typeface="Aptos"/>
              </a:rPr>
              <a:t>129 Concepción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215384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6 Biobío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91839"/>
            <a:ext cx="5230368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55079" y="3456432"/>
            <a:ext cx="420624" cy="420624"/>
          </a:xfrm>
          <a:prstGeom prst="roundRect">
            <a:avLst/>
          </a:prstGeom>
          <a:solidFill>
            <a:srgbClr val="E2F6F4"/>
          </a:solidFill>
          <a:ln w="10160">
            <a:solidFill>
              <a:srgbClr val="E2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79" y="3465575"/>
            <a:ext cx="42062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EA6F4F"/>
                </a:solidFill>
                <a:latin typeface="Aptos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456432"/>
            <a:ext cx="4379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40" b="1" i="0">
                <a:solidFill>
                  <a:srgbClr val="10304B"/>
                </a:solidFill>
                <a:latin typeface="Aptos"/>
              </a:rPr>
              <a:t>Duración mediana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03904"/>
            <a:ext cx="43799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 i="0">
                <a:solidFill>
                  <a:srgbClr val="EA6F4F"/>
                </a:solidFill>
                <a:latin typeface="Aptos"/>
              </a:rPr>
              <a:t>10 semestres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4215384"/>
            <a:ext cx="4361688" cy="393191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60" b="0" i="0">
                <a:solidFill>
                  <a:srgbClr val="43566E"/>
                </a:solidFill>
                <a:latin typeface="Aptos"/>
              </a:rPr>
              <a:t>resto: 5 semestres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166360"/>
            <a:ext cx="10908792" cy="82296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166360"/>
            <a:ext cx="41148" cy="82296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5312664"/>
            <a:ext cx="1054303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Lectura: </a:t>
            </a:r>
            <a:r>
              <a:rPr sz="960">
                <a:solidFill>
                  <a:srgbClr val="43566E"/>
                </a:solidFill>
                <a:latin typeface="Aptos"/>
              </a:rPr>
              <a:t>Las ofertas altas aparecen asociadas con determinadas instituciones, áreas, territorio y duración. La base no permite afirmar que alguna de estas variables sea la causa del precio.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Dimensión territorial de las capacidades transformadoras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proporción y el volumen absoluto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383280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2024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10304B"/>
                </a:solidFill>
                <a:latin typeface="Apto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92608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800" b="1" i="0">
                <a:solidFill>
                  <a:srgbClr val="EA6F4F"/>
                </a:solidFill>
                <a:latin typeface="Apto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0175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5D6F85"/>
                </a:solidFill>
                <a:latin typeface="Aptos"/>
              </a:rPr>
              <a:t>232 matrículas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5568" y="3493008"/>
            <a:ext cx="2615184" cy="16459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5568" y="3493008"/>
            <a:ext cx="2235982" cy="164592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1691640"/>
            <a:ext cx="3383280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92024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10304B"/>
                </a:solidFill>
                <a:latin typeface="Aptos"/>
              </a:rPr>
              <a:t>Biobío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395728"/>
            <a:ext cx="292608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800" b="1" i="0">
                <a:solidFill>
                  <a:srgbClr val="F69F5F"/>
                </a:solidFill>
                <a:latin typeface="Aptos"/>
              </a:rPr>
              <a:t>7,61%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0175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5D6F85"/>
                </a:solidFill>
                <a:latin typeface="Aptos"/>
              </a:rPr>
              <a:t>966 matrículas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10328" y="3493008"/>
            <a:ext cx="2615184" cy="16459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10328" y="3493008"/>
            <a:ext cx="1990155" cy="164592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1691640"/>
            <a:ext cx="3383280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192024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10304B"/>
                </a:solidFill>
                <a:latin typeface="Aptos"/>
              </a:rPr>
              <a:t>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2395728"/>
            <a:ext cx="292608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2800" b="1" i="0">
                <a:solidFill>
                  <a:srgbClr val="088B99"/>
                </a:solidFill>
                <a:latin typeface="Aptos"/>
              </a:rPr>
              <a:t>6,77%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301752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5D6F85"/>
                </a:solidFill>
                <a:latin typeface="Aptos"/>
              </a:rPr>
              <a:t>5.802 matrículas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05088" y="3493008"/>
            <a:ext cx="2615184" cy="164592"/>
          </a:xfrm>
          <a:prstGeom prst="roundRect">
            <a:avLst/>
          </a:prstGeom>
          <a:solidFill>
            <a:srgbClr val="DEE6EC"/>
          </a:solidFill>
          <a:ln w="10160">
            <a:solidFill>
              <a:srgbClr val="DE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05088" y="3493008"/>
            <a:ext cx="1770479" cy="164592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4315968"/>
            <a:ext cx="10972800" cy="96012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315968"/>
            <a:ext cx="41148" cy="96012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62272"/>
            <a:ext cx="10607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Hallazgo territorial: </a:t>
            </a:r>
            <a:r>
              <a:rPr sz="960">
                <a:solidFill>
                  <a:srgbClr val="43566E"/>
                </a:solidFill>
                <a:latin typeface="Aptos"/>
              </a:rPr>
              <a:t>Arauco tiene la mayor proporción relativa de matrícula transformadora, pero Concepción concentra por lejos el mayor volumen absoluto. No confundimos porcentaje con cantidad.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Interpretar bien también es parte de la nota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rúbrica exige resultados correctos y una interpretación coherente con el análisis.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5230368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83080"/>
            <a:ext cx="46634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2BA97C"/>
                </a:solidFill>
                <a:latin typeface="Aptos"/>
              </a:rPr>
              <a:t>SÍ podemos afirmar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331720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40863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286000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Diferencias y concentraciones observadas.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98648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07791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2852928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Asociaciones descriptivas entre variables.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465576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3419856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Qué áreas tienen mayor mediana de arancel.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032504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41648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3986783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Qué grupos de edad presentan distinta composición institucional.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99431"/>
            <a:ext cx="292608" cy="292608"/>
          </a:xfrm>
          <a:prstGeom prst="roundRect">
            <a:avLst/>
          </a:prstGeom>
          <a:solidFill>
            <a:srgbClr val="2BA97C"/>
          </a:solidFill>
          <a:ln w="10160">
            <a:solidFill>
              <a:srgbClr val="2BA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08575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4553712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Qué ofertas superan el criterio Q3 + 1,5 × RIC.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536192"/>
            <a:ext cx="5230368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783080"/>
            <a:ext cx="46634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Aptos"/>
              </a:rPr>
              <a:t>NO podemos afirmar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2331720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2340863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2286000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la edad cause la elección institucional.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2898648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2907791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2852928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exista déficit de profesionales.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3952" y="3465576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3474720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4576" y="3419856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el territorio cause determinado arancel.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4032504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4041648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94576" y="3986783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la clasificación “Acero/Algoritmo” sea oficial.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73952" y="4599431"/>
            <a:ext cx="292608" cy="292608"/>
          </a:xfrm>
          <a:prstGeom prst="roundRect">
            <a:avLst/>
          </a:prstGeom>
          <a:solidFill>
            <a:srgbClr val="D34F4F"/>
          </a:solidFill>
          <a:ln w="1016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4608575"/>
            <a:ext cx="292608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94576" y="4553712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40" b="0" i="0">
                <a:solidFill>
                  <a:srgbClr val="43566E"/>
                </a:solidFill>
                <a:latin typeface="Aptos"/>
              </a:rPr>
              <a:t>Que una fotografía de 2021 demuestre evolución temporal.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Conclusiones principales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Tres resultados que responden al objetivo del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45920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901952"/>
            <a:ext cx="457200" cy="457200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11095"/>
            <a:ext cx="45720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542032"/>
            <a:ext cx="297180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44952"/>
            <a:ext cx="2971800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 i="0">
                <a:solidFill>
                  <a:srgbClr val="43566E"/>
                </a:solidFill>
                <a:latin typeface="Aptos"/>
              </a:rPr>
              <a:t>20,15% de la matrícula se vincula a motores productivos y 6,92% a capacidades transformadoras.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645920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62855" y="1901952"/>
            <a:ext cx="457200" cy="457200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5" y="1911095"/>
            <a:ext cx="45720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5" y="2542032"/>
            <a:ext cx="297180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Precios y edad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3044952"/>
            <a:ext cx="2971800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 i="0">
                <a:solidFill>
                  <a:srgbClr val="43566E"/>
                </a:solidFill>
                <a:latin typeface="Aptos"/>
              </a:rPr>
              <a:t>Existen áreas con arancel típico mayor y la composición institucional cambia entre grupos de edad.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645920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6176" y="1901952"/>
            <a:ext cx="457200" cy="457200"/>
          </a:xfrm>
          <a:prstGeom prst="roundRect">
            <a:avLst/>
          </a:prstGeom>
          <a:solidFill>
            <a:srgbClr val="F69F5F"/>
          </a:solidFill>
          <a:ln w="10160">
            <a:solidFill>
              <a:srgbClr val="F69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911095"/>
            <a:ext cx="45720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542032"/>
            <a:ext cx="297180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0304B"/>
                </a:solidFill>
                <a:latin typeface="Aptos"/>
              </a:rPr>
              <a:t>Aranceles altos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3044952"/>
            <a:ext cx="2971800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19" b="0" i="0">
                <a:solidFill>
                  <a:srgbClr val="43566E"/>
                </a:solidFill>
                <a:latin typeface="Aptos"/>
              </a:rPr>
              <a:t>135 de 1.273 ofertas superan el límite de $4.026.000 definido con Q3 + 1,5 × RIC.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138928"/>
            <a:ext cx="10927080" cy="822960"/>
          </a:xfrm>
          <a:prstGeom prst="roundRect">
            <a:avLst/>
          </a:prstGeom>
          <a:solidFill>
            <a:srgbClr val="EEF4F7"/>
          </a:solidFill>
          <a:ln w="10160"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138928"/>
            <a:ext cx="41148" cy="822960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5285232"/>
            <a:ext cx="1056131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43566E"/>
                </a:solidFill>
                <a:latin typeface="Aptos"/>
              </a:rPr>
              <a:t>Respuesta a la pregunta central: </a:t>
            </a:r>
            <a:r>
              <a:rPr sz="960">
                <a:solidFill>
                  <a:srgbClr val="43566E"/>
                </a:solidFill>
                <a:latin typeface="Aptos"/>
              </a:rPr>
              <a:t>La línea base 2021 muestra un capital humano con mayor peso relativo en actividades productivas tradicionales que en capacidades transformadoras. La brecha observada es descriptiva y abre una pregunta futura, no una conclusión causal.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EduBío 360 · Estadística Descriptiva · Biobío 2021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La presentación termina donde empieza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600200"/>
            <a:ext cx="1060704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956816"/>
            <a:ext cx="10058400" cy="10789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300" b="1" i="0">
                <a:solidFill>
                  <a:srgbClr val="10304B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9888" y="4315968"/>
            <a:ext cx="2560320" cy="502920"/>
          </a:xfrm>
          <a:prstGeom prst="roundRect">
            <a:avLst/>
          </a:prstGeom>
          <a:solidFill>
            <a:srgbClr val="088B99"/>
          </a:solidFill>
          <a:ln w="10160">
            <a:solidFill>
              <a:srgbClr val="088B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4325112"/>
            <a:ext cx="2560320" cy="4846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40" b="1" i="0">
                <a:solidFill>
                  <a:srgbClr val="FFFFFF"/>
                </a:solidFill>
                <a:latin typeface="Aptos"/>
              </a:rPr>
              <a:t>DATOS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36008" y="4315968"/>
            <a:ext cx="2560320" cy="502920"/>
          </a:xfrm>
          <a:prstGeom prst="roundRect">
            <a:avLst/>
          </a:prstGeom>
          <a:solidFill>
            <a:srgbClr val="00A99D"/>
          </a:solidFill>
          <a:ln w="10160">
            <a:solidFill>
              <a:srgbClr val="00A9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4325112"/>
            <a:ext cx="2560320" cy="4846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40" b="1" i="0">
                <a:solidFill>
                  <a:srgbClr val="FFFFFF"/>
                </a:solidFill>
                <a:latin typeface="Aptos"/>
              </a:rPr>
              <a:t>INTERPRETACIÓN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4315968"/>
            <a:ext cx="2560320" cy="502920"/>
          </a:xfrm>
          <a:prstGeom prst="roundRect">
            <a:avLst/>
          </a:prstGeom>
          <a:solidFill>
            <a:srgbClr val="EA6F4F"/>
          </a:solidFill>
          <a:ln w="10160">
            <a:solidFill>
              <a:srgbClr val="EA6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325112"/>
            <a:ext cx="2560320" cy="4846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40" b="1" i="0">
                <a:solidFill>
                  <a:srgbClr val="FFFFFF"/>
                </a:solidFill>
                <a:latin typeface="Aptos"/>
              </a:rPr>
              <a:t>DEFENSA INDIVIDUAL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175504"/>
            <a:ext cx="78181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1" i="0">
                <a:solidFill>
                  <a:srgbClr val="5D6F85"/>
                </a:solidFill>
                <a:latin typeface="Aptos"/>
              </a:rPr>
              <a:t>Notebook final: 71/71 celdas ejecutadas · 0 errores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Fin de presentación · anexos de apoyo a continuación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ANEXO · Herramientas del profesor usadas en 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Úsalo para la defensa individual si el docente pregunta “¿dónde vimos esto?”.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" y="1481328"/>
          <a:ext cx="1097280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4846320"/>
              </a:tblGrid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Laboratorio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Contenido aplicado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Aptos"/>
                        </a:rPr>
                        <a:t>Ejemplo en el trabajo</a:t>
                      </a:r>
                    </a:p>
                  </a:txBody>
                  <a:tcPr marL="73152" marR="73152" marT="27432" marB="27432">
                    <a:solidFill>
                      <a:srgbClr val="10304B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0 · Pandas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read_excel, head, tail, shape, info, filtros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Carga y preparación del Excel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1 · Conceptos básicos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población, muestra, tipos de variables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Definición de las unidades del estudio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2 · Frecuencias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groupby().size(), relativas, acumuladas, pd.cut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Género, área, edad, arancel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3 · Gráficos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pie, barras, histogramas, scatter, subplots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Visualización de distribuciones y relaciones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  <a:tr h="616566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4 · Tendencia y percentiles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mean, median, mode, quantile, describe, crosstab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Preguntas 1 y 2</a:t>
                      </a:r>
                    </a:p>
                  </a:txBody>
                  <a:tcPr marL="73152" marR="73152" marT="22860" marB="22860">
                    <a:solidFill>
                      <a:srgbClr val="FFFFFF"/>
                    </a:solidFill>
                  </a:tcPr>
                </a:tc>
              </a:tr>
              <a:tr h="616572">
                <a:tc>
                  <a:txBody>
                    <a:bodyPr/>
                    <a:lstStyle/>
                    <a:p>
                      <a:pPr algn="l"/>
                      <a:r>
                        <a:rPr sz="860" b="1">
                          <a:solidFill>
                            <a:srgbClr val="10304B"/>
                          </a:solidFill>
                          <a:latin typeface="Aptos"/>
                        </a:rPr>
                        <a:t>5 · Dispersión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rango, varianza, std, CV, RIC, agg, isin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088B99"/>
                          </a:solidFill>
                          <a:latin typeface="Aptos"/>
                        </a:rPr>
                        <a:t>Pregunta 3 y comparación entre grupos</a:t>
                      </a:r>
                    </a:p>
                  </a:txBody>
                  <a:tcPr marL="73152" marR="73152" marT="22860" marB="22860">
                    <a:solidFill>
                      <a:srgbClr val="F4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ANEXO · defensa individual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ANEXO · Fórmulas que debes saber explicar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No basta con leerlas: debes decir qué mide cada una y por qué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63040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09344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Frecuencia relativa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591056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088B99"/>
                </a:solidFill>
                <a:latin typeface="Aptos"/>
              </a:rPr>
              <a:t>hi = fi / N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48256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Porcentaje de casos que pertenece a una categoría.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609344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Rango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591056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00A99D"/>
                </a:solidFill>
                <a:latin typeface="Aptos"/>
              </a:rPr>
              <a:t>máximo − mínimo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048256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Amplitud total observada.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944368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09067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Coeficiente de variación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3072384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F69F5F"/>
                </a:solidFill>
                <a:latin typeface="Aptos"/>
              </a:rPr>
              <a:t>CV = DE / media 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529584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Dispersión relativa para comparar escalas.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44368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09067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Rango intercuartílico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072384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EA6F4F"/>
                </a:solidFill>
                <a:latin typeface="Aptos"/>
              </a:rPr>
              <a:t>RIC = Q3 − 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3529584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Amplitud del 50% central de los datos.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425696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57200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Límite superior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4553712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D34F4F"/>
                </a:solidFill>
                <a:latin typeface="Aptos"/>
              </a:rPr>
              <a:t>Q3 + 1,5 × RIC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5010912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Criterio para identificar valores atípicamente altos.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425696"/>
            <a:ext cx="5230368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457200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0304B"/>
                </a:solidFill>
                <a:latin typeface="Aptos"/>
              </a:rPr>
              <a:t>Mediana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553712"/>
            <a:ext cx="27889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220" b="1" i="0">
                <a:solidFill>
                  <a:srgbClr val="2BA97C"/>
                </a:solidFill>
                <a:latin typeface="Aptos"/>
              </a:rPr>
              <a:t>valor central ordenado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5010912"/>
            <a:ext cx="4773168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3566E"/>
                </a:solidFill>
                <a:latin typeface="Aptos"/>
              </a:rPr>
              <a:t>Medida robusta frente a valores extremos.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ANEXO · defensa individual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88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457200"/>
            <a:ext cx="45720" cy="402336"/>
          </a:xfrm>
          <a:prstGeom prst="rect">
            <a:avLst/>
          </a:prstGeom>
          <a:solidFill>
            <a:srgbClr val="00A9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429768"/>
            <a:ext cx="105613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 i="0">
                <a:solidFill>
                  <a:srgbClr val="10304B"/>
                </a:solidFill>
                <a:latin typeface="Aptos"/>
              </a:rPr>
              <a:t>ANEXO · Preguntas probables del profesor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932688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60" b="0" i="0">
                <a:solidFill>
                  <a:srgbClr val="5D6F85"/>
                </a:solidFill>
                <a:latin typeface="Aptos"/>
              </a:rPr>
              <a:t>Respuestas cortas, técnicas y defendibles.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502920"/>
            <a:ext cx="4114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850" b="1" i="0">
                <a:solidFill>
                  <a:srgbClr val="5D6F85"/>
                </a:solidFill>
                <a:latin typeface="Aptos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4475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58191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¿Por qué mediana en la Pregunta 1?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00253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Porque el arancel puede tener valores extremos y la mediana representa mejor el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4475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58191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¿Por qué eliminar duplicados?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00253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Porque una oferta con muchos estudiantes no debe repetir su precio cientos de veces al comparar cuánto cuesta una carrera.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5351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09067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51129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Que hay aproximadamente 2,9 matrículas productivas por cada matrícula transformadora en la clasificación creada.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95351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09067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51129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No. Solo observamos una asociación descriptiva entre grupos de edad y composición institucional.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46227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59943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¿Qué es RIC?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2005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Es Q3 menos Q1: la amplitud que contiene el 50% central de los datos.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462272"/>
            <a:ext cx="5230368" cy="12435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599432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10304B"/>
                </a:solidFill>
                <a:latin typeface="Apto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5020056"/>
            <a:ext cx="484632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90" b="0" i="0">
                <a:solidFill>
                  <a:srgbClr val="43566E"/>
                </a:solidFill>
                <a:latin typeface="Aptos"/>
              </a:rPr>
              <a:t>Patrones, diferencias y asociaciones en 2021; no causalidad ni evolución temporal.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6519672"/>
            <a:ext cx="4251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580" b="0" i="0">
                <a:solidFill>
                  <a:srgbClr val="697A8C"/>
                </a:solidFill>
                <a:latin typeface="Aptos"/>
              </a:rPr>
              <a:t>ANEXO · defensa individual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