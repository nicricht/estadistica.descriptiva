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Noto Sans"/>
              </a:rPr>
              <a:t>DEL ACERO AL ALGORITMO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417320"/>
            <a:ext cx="969264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50" b="0">
                <a:solidFill>
                  <a:srgbClr val="CFDBE6"/>
                </a:solidFill>
                <a:latin typeface="Noto Sans"/>
              </a:rPr>
              <a:t>Estadística Descriptiva aplicada a la Educación Superior del Biobío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057400"/>
            <a:ext cx="1005840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20" b="1">
                <a:solidFill>
                  <a:srgbClr val="FFFFFF"/>
                </a:solidFill>
                <a:latin typeface="Noto San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4983480" cy="1417320"/>
          </a:xfrm>
          <a:prstGeom prst="roundRect">
            <a:avLst/>
          </a:prstGeom>
          <a:solidFill>
            <a:srgbClr val="1C3958"/>
          </a:solidFill>
          <a:ln w="8890">
            <a:solidFill>
              <a:srgbClr val="34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87952"/>
            <a:ext cx="109728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069080"/>
            <a:ext cx="33832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Noto Sans"/>
              </a:rPr>
              <a:t>motores productivos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886200"/>
            <a:ext cx="4983480" cy="1417320"/>
          </a:xfrm>
          <a:prstGeom prst="roundRect">
            <a:avLst/>
          </a:prstGeom>
          <a:solidFill>
            <a:srgbClr val="104852"/>
          </a:solidFill>
          <a:ln w="8890">
            <a:solidFill>
              <a:srgbClr val="1D6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87952"/>
            <a:ext cx="150876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4069080"/>
            <a:ext cx="297180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750" b="1">
                <a:solidFill>
                  <a:srgbClr val="FFFFFF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24728"/>
            <a:ext cx="10332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ADC0CF"/>
                </a:solidFill>
                <a:latin typeface="Noto Sans"/>
              </a:rPr>
              <a:t>Base oficial: Matrículas de Educación Superior del Biobío ·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Contexto del análisis y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Una misma base exige unidades de análisis distintas según la pregunta.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106.555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BASE 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28 columnas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MATRÍCULAS DE PREGRADO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análisis de personas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15584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6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736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PREGRADO CON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8736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arancel &gt; $0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1.273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ÚNICAS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comparación de precios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127248"/>
            <a:ext cx="5303520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3364992"/>
            <a:ext cx="489204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50" b="1">
                <a:solidFill>
                  <a:srgbClr val="0E2D4B"/>
                </a:solidFill>
                <a:latin typeface="Noto Sans"/>
              </a:rPr>
              <a:t>¿Qué hacemos con la base?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840480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858768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3776472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Filtramos las matrículas de pregrado.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4315968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334256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251960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Separamos los registros con arancel válido.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791456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809744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4752" y="4727448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Para comparar precios, dejamos una sola vez cada oferta académica.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3127248"/>
            <a:ext cx="4407408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127248"/>
            <a:ext cx="32004" cy="233172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3236976"/>
            <a:ext cx="39959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DECISIÓN METODOLÓGICA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3474720"/>
            <a:ext cx="3995928" cy="191109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No repetimos el mismo arancel una vez por cada estudiante. Las 1.273 ofertas únicas permiten comparar precios sin que una carrera con más matrícula pese artificialmente más.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Áreas de estudio en frecuencias relativas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porcentajes permiten comparar el peso de cada área dentro de las 101.093 matrículas de pregrado.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17904"/>
            <a:ext cx="4297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17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6048" y="1517904"/>
            <a:ext cx="18288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488" y="1517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Participación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4848" y="1517904"/>
            <a:ext cx="2011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1517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Lectura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751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751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Tecnología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9751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9751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27,6%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19751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19751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Mayor participación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4323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4323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Salud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24323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4323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24,3%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4848" y="24323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24323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Segunda mayor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895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895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Administración y Comercio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8895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28895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13,4%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28895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28895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3467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3467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Educación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33467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488" y="33467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11,4%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33467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33467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8039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803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Otros campos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8039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47488" y="3803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23,3%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38039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76288" y="3803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Resto de las áreas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4709160"/>
            <a:ext cx="8138160" cy="9875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4709160"/>
            <a:ext cx="32004" cy="98755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4818888"/>
            <a:ext cx="77266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PRINCIPAL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5056632"/>
            <a:ext cx="77266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Tecnología y Salud concentran 51,9% de la matrícula. Las cuatro áreas principales representan 76,7% del total.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62288" y="1682496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1819656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51,9%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2340864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TECNOLOGÍA + SALUD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62288" y="3090672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440" y="3227832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76,7%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749039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4 ÁREAS PRINCIPALES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Distribución por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Mostramos el total y algunas diferencias dentro de familias vinculadas al análisis regional.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54,3%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FEMENINO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77596"/>
                </a:solidFill>
                <a:latin typeface="Noto Sans"/>
              </a:rPr>
              <a:t>45,7%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MASCULINO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481328"/>
            <a:ext cx="502920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Participación femenina dentro de familias seleccionadas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19659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19933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93608" y="1993392"/>
            <a:ext cx="337555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24159" y="19933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60735" y="20116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2448" y="20116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17.2%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26517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Digital y 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3608" y="26791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93608" y="2679192"/>
            <a:ext cx="226085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24159" y="26791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0735" y="26974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11.5%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2448" y="26974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11.5%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33375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33649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93608" y="3364992"/>
            <a:ext cx="113829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424159" y="33649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60735" y="33832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33832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5.8%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246120"/>
            <a:ext cx="4818888" cy="14630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3232" y="3246120"/>
            <a:ext cx="32004" cy="14630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355848"/>
            <a:ext cx="4407407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 DESCRIPTIVA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" y="3593591"/>
            <a:ext cx="4407407" cy="10424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el total hay más mujeres que hombres. Sin embargo, algunas familias tecnológicas presentan una participación femenina mucho menor.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97880" y="4343400"/>
            <a:ext cx="4846320" cy="109728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4343400"/>
            <a:ext cx="32004" cy="109728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453128"/>
            <a:ext cx="44348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 LA 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90872"/>
            <a:ext cx="4434840" cy="6766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Podemos describir la diferencia. La base no permite afirmar por qué ocurre ni atribuirla a la estructura productiva.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Edad promedio según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institutos profesionales y CFT presentan edades medias mayores que las universidades.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0881360" cy="28346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739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CRUCH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801368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28416" y="1801368"/>
            <a:ext cx="489935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39528" y="18013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3" y="18196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22.8 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7816" y="18196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22.8 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591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Privadas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8416" y="2386584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28416" y="2386584"/>
            <a:ext cx="5157216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39528" y="23865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76103" y="24048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24.0 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6" y="24048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24.0 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9443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Centros de Formación Técnica (CFT)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8416" y="2971800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28416" y="2971800"/>
            <a:ext cx="55225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39528" y="29718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103" y="299008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25.7 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299008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25.7 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5295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Institutos Profesionales (IP)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8416" y="3557015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28416" y="3557015"/>
            <a:ext cx="5694426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39528" y="3557015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6103" y="3575303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26.5 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57816" y="3575303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26.5 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599432"/>
            <a:ext cx="10881360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599432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709160"/>
            <a:ext cx="104698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ANÁLISIS DEMOGRÁFICO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946904"/>
            <a:ext cx="1046988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edad promedio aumenta desde las universidades CRUCH hacia CFT e IP. Esto describe una diferencia entre tipos de institución; no identifica su causa.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Del acero al algoritmo: clasificación propia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Agrupamos carreras en nueve familias para construir una lectura regional del capital humano.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9632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28216"/>
            <a:ext cx="182880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1737360"/>
            <a:ext cx="28346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E2D4B"/>
                </a:solidFill>
                <a:latin typeface="Noto Sans"/>
              </a:rPr>
              <a:t>Motores productivos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26771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8600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21284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2752344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7063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697480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Construcción e infraestructura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" y="3236976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55264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182112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Logística y puertos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" y="3721608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73989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66744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Forestal y madera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" y="4206240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2245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151376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Pesca y acuicultura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" y="469087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" y="470916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63600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Agroalimentario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1728216"/>
            <a:ext cx="21945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1737360"/>
            <a:ext cx="246888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050" b="1">
                <a:solidFill>
                  <a:srgbClr val="0E2D4B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3952" y="2395728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1401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322576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Digital y TIC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3952" y="3072384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09067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999232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3749039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7673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675887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Energía, sustentabilidad y biotecnología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82512" y="4535424"/>
            <a:ext cx="486460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82512" y="4535424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1112" y="4645152"/>
            <a:ext cx="44531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882896"/>
            <a:ext cx="445312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Es una taxonomía creada para este trabajo. Cada carrera se asigna a una sola familia para evitar doble conteo.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Hallazgo central: motores productivos vs. capacidades transformadoras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comparación resume la composición de la matrícula de pregrado en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20.368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MOTORES PRODUCTIVOS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20,15%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7.000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6,92%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554480"/>
            <a:ext cx="27889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1272" y="1691639"/>
            <a:ext cx="26426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≈ 2,9 :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212848"/>
            <a:ext cx="26426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RELACIÓN ENTRE BLOQUES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2468880"/>
            <a:ext cx="26426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productivas / transformadora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73552"/>
            <a:ext cx="987552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Participación dentro de las 101.093 matrículas de pregrado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822191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7222662" cy="438912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3767328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F59753"/>
                </a:solidFill>
                <a:latin typeface="Noto Sans"/>
              </a:rPr>
              <a:t>20,15%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4498848"/>
            <a:ext cx="2480438" cy="438912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4443984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0AD9F"/>
                </a:solidFill>
                <a:latin typeface="Noto Sans"/>
              </a:rPr>
              <a:t>6,92%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257800"/>
            <a:ext cx="10332720" cy="7132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257800"/>
            <a:ext cx="32004" cy="7132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67528"/>
            <a:ext cx="99212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605272"/>
            <a:ext cx="9921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esta fotografía de 2021, el bloque productivo pesa cerca de tres veces más que el transformador. Esto no demuestra déficit de profesionales.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1 · ¿Hay áreas donde las carreras sean más caras?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mediana del arancel sobre 1.273 ofertas académicas únicas.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6995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Mediana de arancel por área (millones de pesos)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Derecho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901952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1901952"/>
            <a:ext cx="3647930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34072" y="190195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2024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$3.586M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92024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$3.586M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597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Ciencias Básicas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487168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2487168"/>
            <a:ext cx="33468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34072" y="24871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0648" y="25054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$3.290M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5054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$3.290M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0449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Agropecuaria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3072384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3072384"/>
            <a:ext cx="3033499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34072" y="30723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70648" y="30906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$2.982M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0906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$2.982M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6301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Tecnología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657600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3657600"/>
            <a:ext cx="2158646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34072" y="36576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675887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$2.122M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675887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$2.122M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2153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Salud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242816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0400" y="4242816"/>
            <a:ext cx="2115921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34072" y="4242816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4261104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$2.080M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4261104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$2.080M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1645920"/>
            <a:ext cx="224028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05672" y="1783080"/>
            <a:ext cx="209397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$2.030M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5672" y="2304288"/>
            <a:ext cx="209397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MEDIANA GLOBAL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12480" y="3154680"/>
            <a:ext cx="2880360" cy="19019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3154680"/>
            <a:ext cx="32004" cy="1901952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41080" y="3264408"/>
            <a:ext cx="246887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3502152"/>
            <a:ext cx="2468879" cy="14813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Sí. Derecho, Ciencias Básicas y Agropecuaria presentan medianas por encima de la mediana global. Usamos mediana porque los valores extremos la afectan menos.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2 · Edad y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composición institucional de dos grupos de edad con porcentajes.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15 a 19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8"/>
            <a:ext cx="775167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5424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46.2%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4992" y="3154680"/>
            <a:ext cx="32354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19.3%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19.3%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40 años o más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15400" y="2395728"/>
            <a:ext cx="887318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85832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7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52.9%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52.9%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15400" y="3154680"/>
            <a:ext cx="182392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85832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2407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10.9%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1728"/>
            <a:ext cx="10625328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81728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" y="479145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5029200"/>
            <a:ext cx="10213848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composición institucional cambia entre grupos de edad. Observamos una asociación descriptiva, pero la base no permite afirmar que la edad cause la elección de institución.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3 · ¿Qué aranceles están entre los más altos?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Usamos el percentil 90 (P90) para estudiar aproximadamente el 10% superior de las ofertas.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572768"/>
            <a:ext cx="24231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09928"/>
            <a:ext cx="22768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$4.106.400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31136"/>
            <a:ext cx="22768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PERCENTIL 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22768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E8674A"/>
                </a:solidFill>
                <a:latin typeface="Noto Sans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SOBRE P90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87168"/>
            <a:ext cx="200253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de 1.273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10,1%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1032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DEL 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7" y="1572768"/>
            <a:ext cx="25603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709928"/>
            <a:ext cx="24140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$8.783.670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31136"/>
            <a:ext cx="24140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VALOR MÁXIMO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328416"/>
            <a:ext cx="1005840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Cómo leer el P90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" y="3867912"/>
            <a:ext cx="9765792" cy="493776"/>
          </a:xfrm>
          <a:prstGeom prst="roundRect">
            <a:avLst/>
          </a:prstGeom>
          <a:solidFill>
            <a:srgbClr val="DF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8096" y="3867912"/>
            <a:ext cx="8787384" cy="49377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55480" y="3867912"/>
            <a:ext cx="978408" cy="49377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895344"/>
            <a:ext cx="8046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Noto Sans"/>
              </a:rPr>
              <a:t>≈ 90% de las ofertas está en o bajo $4.106.400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3895344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≈10%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" y="4791456"/>
            <a:ext cx="10149840" cy="9418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" y="4791456"/>
            <a:ext cx="32004" cy="9418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" y="4901184"/>
            <a:ext cx="973836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" y="5138928"/>
            <a:ext cx="9738360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El P90 es $4.106.400. Lo superan 128 ofertas, equivalentes al 10,1% del total. Ese es el grupo que analizamos como arancel alto.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¿Qué caracteriza al grupo de ofertas sobre P90?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Describimos las 128 ofertas de arancel alto sin interpretar estas variables como causas del precio.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9656"/>
            <a:ext cx="169164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TIPO DE INSTITUCIÓN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73 CRUCH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0AD9F"/>
                </a:solidFill>
                <a:latin typeface="Noto Sans"/>
              </a:rPr>
              <a:t>55 privadas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819656"/>
            <a:ext cx="169164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38 Salud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3AA484"/>
                </a:solidFill>
                <a:latin typeface="Noto Sans"/>
              </a:rPr>
              <a:t>38 Tecnología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92424"/>
            <a:ext cx="169164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PROVINCIA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123 Concepción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211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F59753"/>
                </a:solidFill>
                <a:latin typeface="Noto Sans"/>
              </a:rPr>
              <a:t>5 Biobío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3392424"/>
            <a:ext cx="169164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DURACIÓN MEDIANA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10 semestres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423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77596"/>
                </a:solidFill>
                <a:latin typeface="Noto Sans"/>
              </a:rPr>
              <a:t>resto: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956048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956048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06577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303520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Las ofertas altas se concentran en determinados tipos de institución, áreas y territorio, y tienen mayor duración mediana. La base no demuestra que estas variables causen el precio.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Capacidades transformadoras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proporción y la cantidad absoluta cuentan historias distintas.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ARAUCO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F59753"/>
                </a:solidFill>
                <a:latin typeface="Noto Sans"/>
              </a:rPr>
              <a:t>8,55%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232 matrículas</a:t>
            </a:r>
          </a:p>
        </p:txBody>
      </p:sp>
      <p:sp>
        <p:nvSpPr>
          <p:cNvPr id="12" name="Oval 11"/>
          <p:cNvSpPr/>
          <p:nvPr/>
        </p:nvSpPr>
        <p:spPr>
          <a:xfrm>
            <a:off x="2089417" y="4101097"/>
            <a:ext cx="539469" cy="539469"/>
          </a:xfrm>
          <a:prstGeom prst="ellipse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BIOBÍO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3AA484"/>
                </a:solidFill>
                <a:latin typeface="Noto Sans"/>
              </a:rPr>
              <a:t>7,61%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966 matrículas</a:t>
            </a:r>
          </a:p>
        </p:txBody>
      </p:sp>
      <p:sp>
        <p:nvSpPr>
          <p:cNvPr id="17" name="Oval 16"/>
          <p:cNvSpPr/>
          <p:nvPr/>
        </p:nvSpPr>
        <p:spPr>
          <a:xfrm>
            <a:off x="5711876" y="4020236"/>
            <a:ext cx="701190" cy="701190"/>
          </a:xfrm>
          <a:prstGeom prst="ellipse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644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CONCEPCIÓN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00AD9F"/>
                </a:solidFill>
                <a:latin typeface="Noto Sans"/>
              </a:rPr>
              <a:t>6,77%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5.802 matrículas</a:t>
            </a:r>
          </a:p>
        </p:txBody>
      </p:sp>
      <p:sp>
        <p:nvSpPr>
          <p:cNvPr id="22" name="Oval 21"/>
          <p:cNvSpPr/>
          <p:nvPr/>
        </p:nvSpPr>
        <p:spPr>
          <a:xfrm>
            <a:off x="9185148" y="3790188"/>
            <a:ext cx="1161288" cy="1161288"/>
          </a:xfrm>
          <a:prstGeom prst="ellipse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983480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83480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7" y="509320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TERRITORIAL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5330952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Arauco tiene la mayor proporción dentro de su provincia, pero Concepción concentra por lejos el mayor volumen absoluto de matrículas transformadoras.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Conclusiones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Tres resultados responden el objetivo del trabajo y una cuarta idea delimita lo que no podemos afirmar.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0512"/>
            <a:ext cx="45720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COMPOSICIÓN REGIONAL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20,15% productivo vs. 6,92% transformador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17904" y="3867912"/>
            <a:ext cx="164592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≈ 2,9 :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10512"/>
            <a:ext cx="45720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PRECIOS Y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Hay áreas con arancel mediano mayor y cambia la composición institucional por edad.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21040" y="1810512"/>
            <a:ext cx="45720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5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ARANCELES 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128 de 1.273 ofertas superan el P90 de $4.106.400.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3867912"/>
            <a:ext cx="164592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19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10,1%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846320"/>
            <a:ext cx="10625328" cy="9601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846320"/>
            <a:ext cx="32004" cy="960120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495604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DEL ESTUDIO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5193792"/>
            <a:ext cx="10213848" cy="5394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base corresponde solo a 2021. Describe diferencias y asociaciones, pero no demuestra causalidad, déficit profesional ni evolución temporal.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Cierre · Acero + Algoritmo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presentación termina donde comienza una nueva pregunta de investigación.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72768"/>
            <a:ext cx="10552176" cy="2788920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01952"/>
            <a:ext cx="9912096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50" b="1">
                <a:solidFill>
                  <a:srgbClr val="00AD9F"/>
                </a:solidFill>
                <a:latin typeface="Noto Sans"/>
              </a:rPr>
              <a:t>PREGUNTA FUTURA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468880"/>
            <a:ext cx="9674352" cy="10607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Noto San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0AD9F"/>
                </a:solidFill>
                <a:latin typeface="Noto Sans"/>
              </a:rPr>
              <a:t>2021
Línea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77596"/>
                </a:solidFill>
                <a:latin typeface="Noto Sans"/>
              </a:rPr>
              <a:t>Datos
descriptivos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F59753"/>
                </a:solidFill>
                <a:latin typeface="Noto Sans"/>
              </a:rPr>
              <a:t>Acero +
Algoritmo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3AA484"/>
                </a:solidFill>
                <a:latin typeface="Noto Sans"/>
              </a:rPr>
              <a:t>Investigación
futura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016752"/>
            <a:ext cx="10424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50" b="1">
                <a:solidFill>
                  <a:srgbClr val="596C82"/>
                </a:solidFill>
                <a:latin typeface="Noto Sans"/>
              </a:rPr>
              <a:t>Mensaje final: transformar no significa reemplazar la identidad industrial, sino incorporar más capacidades digitales, automatización, datos e innovación.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Herramientas del curso utilizadas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Úsalo si el profesor pregunta qué contenidos de los laboratorios aparecen en 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44752"/>
            <a:ext cx="15544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44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Laboratorio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444752"/>
            <a:ext cx="36576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444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Contenido aplicado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0448" y="1444752"/>
            <a:ext cx="512064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444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Uso en el proyecto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019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01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0 · Pandas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9019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04288" y="1901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read_excel, head, tail, info, filtros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19019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1901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Carga y preparación de la 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3591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3591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1 · Conceptos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3591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4288" y="23591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población, muestra, tipos de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70448" y="23591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1888" y="23591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Definición de unidades de análisis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163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163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2 · Frecuencias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28163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04288" y="28163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groupby().size(), relativas, acumuladas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70448" y="28163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28163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Áreas, género, edad y arancel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2735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2735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3 · Gráficos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32735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04288" y="32735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barras, circular, histogramas, scatter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70448" y="32735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1888" y="32735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Visualización de distribuciones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7307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730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4 · Tendencia y percentiles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37307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3730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mean, median, mode, quantile, crosstab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70448" y="37307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3730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Preguntas 1, 2 y P90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1879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187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5 · Dispersión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12848" y="41879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04288" y="4187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rango, std, CV, agg, isin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70448" y="41879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61888" y="4187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Dispersión general y comparaciones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Preguntas probables del profesor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Respuestas cortas que debes poder explicar con tus propias palabras.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mediana?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los valores extremos afectan menos a la mediana y representa mejor un valor típico.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eliminamos ofertas repetidas?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Para que una carrera con muchos estudiantes no repita su precio cientos de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significa 2,9 :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Aproximadamente 2,9 matrículas productivas por cada matrícula transformadora.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¿Edad causa el tipo de institución?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No. Solo observamos una asociación descriptiva entre los grupos.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P90?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permite separar aproximadamente el 10% superior usando percentiles trabajados en clase.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demuestra el notebook?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Patrones, diferencias y asociaciones en 2021; no causalidad ni evolución temporal.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Conceptos clave para la defensa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No memorices definiciones largas: entiende qué mide cada concepto y dónde lo usamos.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0976" y="1792224"/>
            <a:ext cx="196596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Frecuencia relativa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hi = fi / N ×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7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Porcentaje que representa una categoría respecto del total.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37376" y="1792224"/>
            <a:ext cx="196596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Mediana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valor central ordenado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Representa el centro y es menos sensible a valores extremos.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0976" y="3803904"/>
            <a:ext cx="196596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Percentil 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quantile(0.90)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Deja aproximadamente 90% de los datos en o bajo ese valor.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37376" y="3803904"/>
            <a:ext cx="196596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Desviación estándar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std()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Mide cuánto se alejan los valores respecto de la media.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59552"/>
            <a:ext cx="10497312" cy="676656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8" y="5559552"/>
            <a:ext cx="32004" cy="676656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7" y="5669280"/>
            <a:ext cx="10085832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7" y="5907024"/>
            <a:ext cx="10085832" cy="25603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Resultado observado ≠ causa demostrada. En la defensa, usa “se observa”, “se asocia” o “la base muestra”.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