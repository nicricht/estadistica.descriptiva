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Noto Sans"/>
              </a:rPr>
              <a:t>DEL ACERO AL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417320"/>
            <a:ext cx="969264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50" b="0">
                <a:solidFill>
                  <a:srgbClr val="CFDBE6"/>
                </a:solidFill>
                <a:latin typeface="Noto Sans"/>
              </a:rPr>
              <a:t>Estadística Descriptiva aplicada a la Educación Superior del Biobío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057400"/>
            <a:ext cx="1005840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20" b="1">
                <a:solidFill>
                  <a:srgbClr val="FFFFFF"/>
                </a:solidFill>
                <a:latin typeface="Noto Sans"/>
              </a:rPr>
              <a:t>¿Desde qué base de capital humano parte el Biobío para transformar su histórica vocación industrial hacia una economía de manufactura avanzada e Industria 4.0?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4983480" cy="1417320"/>
          </a:xfrm>
          <a:prstGeom prst="roundRect">
            <a:avLst/>
          </a:prstGeom>
          <a:solidFill>
            <a:srgbClr val="1C3958"/>
          </a:solidFill>
          <a:ln w="8890">
            <a:solidFill>
              <a:srgbClr val="34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87952"/>
            <a:ext cx="109728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9753"/>
                </a:solidFill>
                <a:latin typeface="Noto Sans"/>
              </a:rPr>
              <a:t>ACERO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069080"/>
            <a:ext cx="338328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"/>
              </a:rPr>
              <a:t>motores productivos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886200"/>
            <a:ext cx="4983480" cy="1417320"/>
          </a:xfrm>
          <a:prstGeom prst="roundRect">
            <a:avLst/>
          </a:prstGeom>
          <a:solidFill>
            <a:srgbClr val="104852"/>
          </a:solidFill>
          <a:ln w="8890">
            <a:solidFill>
              <a:srgbClr val="1D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187952"/>
            <a:ext cx="150876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0AD9F"/>
                </a:solidFill>
                <a:latin typeface="Noto Sans"/>
              </a:rPr>
              <a:t>ALGORITMO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4069080"/>
            <a:ext cx="297180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  <a:latin typeface="Noto Sans"/>
              </a:rPr>
              <a:t>capacidades transformadoras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24728"/>
            <a:ext cx="103327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ADC0CF"/>
                </a:solidFill>
                <a:latin typeface="Noto Sans"/>
              </a:rPr>
              <a:t>Base oficial: Matrículas de Educación Superior del Biobío ·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Contexto del análisis y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Una misma base exige unidades de análisis distintas según la pregunta.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106.555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BASE 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28 columnas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101.093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MATRÍCULAS DE PREGRADO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análisis de personas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4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101.067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PREGRADO CON 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arancel &gt; 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1.273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OFERTAS ÚNICAS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comparación de precios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127248"/>
            <a:ext cx="5303520" cy="23317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364992"/>
            <a:ext cx="489204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50" b="1">
                <a:solidFill>
                  <a:srgbClr val="0E2D4B"/>
                </a:solidFill>
                <a:latin typeface="Noto Sans"/>
              </a:rPr>
              <a:t>¿Qué hacemos con la base?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3840480"/>
            <a:ext cx="384048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858768"/>
            <a:ext cx="31089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3776472"/>
            <a:ext cx="42976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243B54"/>
                </a:solidFill>
                <a:latin typeface="Noto Sans"/>
              </a:rPr>
              <a:t>Filtramos las matrículas de pregrado.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4315968"/>
            <a:ext cx="384048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334256"/>
            <a:ext cx="31089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4251960"/>
            <a:ext cx="42976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243B54"/>
                </a:solidFill>
                <a:latin typeface="Noto Sans"/>
              </a:rPr>
              <a:t>Separamos los registros con arancel válido.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4791456"/>
            <a:ext cx="384048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809744"/>
            <a:ext cx="31089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4727448"/>
            <a:ext cx="42976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243B54"/>
                </a:solidFill>
                <a:latin typeface="Noto Sans"/>
              </a:rPr>
              <a:t>Para comparar precios, dejamos una sola vez cada oferta académica.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127248"/>
            <a:ext cx="4407408" cy="23317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3127248"/>
            <a:ext cx="32004" cy="2331720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236976"/>
            <a:ext cx="39959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DECISIÓN METODOLÓGICA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3474720"/>
            <a:ext cx="3995928" cy="191109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No repetimos el mismo arancel una vez por cada estudiante. Las 1.273 ofertas únicas permiten comparar precios sin que una carrera con más matrícula pese artificialmente más.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742432"/>
            <a:ext cx="108996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596C82"/>
                </a:solidFill>
                <a:latin typeface="Noto Sans"/>
              </a:rPr>
              <a:t>Control de calidad: 0 duplicados completos · nulos solo en acreditación · 26 registros con arancel $0 excluidos del análisis de precios.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Áreas de estudio en frecuencias relativas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Los porcentajes permiten comparar el peso de cada área dentro de las 101.093 matrículas de pregrado.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17904"/>
            <a:ext cx="429768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"/>
              </a:rPr>
              <a:t>Área del conocimiento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1517904"/>
            <a:ext cx="182880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5179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Participación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1517904"/>
            <a:ext cx="201168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15179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Lectura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975104"/>
            <a:ext cx="4297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751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Tecnología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975104"/>
            <a:ext cx="18288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9751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27,6%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1975104"/>
            <a:ext cx="2011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19751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Mayor participación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432304"/>
            <a:ext cx="4297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4323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Salud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2432304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24323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24,3%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2432304"/>
            <a:ext cx="2011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24323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Segunda mayor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889504"/>
            <a:ext cx="4297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8895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Administración y Comercio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2889504"/>
            <a:ext cx="18288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28895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13,4%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2889504"/>
            <a:ext cx="2011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28895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Participación intermedia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346704"/>
            <a:ext cx="4297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3467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Educación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6048" y="3346704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7488" y="33467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11,4%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3346704"/>
            <a:ext cx="2011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3467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Participación intermedia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3803904"/>
            <a:ext cx="4297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8039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Otros campos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6048" y="3803904"/>
            <a:ext cx="18288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8" y="38039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23,3%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84848" y="3803904"/>
            <a:ext cx="2011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38039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Resto de las áreas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709160"/>
            <a:ext cx="8138160" cy="98755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4709160"/>
            <a:ext cx="32004" cy="98755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4818888"/>
            <a:ext cx="77266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HALLAZGO PRINCIPAL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5056632"/>
            <a:ext cx="77266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Tecnología y Salud concentran 51,9% de la matrícula. Las cuatro áreas principales representan 76,7% del total.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62288" y="1682496"/>
            <a:ext cx="21945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1819656"/>
            <a:ext cx="204825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51,9%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340864"/>
            <a:ext cx="204825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TECNOLOGÍA + SALUD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62288" y="3090672"/>
            <a:ext cx="21945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3227832"/>
            <a:ext cx="204825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76,7%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749039"/>
            <a:ext cx="204825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4 ÁREAS PRINCIPALES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Distribución por género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Mostramos el total y algunas diferencias dentro de familias vinculadas al análisis regional.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228600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73351"/>
            <a:ext cx="213969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54,3%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194560"/>
            <a:ext cx="213969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FEMENINO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36192"/>
            <a:ext cx="228600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673351"/>
            <a:ext cx="213969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77596"/>
                </a:solidFill>
                <a:latin typeface="Noto Sans"/>
              </a:rPr>
              <a:t>45,7%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194560"/>
            <a:ext cx="213969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MASCULINO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81328"/>
            <a:ext cx="50292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E2D4B"/>
                </a:solidFill>
                <a:latin typeface="Noto Sans"/>
              </a:rPr>
              <a:t>Participación femenina dentro de familias seleccionadas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965960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Industria y manufactura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3608" y="1993392"/>
            <a:ext cx="196596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1993392"/>
            <a:ext cx="337555" cy="292608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24159" y="1993392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0735" y="2011680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17.2%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8" y="2011680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F59753"/>
                </a:solidFill>
                <a:latin typeface="Noto Sans"/>
              </a:rPr>
              <a:t>17.2%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651760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Digital y 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2679192"/>
            <a:ext cx="196596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3608" y="2679192"/>
            <a:ext cx="226085" cy="292608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424159" y="2679192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0735" y="2697480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11.5%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2448" y="2697480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AD9F"/>
                </a:solidFill>
                <a:latin typeface="Noto Sans"/>
              </a:rPr>
              <a:t>11.5%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337560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Automatización y robótica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3608" y="3364992"/>
            <a:ext cx="196596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93608" y="3364992"/>
            <a:ext cx="113829" cy="292608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24159" y="3364992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0735" y="3383280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5.8%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42448" y="3383280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77596"/>
                </a:solidFill>
                <a:latin typeface="Noto Sans"/>
              </a:rPr>
              <a:t>5.8%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3246120"/>
            <a:ext cx="4818888" cy="146304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3246120"/>
            <a:ext cx="32004" cy="1463040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355848"/>
            <a:ext cx="4407407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LECTURA DESCRIPTIVA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3593591"/>
            <a:ext cx="4407407" cy="104241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En el total hay más mujeres que hombres. Sin embargo, algunas familias tecnológicas presentan una participación femenina mucho menor.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80" y="4343400"/>
            <a:ext cx="4846320" cy="109728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7880" y="4343400"/>
            <a:ext cx="32004" cy="1097280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453128"/>
            <a:ext cx="44348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LÍMITE DE LA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690872"/>
            <a:ext cx="4434840" cy="6766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Podemos describir la diferencia. La base no permite afirmar por qué ocurre ni atribuirla a la estructura productiva.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Edad promedio según tipo de institución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Los institutos profesionales y CFT presentan edades medias mayores que las universidades.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0881360" cy="283464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73936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Universidades CRUCH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801368"/>
            <a:ext cx="644652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28416" y="1801368"/>
            <a:ext cx="4899355" cy="292608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39528" y="1801368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3" y="1819656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22.8 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1819656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77596"/>
                </a:solidFill>
                <a:latin typeface="Noto Sans"/>
              </a:rPr>
              <a:t>22.8 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359152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Universidades Privadas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8416" y="2386584"/>
            <a:ext cx="644652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28416" y="2386584"/>
            <a:ext cx="5157216" cy="292608"/>
          </a:xfrm>
          <a:prstGeom prst="round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39528" y="2386584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6103" y="2404872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24.0 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6" y="2404872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899A"/>
                </a:solidFill>
                <a:latin typeface="Noto Sans"/>
              </a:rPr>
              <a:t>24.0 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944368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Centros de Formación Técnica (CFT)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2971800"/>
            <a:ext cx="644652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8416" y="2971800"/>
            <a:ext cx="5522518" cy="292608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39528" y="2971800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6103" y="2990088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25.7 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2990088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3AA484"/>
                </a:solidFill>
                <a:latin typeface="Noto Sans"/>
              </a:rPr>
              <a:t>25.7 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529584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Institutos Profesionales (IP)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28416" y="3557015"/>
            <a:ext cx="644652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28416" y="3557015"/>
            <a:ext cx="5694426" cy="292608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39528" y="3557015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6103" y="3575303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26.5 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3575303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F59753"/>
                </a:solidFill>
                <a:latin typeface="Noto Sans"/>
              </a:rPr>
              <a:t>26.5 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599432"/>
            <a:ext cx="10881360" cy="100584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599432"/>
            <a:ext cx="32004" cy="1005840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709160"/>
            <a:ext cx="104698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ANÁLISIS DEMOGRÁFICO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946904"/>
            <a:ext cx="10469880" cy="58521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La edad promedio aumenta desde las universidades CRUCH hacia CFT e IP. Esto describe una diferencia entre tipos de institución; no identifica su causa.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Del acero al algoritmo: clasificación propia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Agrupamos carreras en nueve familias para construir una lectura regional del capital humano.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21808" cy="41605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321808" cy="41605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28216"/>
            <a:ext cx="182880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F59753"/>
                </a:solidFill>
                <a:latin typeface="Noto Sans"/>
              </a:rPr>
              <a:t>ACERO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737360"/>
            <a:ext cx="283464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0E2D4B"/>
                </a:solidFill>
                <a:latin typeface="Noto Sans"/>
              </a:rPr>
              <a:t>Motores productivos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2267712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286000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212848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Industria y manufactura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2752344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770632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697480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Construcción e infraestructura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" y="3236976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55264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182112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Logística y puertos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3721608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739896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666744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Forestal y madera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" y="4206240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224527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151376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Pesca y acuicultura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" y="4690872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709160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636008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Agroalimentario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1728216"/>
            <a:ext cx="21945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AD9F"/>
                </a:solidFill>
                <a:latin typeface="Noto Sans"/>
              </a:rPr>
              <a:t>ALGORITMO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1737360"/>
            <a:ext cx="246888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050" b="1">
                <a:solidFill>
                  <a:srgbClr val="0E2D4B"/>
                </a:solidFill>
                <a:latin typeface="Noto Sans"/>
              </a:rPr>
              <a:t>Capacidades transformadoras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2395728"/>
            <a:ext cx="393192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414016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322576"/>
            <a:ext cx="3794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69" b="1">
                <a:solidFill>
                  <a:srgbClr val="243B54"/>
                </a:solidFill>
                <a:latin typeface="Noto Sans"/>
              </a:rPr>
              <a:t>Digital y 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73952" y="3072384"/>
            <a:ext cx="393192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090672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2999232"/>
            <a:ext cx="3794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69" b="1">
                <a:solidFill>
                  <a:srgbClr val="243B54"/>
                </a:solidFill>
                <a:latin typeface="Noto Sans"/>
              </a:rPr>
              <a:t>Automatización y robótica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3749039"/>
            <a:ext cx="393192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767327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675887"/>
            <a:ext cx="3794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69" b="1">
                <a:solidFill>
                  <a:srgbClr val="243B54"/>
                </a:solidFill>
                <a:latin typeface="Noto Sans"/>
              </a:rPr>
              <a:t>Energía, sustentabilidad y biotecnología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2512" y="4535424"/>
            <a:ext cx="4864608" cy="80467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82512" y="4535424"/>
            <a:ext cx="32004" cy="80467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4645152"/>
            <a:ext cx="44531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REGLA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4882896"/>
            <a:ext cx="445312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Es una taxonomía creada para este trabajo. Cada carrera se asigna a una sola familia para evitar doble conteo.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Hallazgo central: motores productivos vs. capacidades transformadoras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La comparación resume la composición de la matrícula de pregrado en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28803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39"/>
            <a:ext cx="273405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20.368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73405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MOTORES PRODUCTIVOS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68880"/>
            <a:ext cx="273405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20,15%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1554480"/>
            <a:ext cx="28803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691639"/>
            <a:ext cx="273405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7.000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212848"/>
            <a:ext cx="273405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CAPACIDADES TRANSFORMADORAS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468880"/>
            <a:ext cx="273405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6,92%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554480"/>
            <a:ext cx="27889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2" y="1691639"/>
            <a:ext cx="26426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3AA484"/>
                </a:solidFill>
                <a:latin typeface="Noto Sans"/>
              </a:rPr>
              <a:t>≈ 2,9 :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2212848"/>
            <a:ext cx="26426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RELACIÓN ENTRE BLOQUES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2468880"/>
            <a:ext cx="26426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productivas / transformadora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73552"/>
            <a:ext cx="987552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70" b="1">
                <a:solidFill>
                  <a:srgbClr val="0E2D4B"/>
                </a:solidFill>
                <a:latin typeface="Noto Sans"/>
              </a:rPr>
              <a:t>Participación dentro de las 101.093 matrículas de pregrado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822191"/>
            <a:ext cx="8961120" cy="43891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822191"/>
            <a:ext cx="7222662" cy="438912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767328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F59753"/>
                </a:solidFill>
                <a:latin typeface="Noto Sans"/>
              </a:rPr>
              <a:t>20,15%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98848"/>
            <a:ext cx="8961120" cy="43891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498848"/>
            <a:ext cx="2480438" cy="438912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443984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00AD9F"/>
                </a:solidFill>
                <a:latin typeface="Noto Sans"/>
              </a:rPr>
              <a:t>6,92%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257800"/>
            <a:ext cx="10332720" cy="71323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257800"/>
            <a:ext cx="32004" cy="71323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367528"/>
            <a:ext cx="99212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INTERPRETACIÓN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05272"/>
            <a:ext cx="9921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En esta fotografía de 2021, el bloque productivo pesa cerca de tres veces más que el transformador. Esto no demuestra déficit de profesionales.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Pregunta 1 · ¿Hay áreas donde las carreras sean más caras?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Comparamos la mediana del arancel sobre 1.273 ofertas académicas únicas.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699516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70" b="1">
                <a:solidFill>
                  <a:srgbClr val="0E2D4B"/>
                </a:solidFill>
                <a:latin typeface="Noto Sans"/>
              </a:rPr>
              <a:t>Mediana de arancel por área (millones de pesos)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74520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Derecho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901952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901952"/>
            <a:ext cx="3647930" cy="292608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34072" y="1901952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920240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$3.586M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920240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F59753"/>
                </a:solidFill>
                <a:latin typeface="Noto Sans"/>
              </a:rPr>
              <a:t>$3.586M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459736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Ciencias Básicas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487168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2487168"/>
            <a:ext cx="3346818" cy="292608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34072" y="2487168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2505456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$3.290M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505456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3AA484"/>
                </a:solidFill>
                <a:latin typeface="Noto Sans"/>
              </a:rPr>
              <a:t>$3.290M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044952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Agropecuaria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072384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3072384"/>
            <a:ext cx="3033499" cy="292608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34072" y="3072384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3090672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$2.982M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090672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AD9F"/>
                </a:solidFill>
                <a:latin typeface="Noto Sans"/>
              </a:rPr>
              <a:t>$2.982M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630168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Tecnología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657600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0" y="3657600"/>
            <a:ext cx="2158646" cy="292608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34072" y="3657600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3675887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$2.122M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675887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77596"/>
                </a:solidFill>
                <a:latin typeface="Noto Sans"/>
              </a:rPr>
              <a:t>$2.122M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215384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Salud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4242816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00400" y="4242816"/>
            <a:ext cx="2115921" cy="292608"/>
          </a:xfrm>
          <a:prstGeom prst="round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34072" y="4242816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4261104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$2.080M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261104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899A"/>
                </a:solidFill>
                <a:latin typeface="Noto Sans"/>
              </a:rPr>
              <a:t>$2.080M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1645920"/>
            <a:ext cx="224028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1783080"/>
            <a:ext cx="209397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$2.030M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2304288"/>
            <a:ext cx="209397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MEDIANA GLOBAL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3154680"/>
            <a:ext cx="2880360" cy="190195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3154680"/>
            <a:ext cx="32004" cy="1901952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3264408"/>
            <a:ext cx="246887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CRITERIO Y RESPUESTA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3502152"/>
            <a:ext cx="2468879" cy="14813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Criterio: comparar la mediana por área con la mediana global, porque la mediana es menos sensible a valores extremos. Resultado: Derecho, Ciencias Básicas y Agropecuaria quedan por encima de $2.030.000.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Pregunta 2 · Edad y tipo de institución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Comparamos la composición institucional de dos grupos de edad con porcentajes.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5074920" cy="27889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10512"/>
            <a:ext cx="45262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0E2D4B"/>
                </a:solidFill>
                <a:latin typeface="Noto Sans"/>
              </a:rPr>
              <a:t>Estudiantes de 15 a 19 años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68296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Universidad CRUCH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395728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2" y="2395728"/>
            <a:ext cx="775167" cy="292608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35424" y="2395728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14016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46.2%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14016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AD9F"/>
                </a:solidFill>
                <a:latin typeface="Noto Sans"/>
              </a:rPr>
              <a:t>46.2%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127248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Instituto Profesional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3154680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4992" y="3154680"/>
            <a:ext cx="323545" cy="292608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35424" y="3154680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172968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172968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77596"/>
                </a:solidFill>
                <a:latin typeface="Noto Sans"/>
              </a:rPr>
              <a:t>19.3%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572768"/>
            <a:ext cx="5074920" cy="27889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810512"/>
            <a:ext cx="45262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0E2D4B"/>
                </a:solidFill>
                <a:latin typeface="Noto Sans"/>
              </a:rPr>
              <a:t>Estudiantes de 40 años o más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368296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Instituto Profesional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395728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2395728"/>
            <a:ext cx="887318" cy="292608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85832" y="2395728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414016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52.9%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414016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F59753"/>
                </a:solidFill>
                <a:latin typeface="Noto Sans"/>
              </a:rPr>
              <a:t>52.9%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127248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Universidad CRUCH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3154680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15400" y="3154680"/>
            <a:ext cx="182392" cy="292608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85832" y="3154680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7" y="3172968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10.9%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172968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AD9F"/>
                </a:solidFill>
                <a:latin typeface="Noto Sans"/>
              </a:rPr>
              <a:t>10.9%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81728"/>
            <a:ext cx="10625328" cy="100584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681728"/>
            <a:ext cx="32004" cy="1005840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791456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INTERPRETACIÓN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5029200"/>
            <a:ext cx="10213848" cy="58521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La composición institucional cambia entre grupos de edad. Observamos una asociación descriptiva, pero la base no permite afirmar que la edad cause la elección de institución.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Pregunta 3 · ¿Qué aranceles están entre los más altos?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Para operacionalizar “sustantivamente más caro”, usamos el percentil 90 (P90), trabajado en el Laboratorio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24231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09928"/>
            <a:ext cx="227685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$4.106.400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31136"/>
            <a:ext cx="227685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PERCENTIL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227685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P90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72768"/>
            <a:ext cx="214884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709928"/>
            <a:ext cx="200253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E8674A"/>
                </a:solidFill>
                <a:latin typeface="Noto Sans"/>
              </a:rPr>
              <a:t>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231136"/>
            <a:ext cx="200253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OFERTAS SOBRE P90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487168"/>
            <a:ext cx="200253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de 1.273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572768"/>
            <a:ext cx="214884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709928"/>
            <a:ext cx="200253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3AA484"/>
                </a:solidFill>
                <a:latin typeface="Noto Sans"/>
              </a:rPr>
              <a:t>10,1%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231136"/>
            <a:ext cx="200253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DEL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1572768"/>
            <a:ext cx="25603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09928"/>
            <a:ext cx="24140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$8.783.670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31136"/>
            <a:ext cx="24140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VALOR MÁXIMO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328416"/>
            <a:ext cx="1005840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E2D4B"/>
                </a:solidFill>
                <a:latin typeface="Noto Sans"/>
              </a:rPr>
              <a:t>Cómo leer el P90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3867912"/>
            <a:ext cx="9765792" cy="493776"/>
          </a:xfrm>
          <a:prstGeom prst="round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6" y="3867912"/>
            <a:ext cx="8787384" cy="49377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55480" y="3867912"/>
            <a:ext cx="978408" cy="49377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895344"/>
            <a:ext cx="80467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Noto Sans"/>
              </a:rPr>
              <a:t>≈ 90% de las ofertas está en o bajo $4.106.400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3895344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≈10%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791456"/>
            <a:ext cx="10149840" cy="94183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" y="4791456"/>
            <a:ext cx="32004" cy="94183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5" y="4901184"/>
            <a:ext cx="973836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RESPUESTA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5" y="5138928"/>
            <a:ext cx="9738360" cy="5212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El P90 es $4.106.400. Lo superan 128 ofertas, equivalentes al 10,1% del total. Ese es el grupo que analizamos como arancel alto.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¿Qué caracteriza al grupo de ofertas sobre P90?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Describimos las 128 ofertas de arancel alto sin interpretar estas variables como causas del precio.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19656"/>
            <a:ext cx="169164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37943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TIPO DE INSTITUCIÓN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73 CRUCH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240280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00AD9F"/>
                </a:solidFill>
                <a:latin typeface="Noto Sans"/>
              </a:rPr>
              <a:t>55 privadas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27632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19656"/>
            <a:ext cx="169164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837943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ÁREA DEL CONOCIMIENTO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40280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38 Salud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240280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3AA484"/>
                </a:solidFill>
                <a:latin typeface="Noto Sans"/>
              </a:rPr>
              <a:t>38 Tecnología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392424"/>
            <a:ext cx="169164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410712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PROVINCIA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813048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123 Concepción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3813048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F59753"/>
                </a:solidFill>
                <a:latin typeface="Noto Sans"/>
              </a:rPr>
              <a:t>5 Biobío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200400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392424"/>
            <a:ext cx="1691640" cy="310896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3410712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DURACIÓN MEDIANA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13048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10 semestres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3813048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077596"/>
                </a:solidFill>
                <a:latin typeface="Noto Sans"/>
              </a:rPr>
              <a:t>resto: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828032"/>
            <a:ext cx="10625328" cy="105156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828032"/>
            <a:ext cx="32004" cy="1051560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937760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EXPLICACIÓN ENCONTRADA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175504"/>
            <a:ext cx="10213848" cy="6309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Las ofertas sobre P90 se concentran en universidades, Salud y Tecnología, carreras de mayor duración y especialmente en Concepción. La concentración territorial aporta contexto regional; estas asociaciones no demuestran causalidad.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Capacidades transformadoras por provincia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La proporción y la cantidad absoluta cuentan historias distintas.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3218688" cy="212140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56231"/>
            <a:ext cx="278892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E2D4B"/>
                </a:solidFill>
                <a:latin typeface="Noto Sans"/>
              </a:rPr>
              <a:t>ARAUCO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304288"/>
            <a:ext cx="27432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F59753"/>
                </a:solidFill>
                <a:latin typeface="Noto Sans"/>
              </a:rPr>
              <a:t>8,55%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17520"/>
            <a:ext cx="28163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596C82"/>
                </a:solidFill>
                <a:latin typeface="Noto Sans"/>
              </a:rPr>
              <a:t>232 matrículas</a:t>
            </a:r>
          </a:p>
        </p:txBody>
      </p:sp>
      <p:sp>
        <p:nvSpPr>
          <p:cNvPr id="12" name="Oval 11"/>
          <p:cNvSpPr/>
          <p:nvPr/>
        </p:nvSpPr>
        <p:spPr>
          <a:xfrm>
            <a:off x="2089417" y="4101097"/>
            <a:ext cx="539469" cy="539469"/>
          </a:xfrm>
          <a:prstGeom prst="ellipse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1627632"/>
            <a:ext cx="3218688" cy="212140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56231"/>
            <a:ext cx="278892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E2D4B"/>
                </a:solidFill>
                <a:latin typeface="Noto Sans"/>
              </a:rPr>
              <a:t>BIOBÍO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04288"/>
            <a:ext cx="27432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3AA484"/>
                </a:solidFill>
                <a:latin typeface="Noto Sans"/>
              </a:rPr>
              <a:t>7,61%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017520"/>
            <a:ext cx="28163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596C82"/>
                </a:solidFill>
                <a:latin typeface="Noto Sans"/>
              </a:rPr>
              <a:t>966 matrículas</a:t>
            </a:r>
          </a:p>
        </p:txBody>
      </p:sp>
      <p:sp>
        <p:nvSpPr>
          <p:cNvPr id="17" name="Oval 16"/>
          <p:cNvSpPr/>
          <p:nvPr/>
        </p:nvSpPr>
        <p:spPr>
          <a:xfrm>
            <a:off x="5711876" y="4020236"/>
            <a:ext cx="701190" cy="701190"/>
          </a:xfrm>
          <a:prstGeom prst="ellipse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627632"/>
            <a:ext cx="3218688" cy="212140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56231"/>
            <a:ext cx="278892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E2D4B"/>
                </a:solidFill>
                <a:latin typeface="Noto Sans"/>
              </a:rPr>
              <a:t>CONCEPCIÓN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304288"/>
            <a:ext cx="27432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00AD9F"/>
                </a:solidFill>
                <a:latin typeface="Noto Sans"/>
              </a:rPr>
              <a:t>6,77%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017520"/>
            <a:ext cx="28163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596C82"/>
                </a:solidFill>
                <a:latin typeface="Noto Sans"/>
              </a:rPr>
              <a:t>5.802 matrículas</a:t>
            </a:r>
          </a:p>
        </p:txBody>
      </p:sp>
      <p:sp>
        <p:nvSpPr>
          <p:cNvPr id="22" name="Oval 21"/>
          <p:cNvSpPr/>
          <p:nvPr/>
        </p:nvSpPr>
        <p:spPr>
          <a:xfrm>
            <a:off x="9185148" y="3790188"/>
            <a:ext cx="1161288" cy="1161288"/>
          </a:xfrm>
          <a:prstGeom prst="ellipse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4983480"/>
            <a:ext cx="10625328" cy="80467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983480"/>
            <a:ext cx="32004" cy="80467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7" y="5093208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HALLAZGO TERRITORIAL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5330952"/>
            <a:ext cx="10213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Arauco tiene la mayor proporción dentro de su provincia, pero Concepción concentra por lejos el mayor volumen absoluto de matrículas transformadoras.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Conclusiones principales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Tres resultados responden el objetivo del trabajo y una cuarta idea delimita lo que no podemos afirmar.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91056"/>
            <a:ext cx="3246120" cy="290779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10512"/>
            <a:ext cx="45720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28800"/>
            <a:ext cx="3840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83080"/>
            <a:ext cx="2212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E2D4B"/>
                </a:solidFill>
                <a:latin typeface="Noto Sans"/>
              </a:rPr>
              <a:t>COMPOSICIÓN REGIONAL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32304"/>
            <a:ext cx="2816352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20,15% productivo vs. 6,92% transformador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3867912"/>
            <a:ext cx="164592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886200"/>
            <a:ext cx="157276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≈ 2,9 :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591056"/>
            <a:ext cx="3246120" cy="290779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810512"/>
            <a:ext cx="45720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828800"/>
            <a:ext cx="3840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783080"/>
            <a:ext cx="2212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E2D4B"/>
                </a:solidFill>
                <a:latin typeface="Noto Sans"/>
              </a:rPr>
              <a:t>PRECIOS Y EDAD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432304"/>
            <a:ext cx="2816352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Hay áreas con arancel mediano mayor y cambia la composición institucional por edad.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1" y="1591056"/>
            <a:ext cx="3246120" cy="290779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810512"/>
            <a:ext cx="45720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5" y="1828800"/>
            <a:ext cx="3840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783080"/>
            <a:ext cx="2212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E2D4B"/>
                </a:solidFill>
                <a:latin typeface="Noto Sans"/>
              </a:rPr>
              <a:t>ARANCELES ALTOS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432304"/>
            <a:ext cx="2816352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128 de 1.273 ofertas superan el P90 de $4.106.400.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3867912"/>
            <a:ext cx="164592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3886200"/>
            <a:ext cx="157276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10,1%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846320"/>
            <a:ext cx="10625328" cy="9601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846320"/>
            <a:ext cx="32004" cy="960120"/>
          </a:xfrm>
          <a:prstGeom prst="rect">
            <a:avLst/>
          </a:prstGeom>
          <a:solidFill>
            <a:srgbClr val="E8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956048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LÍMITE DEL ESTUDIO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193792"/>
            <a:ext cx="10213848" cy="5394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La base corresponde solo a 2021. Describe diferencias y asociaciones, pero no demuestra causalidad, déficit profesional ni evolución temporal.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Cierre · Acero + Algoritmo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La presentación termina donde comienza una nueva pregunta de investigación.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72768"/>
            <a:ext cx="10552176" cy="2788920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01952"/>
            <a:ext cx="9912096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00AD9F"/>
                </a:solidFill>
                <a:latin typeface="Noto Sans"/>
              </a:rPr>
              <a:t>PREGUNTA FUTURA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468880"/>
            <a:ext cx="9674352" cy="10607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"/>
              </a:rPr>
              <a:t>¿Está evolucionando el capital humano del Biobío al mismo ritmo que la transformación productiva que la región proyecta?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28032"/>
            <a:ext cx="2148840" cy="8412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919472"/>
            <a:ext cx="1929384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0AD9F"/>
                </a:solidFill>
                <a:latin typeface="Noto Sans"/>
              </a:rPr>
              <a:t>2021
Línea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5010912"/>
            <a:ext cx="310896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596C82"/>
                </a:solidFill>
                <a:latin typeface="Noto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28032"/>
            <a:ext cx="2148840" cy="8412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4919472"/>
            <a:ext cx="1929384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77596"/>
                </a:solidFill>
                <a:latin typeface="Noto Sans"/>
              </a:rPr>
              <a:t>Datos
descriptivos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5010912"/>
            <a:ext cx="310896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596C82"/>
                </a:solidFill>
                <a:latin typeface="Noto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28032"/>
            <a:ext cx="2148840" cy="8412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919472"/>
            <a:ext cx="1929384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59753"/>
                </a:solidFill>
                <a:latin typeface="Noto Sans"/>
              </a:rPr>
              <a:t>Acero +
Algoritmo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5010912"/>
            <a:ext cx="310896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596C82"/>
                </a:solidFill>
                <a:latin typeface="Noto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828032"/>
            <a:ext cx="2148840" cy="8412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4919472"/>
            <a:ext cx="1929384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3AA484"/>
                </a:solidFill>
                <a:latin typeface="Noto Sans"/>
              </a:rPr>
              <a:t>Investigación
futura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016752"/>
            <a:ext cx="1042416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596C82"/>
                </a:solidFill>
                <a:latin typeface="Noto Sans"/>
              </a:rPr>
              <a:t>Mensaje final: transformar no significa reemplazar la identidad industrial, sino incorporar más capacidades digitales, automatización, datos e innovación.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ANEXO · Herramientas del curso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Úsalo si el profesor pregunta qué contenidos de los laboratorios aparecen en el trabajo.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155448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447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"/>
              </a:rPr>
              <a:t>Laboratorio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444752"/>
            <a:ext cx="365760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4447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Contenido aplicado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70448" y="1444752"/>
            <a:ext cx="512064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4447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Uso en el proyecto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901952"/>
            <a:ext cx="15544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019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0 · Pandas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901952"/>
            <a:ext cx="36576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19019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read_excel, head, info, filtros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1901952"/>
            <a:ext cx="512064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19019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Carga, revisión y preparación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59152"/>
            <a:ext cx="1554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3591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1 · Conceptos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12848" y="2359152"/>
            <a:ext cx="36576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4288" y="23591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población, muestra, tipos de variables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70448" y="2359152"/>
            <a:ext cx="51206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1888" y="23591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Definición de unidades de análisis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816352"/>
            <a:ext cx="15544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8163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2 · Frecuencias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12848" y="2816352"/>
            <a:ext cx="36576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04288" y="28163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groupby().size(), relativas, cumsum()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0448" y="2816352"/>
            <a:ext cx="512064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28163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Áreas, género, edad y arancel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273552"/>
            <a:ext cx="1554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2735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3 · Gráficos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12848" y="3273552"/>
            <a:ext cx="36576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04288" y="32735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barras y subplots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70448" y="3273552"/>
            <a:ext cx="51206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1888" y="32735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Distribuciones y comparación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3730752"/>
            <a:ext cx="15544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7307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4 · Tendencia y percentiles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3730752"/>
            <a:ext cx="36576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04288" y="37307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mean, median, mode, quantile, crosstab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8" y="3730752"/>
            <a:ext cx="512064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37307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Preguntas 1, 2 y P90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187952"/>
            <a:ext cx="1554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1879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5 · Dispersión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12848" y="4187952"/>
            <a:ext cx="36576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04288" y="41879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rango, std, CV, agg, isin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70448" y="4187952"/>
            <a:ext cx="51206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61888" y="41879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Dispersión general y comparaciones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ANEXO · Preguntas probables del profesor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Respuestas cortas que debes poder explicar con tus propias palabras.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5074920" cy="128016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46451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0E2D4B"/>
                </a:solidFill>
                <a:latin typeface="Noto Sans"/>
              </a:rPr>
              <a:t>¿Por qué usamos mediana?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645152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596C82"/>
                </a:solidFill>
                <a:latin typeface="Noto Sans"/>
              </a:rPr>
              <a:t>Porque los valores extremos afectan menos a la mediana y representa mejor un valor típico.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81328"/>
            <a:ext cx="5074920" cy="128016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46451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0E2D4B"/>
                </a:solidFill>
                <a:latin typeface="Noto Sans"/>
              </a:rPr>
              <a:t>¿Por qué eliminamos ofertas repetidas?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84248"/>
            <a:ext cx="4645152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596C82"/>
                </a:solidFill>
                <a:latin typeface="Noto Sans"/>
              </a:rPr>
              <a:t>Para que una carrera con muchos estudiantes no repita su precio cientos de veces.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035808"/>
            <a:ext cx="5074920" cy="128016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46451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0E2D4B"/>
                </a:solidFill>
                <a:latin typeface="Noto Sans"/>
              </a:rPr>
              <a:t>¿Qué significa 2,9 : 1?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38728"/>
            <a:ext cx="4645152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596C82"/>
                </a:solidFill>
                <a:latin typeface="Noto Sans"/>
              </a:rPr>
              <a:t>Aproximadamente 2,9 matrículas productivas por cada matrícula transformadora.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035808"/>
            <a:ext cx="5074920" cy="128016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82112"/>
            <a:ext cx="46451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0E2D4B"/>
                </a:solidFill>
                <a:latin typeface="Noto Sans"/>
              </a:rPr>
              <a:t>¿Edad causa el tipo de institución?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38728"/>
            <a:ext cx="4645152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596C82"/>
                </a:solidFill>
                <a:latin typeface="Noto Sans"/>
              </a:rPr>
              <a:t>No. Solo observamos una asociación descriptiva entre los grupos.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590288"/>
            <a:ext cx="5074920" cy="128016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36592"/>
            <a:ext cx="46451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0E2D4B"/>
                </a:solidFill>
                <a:latin typeface="Noto Sans"/>
              </a:rPr>
              <a:t>¿Por qué usamos P90?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93207"/>
            <a:ext cx="4645152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596C82"/>
                </a:solidFill>
                <a:latin typeface="Noto Sans"/>
              </a:rPr>
              <a:t>Porque necesitábamos un umbral reproducible y P90 usa percentiles trabajados en el Laboratorio 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590288"/>
            <a:ext cx="5074920" cy="128016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36592"/>
            <a:ext cx="46451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0E2D4B"/>
                </a:solidFill>
                <a:latin typeface="Noto Sans"/>
              </a:rPr>
              <a:t>¿Qué demuestra el notebook?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93207"/>
            <a:ext cx="4645152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596C82"/>
                </a:solidFill>
                <a:latin typeface="Noto Sans"/>
              </a:rPr>
              <a:t>Patrones, diferencias y asociaciones en 2021; no causalidad ni evolución temporal.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ANEXO · Conceptos clave para la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No memorices definiciones largas: entiende qué mide cada concepto y dónde lo usamos.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09344"/>
            <a:ext cx="5010912" cy="1700784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1792224"/>
            <a:ext cx="196596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18928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Frecuencia relativa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267712"/>
            <a:ext cx="4553712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30" b="1">
                <a:solidFill>
                  <a:srgbClr val="0E2D4B"/>
                </a:solidFill>
                <a:latin typeface="Noto Sans"/>
              </a:rPr>
              <a:t>hi = fi / N ×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651760"/>
            <a:ext cx="455371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596C82"/>
                </a:solidFill>
                <a:latin typeface="Noto Sans"/>
              </a:rPr>
              <a:t>Porcentaje que representa una categoría respecto del total.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09344"/>
            <a:ext cx="5010912" cy="1700784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7376" y="1792224"/>
            <a:ext cx="196596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10512"/>
            <a:ext cx="18928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Mediana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267712"/>
            <a:ext cx="4553712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30" b="1">
                <a:solidFill>
                  <a:srgbClr val="0E2D4B"/>
                </a:solidFill>
                <a:latin typeface="Noto Sans"/>
              </a:rPr>
              <a:t>valor central ordenado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651760"/>
            <a:ext cx="455371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596C82"/>
                </a:solidFill>
                <a:latin typeface="Noto Sans"/>
              </a:rPr>
              <a:t>Representa el centro y es menos sensible a valores extremos.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621024"/>
            <a:ext cx="5010912" cy="1700784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" y="3803904"/>
            <a:ext cx="196596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822191"/>
            <a:ext cx="18928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Percentil 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4279392"/>
            <a:ext cx="4553712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30" b="1">
                <a:solidFill>
                  <a:srgbClr val="0E2D4B"/>
                </a:solidFill>
                <a:latin typeface="Noto Sans"/>
              </a:rPr>
              <a:t>quantile(0.90)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4663440"/>
            <a:ext cx="455371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596C82"/>
                </a:solidFill>
                <a:latin typeface="Noto Sans"/>
              </a:rPr>
              <a:t>Deja aproximadamente 90% de los datos en o bajo ese valor.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621024"/>
            <a:ext cx="5010912" cy="1700784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37376" y="3803904"/>
            <a:ext cx="1965960" cy="310896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822191"/>
            <a:ext cx="18928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Desviación estándar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279392"/>
            <a:ext cx="4553712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30" b="1">
                <a:solidFill>
                  <a:srgbClr val="0E2D4B"/>
                </a:solidFill>
                <a:latin typeface="Noto Sans"/>
              </a:rPr>
              <a:t>std()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663440"/>
            <a:ext cx="4553712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596C82"/>
                </a:solidFill>
                <a:latin typeface="Noto Sans"/>
              </a:rPr>
              <a:t>Mide cuánto se alejan los valores respecto de la media.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559552"/>
            <a:ext cx="10497312" cy="676656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5559552"/>
            <a:ext cx="32004" cy="676656"/>
          </a:xfrm>
          <a:prstGeom prst="rect">
            <a:avLst/>
          </a:prstGeom>
          <a:solidFill>
            <a:srgbClr val="E8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7" y="5669280"/>
            <a:ext cx="10085832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REGLA DE ORO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5907024"/>
            <a:ext cx="10085832" cy="256031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Resultado observado ≠ causa demostrada. En la defensa, usa “se observa”, “se asocia” o “la base muestra”.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ANEXO · Clasificación de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Noto San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Clasificamos las variables principales según el criterio trabajado en el Laboratorio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21808" cy="431596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321808" cy="431596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37360"/>
            <a:ext cx="44805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50" b="1">
                <a:solidFill>
                  <a:srgbClr val="0E2D4B"/>
                </a:solidFill>
                <a:latin typeface="Noto Sans"/>
              </a:rPr>
              <a:t>VARIABLES CUALITATIVAS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737360"/>
            <a:ext cx="44805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50" b="1">
                <a:solidFill>
                  <a:srgbClr val="0E2D4B"/>
                </a:solidFill>
                <a:latin typeface="Noto Sans"/>
              </a:rPr>
              <a:t>VARIABLES CUANTITATIVAS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212848"/>
            <a:ext cx="105156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231136"/>
            <a:ext cx="9784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Nominal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194560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GÉNERO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2743200"/>
            <a:ext cx="105156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761488"/>
            <a:ext cx="9784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Ordinal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724912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RANGO EDAD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273552"/>
            <a:ext cx="105156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291840"/>
            <a:ext cx="9784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Nominal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255264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TIPO DE INSTITUCIÓN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3803904"/>
            <a:ext cx="105156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822191"/>
            <a:ext cx="9784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Nominal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785616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NOMBRE CARRERA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4334256"/>
            <a:ext cx="105156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352544"/>
            <a:ext cx="9784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Nominal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315968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ÁREA DEL CONOCIMIENTO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" y="4864608"/>
            <a:ext cx="105156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882896"/>
            <a:ext cx="978407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Nominal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846320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PROVINCIA SEDE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2212848"/>
            <a:ext cx="114300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231136"/>
            <a:ext cx="10698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Continua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194560"/>
            <a:ext cx="324612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EDAD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2926080"/>
            <a:ext cx="1143000" cy="310896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944368"/>
            <a:ext cx="10698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Discreta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907792"/>
            <a:ext cx="324612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AÑO INGRESO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73952" y="3639312"/>
            <a:ext cx="114300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657600"/>
            <a:ext cx="10698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Continua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3621024"/>
            <a:ext cx="324612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DURACIÓN TOTAL (SEMESTRES)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3952" y="4352544"/>
            <a:ext cx="114300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370831"/>
            <a:ext cx="10698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Continua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334256"/>
            <a:ext cx="324612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40" b="1">
                <a:solidFill>
                  <a:srgbClr val="243B54"/>
                </a:solidFill>
                <a:latin typeface="Noto Sans"/>
              </a:rPr>
              <a:t>VALOR ARANCEL (PESOS)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3952" y="5074920"/>
            <a:ext cx="4709160" cy="56692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73952" y="5074920"/>
            <a:ext cx="32004" cy="566928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2552" y="5184648"/>
            <a:ext cx="42976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CLAVE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5422392"/>
            <a:ext cx="4297680" cy="146303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Nominal: sin orden · Ordinal: con orden · Discreta: valores contables · Continua: medida en una escala.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916168"/>
            <a:ext cx="10863072" cy="43891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5916168"/>
            <a:ext cx="32004" cy="43891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" y="6025896"/>
            <a:ext cx="10451592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CRITERIO DEL CURSO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6263640"/>
            <a:ext cx="10451592" cy="1828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Seguimos el criterio de los laboratorios del profesor: por ejemplo, Edad se clasifica como cuantitativa continua.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