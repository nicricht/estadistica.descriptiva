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OVER"/>
          <p:cNvSpPr/>
          <p:nvPr/>
        </p:nvSpPr>
        <p:spPr>
          <a:xfrm>
            <a:off x="685800" y="777240"/>
            <a:ext cx="5303520" cy="18288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813816" y="868680"/>
            <a:ext cx="5047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ESTADÍSTICA DESCRIPTIVA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813816" y="1124712"/>
            <a:ext cx="504748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F6F9FC"/>
                </a:solidFill>
                <a:latin typeface="Aptos"/>
              </a:rPr>
              <a:t>EDUCACIÓN SUPERIOR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813816" y="2340864"/>
            <a:ext cx="504748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Biobío 2021</a:t>
            </a:r>
          </a:p>
        </p:txBody>
      </p:sp>
      <p:sp>
        <p:nvSpPr>
          <p:cNvPr id="8" name="!!QUESTION"/>
          <p:cNvSpPr txBox="1"/>
          <p:nvPr/>
        </p:nvSpPr>
        <p:spPr>
          <a:xfrm>
            <a:off x="822960" y="36576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Aplicación de los contenidos de los laboratorios 0 al 5 del profesor.</a:t>
            </a:r>
          </a:p>
        </p:txBody>
      </p:sp>
      <p:sp>
        <p:nvSpPr>
          <p:cNvPr id="9" name="!!NOTE"/>
          <p:cNvSpPr/>
          <p:nvPr/>
        </p:nvSpPr>
        <p:spPr>
          <a:xfrm>
            <a:off x="822960" y="4709160"/>
            <a:ext cx="8595360" cy="502920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914400" y="4818888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Metodología: Pandas, frecuencias, gráficos, tendencia central, percentiles y dispersión.</a:t>
            </a:r>
          </a:p>
        </p:txBody>
      </p:sp>
      <p:sp>
        <p:nvSpPr>
          <p:cNvPr id="11" name="Oval 10"/>
          <p:cNvSpPr/>
          <p:nvPr/>
        </p:nvSpPr>
        <p:spPr>
          <a:xfrm>
            <a:off x="1115568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BASE DE DATOS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Carga y filtro de la información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Laboratorio 0: Pandas, exploración y filtros.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1545336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D0"/>
          <p:cNvSpPr/>
          <p:nvPr/>
        </p:nvSpPr>
        <p:spPr>
          <a:xfrm>
            <a:off x="914400" y="1828800"/>
            <a:ext cx="283464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042416" y="1920240"/>
            <a:ext cx="2578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ORIGINAL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042416" y="2176272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6F9FC"/>
                </a:solidFill>
                <a:latin typeface="Aptos"/>
              </a:rPr>
              <a:t>106.555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42416" y="2935224"/>
            <a:ext cx="25786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registros</a:t>
            </a:r>
          </a:p>
        </p:txBody>
      </p:sp>
      <p:sp>
        <p:nvSpPr>
          <p:cNvPr id="25" name="!!D1"/>
          <p:cNvSpPr/>
          <p:nvPr/>
        </p:nvSpPr>
        <p:spPr>
          <a:xfrm>
            <a:off x="4297680" y="1828800"/>
            <a:ext cx="283464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425696" y="1920240"/>
            <a:ext cx="2578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PREGRADO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425696" y="2176272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6F9FC"/>
                </a:solidFill>
                <a:latin typeface="Aptos"/>
              </a:rPr>
              <a:t>101.093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425696" y="2935224"/>
            <a:ext cx="25786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matrículas</a:t>
            </a:r>
          </a:p>
        </p:txBody>
      </p:sp>
      <p:sp>
        <p:nvSpPr>
          <p:cNvPr id="29" name="!!D2"/>
          <p:cNvSpPr/>
          <p:nvPr/>
        </p:nvSpPr>
        <p:spPr>
          <a:xfrm>
            <a:off x="7680960" y="1828800"/>
            <a:ext cx="283464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7808976" y="1920240"/>
            <a:ext cx="2578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ARANCEL &gt; 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808976" y="2176272"/>
            <a:ext cx="257860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6F9FC"/>
                </a:solidFill>
                <a:latin typeface="Aptos"/>
              </a:rPr>
              <a:t>101.067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808976" y="2935224"/>
            <a:ext cx="25786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matrículas</a:t>
            </a:r>
          </a:p>
        </p:txBody>
      </p:sp>
      <p:sp>
        <p:nvSpPr>
          <p:cNvPr id="33" name="!!F0"/>
          <p:cNvSpPr/>
          <p:nvPr/>
        </p:nvSpPr>
        <p:spPr>
          <a:xfrm>
            <a:off x="914400" y="4023360"/>
            <a:ext cx="22402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950976" y="409194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read_excel()</a:t>
            </a:r>
          </a:p>
        </p:txBody>
      </p:sp>
      <p:sp>
        <p:nvSpPr>
          <p:cNvPr id="35" name="!!F1"/>
          <p:cNvSpPr/>
          <p:nvPr/>
        </p:nvSpPr>
        <p:spPr>
          <a:xfrm>
            <a:off x="3520440" y="4023360"/>
            <a:ext cx="22402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557016" y="409194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head()</a:t>
            </a:r>
          </a:p>
        </p:txBody>
      </p:sp>
      <p:sp>
        <p:nvSpPr>
          <p:cNvPr id="37" name="!!F2"/>
          <p:cNvSpPr/>
          <p:nvPr/>
        </p:nvSpPr>
        <p:spPr>
          <a:xfrm>
            <a:off x="6126480" y="4023360"/>
            <a:ext cx="22402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6163056" y="409194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tail()</a:t>
            </a:r>
          </a:p>
        </p:txBody>
      </p:sp>
      <p:sp>
        <p:nvSpPr>
          <p:cNvPr id="39" name="!!F3"/>
          <p:cNvSpPr/>
          <p:nvPr/>
        </p:nvSpPr>
        <p:spPr>
          <a:xfrm>
            <a:off x="8732520" y="4023360"/>
            <a:ext cx="2240280" cy="329184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8769096" y="409194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shape</a:t>
            </a:r>
          </a:p>
        </p:txBody>
      </p:sp>
      <p:sp>
        <p:nvSpPr>
          <p:cNvPr id="41" name="!!F4"/>
          <p:cNvSpPr/>
          <p:nvPr/>
        </p:nvSpPr>
        <p:spPr>
          <a:xfrm>
            <a:off x="914400" y="4572000"/>
            <a:ext cx="224028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950976" y="464058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info()</a:t>
            </a:r>
          </a:p>
        </p:txBody>
      </p:sp>
      <p:sp>
        <p:nvSpPr>
          <p:cNvPr id="43" name="!!F5"/>
          <p:cNvSpPr/>
          <p:nvPr/>
        </p:nvSpPr>
        <p:spPr>
          <a:xfrm>
            <a:off x="3520440" y="4572000"/>
            <a:ext cx="224028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3557016" y="464058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value_counts()</a:t>
            </a:r>
          </a:p>
        </p:txBody>
      </p:sp>
      <p:sp>
        <p:nvSpPr>
          <p:cNvPr id="45" name="!!F6"/>
          <p:cNvSpPr/>
          <p:nvPr/>
        </p:nvSpPr>
        <p:spPr>
          <a:xfrm>
            <a:off x="6126480" y="4572000"/>
            <a:ext cx="2240280" cy="329184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6163056" y="4640580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" b="1">
                <a:solidFill>
                  <a:srgbClr val="F6F9FC"/>
                </a:solidFill>
                <a:latin typeface="Aptos"/>
              </a:rPr>
              <a:t>isin()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TABLAS DE FRECUENCIA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¿Cómo se distribuyen las matrículas?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Laboratorio 2: frecuencia absoluta, relativa y acumulada.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1975104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AREA0"/>
          <p:cNvSpPr/>
          <p:nvPr/>
        </p:nvSpPr>
        <p:spPr>
          <a:xfrm>
            <a:off x="640080" y="2018995"/>
            <a:ext cx="737419" cy="2187244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585215" y="1790395"/>
            <a:ext cx="8471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27,6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4251959"/>
            <a:ext cx="9568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Tecnol.</a:t>
            </a:r>
          </a:p>
        </p:txBody>
      </p:sp>
      <p:sp>
        <p:nvSpPr>
          <p:cNvPr id="24" name="!!AREA1"/>
          <p:cNvSpPr/>
          <p:nvPr/>
        </p:nvSpPr>
        <p:spPr>
          <a:xfrm>
            <a:off x="1918273" y="2280513"/>
            <a:ext cx="737419" cy="1925726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863409" y="2051913"/>
            <a:ext cx="8471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24,3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808545" y="4251959"/>
            <a:ext cx="9568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Salud</a:t>
            </a:r>
          </a:p>
        </p:txBody>
      </p:sp>
      <p:sp>
        <p:nvSpPr>
          <p:cNvPr id="27" name="!!AREA2"/>
          <p:cNvSpPr/>
          <p:nvPr/>
        </p:nvSpPr>
        <p:spPr>
          <a:xfrm>
            <a:off x="3196467" y="3144316"/>
            <a:ext cx="737419" cy="1061923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3141603" y="2915716"/>
            <a:ext cx="8471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13,4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086739" y="4251959"/>
            <a:ext cx="9568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Adm.</a:t>
            </a:r>
          </a:p>
        </p:txBody>
      </p:sp>
      <p:sp>
        <p:nvSpPr>
          <p:cNvPr id="30" name="!!AREA3"/>
          <p:cNvSpPr/>
          <p:nvPr/>
        </p:nvSpPr>
        <p:spPr>
          <a:xfrm>
            <a:off x="4474660" y="3302812"/>
            <a:ext cx="737419" cy="903427"/>
          </a:xfrm>
          <a:prstGeom prst="roundRect">
            <a:avLst/>
          </a:prstGeom>
          <a:solidFill>
            <a:srgbClr val="58D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4419796" y="3074212"/>
            <a:ext cx="8471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11,4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364932" y="4251959"/>
            <a:ext cx="9568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Educ.</a:t>
            </a:r>
          </a:p>
        </p:txBody>
      </p:sp>
      <p:sp>
        <p:nvSpPr>
          <p:cNvPr id="33" name="!!GEN1"/>
          <p:cNvSpPr/>
          <p:nvPr/>
        </p:nvSpPr>
        <p:spPr>
          <a:xfrm>
            <a:off x="5669280" y="1828800"/>
            <a:ext cx="228600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5797296" y="1920240"/>
            <a:ext cx="202996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FEMENINO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797296" y="2176272"/>
            <a:ext cx="202996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54,3%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797296" y="2843784"/>
            <a:ext cx="202996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54.881 matrículas</a:t>
            </a:r>
          </a:p>
        </p:txBody>
      </p:sp>
      <p:sp>
        <p:nvSpPr>
          <p:cNvPr id="37" name="!!GEN2"/>
          <p:cNvSpPr/>
          <p:nvPr/>
        </p:nvSpPr>
        <p:spPr>
          <a:xfrm>
            <a:off x="8321040" y="1828800"/>
            <a:ext cx="228600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8449056" y="1920240"/>
            <a:ext cx="202996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MASCULINO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449056" y="2176272"/>
            <a:ext cx="202996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45,7%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8449056" y="2843784"/>
            <a:ext cx="202996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46.212 matrículas</a:t>
            </a:r>
          </a:p>
        </p:txBody>
      </p:sp>
      <p:sp>
        <p:nvSpPr>
          <p:cNvPr id="41" name="!!NOTE"/>
          <p:cNvSpPr/>
          <p:nvPr/>
        </p:nvSpPr>
        <p:spPr>
          <a:xfrm>
            <a:off x="5669280" y="3703320"/>
            <a:ext cx="493776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5760720" y="38130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Herramientas: groupby().size(), pd.cut(), cumsum().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MEDIDAS DESCRIPTIVAS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Tendencia central, percentiles y dispersión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Laboratorios 4 y 5.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2404872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M0"/>
          <p:cNvSpPr/>
          <p:nvPr/>
        </p:nvSpPr>
        <p:spPr>
          <a:xfrm>
            <a:off x="685800" y="182880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1381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MEDIA ARANCEL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381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$3.224.895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3816" y="288950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mean()</a:t>
            </a:r>
          </a:p>
        </p:txBody>
      </p:sp>
      <p:sp>
        <p:nvSpPr>
          <p:cNvPr id="25" name="!!M1"/>
          <p:cNvSpPr/>
          <p:nvPr/>
        </p:nvSpPr>
        <p:spPr>
          <a:xfrm>
            <a:off x="4343400" y="182880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47141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MEDIANA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47141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$3.133.750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471416" y="288950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median()</a:t>
            </a:r>
          </a:p>
        </p:txBody>
      </p:sp>
      <p:sp>
        <p:nvSpPr>
          <p:cNvPr id="29" name="!!M2"/>
          <p:cNvSpPr/>
          <p:nvPr/>
        </p:nvSpPr>
        <p:spPr>
          <a:xfrm>
            <a:off x="8001000" y="182880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8129016" y="19202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MODA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129016" y="21762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$3.373.000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129016" y="288950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mode()</a:t>
            </a:r>
          </a:p>
        </p:txBody>
      </p:sp>
      <p:sp>
        <p:nvSpPr>
          <p:cNvPr id="33" name="!!M3"/>
          <p:cNvSpPr/>
          <p:nvPr/>
        </p:nvSpPr>
        <p:spPr>
          <a:xfrm>
            <a:off x="685800" y="347472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58D6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813816" y="356616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58D68D"/>
                </a:solidFill>
                <a:latin typeface="Aptos"/>
              </a:rPr>
              <a:t>P25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13816" y="3822191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$1.988.000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13816" y="45354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quantile(.25)</a:t>
            </a:r>
          </a:p>
        </p:txBody>
      </p:sp>
      <p:sp>
        <p:nvSpPr>
          <p:cNvPr id="37" name="!!M4"/>
          <p:cNvSpPr/>
          <p:nvPr/>
        </p:nvSpPr>
        <p:spPr>
          <a:xfrm>
            <a:off x="4343400" y="347472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4471416" y="356616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P75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4471416" y="3822191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$4.261.900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4471416" y="45354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quantile(.75)</a:t>
            </a:r>
          </a:p>
        </p:txBody>
      </p:sp>
      <p:sp>
        <p:nvSpPr>
          <p:cNvPr id="41" name="!!M5"/>
          <p:cNvSpPr/>
          <p:nvPr/>
        </p:nvSpPr>
        <p:spPr>
          <a:xfrm>
            <a:off x="8001000" y="3474720"/>
            <a:ext cx="3154680" cy="132588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8129016" y="356616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CV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129016" y="3822191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47,1%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8129016" y="453542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std / mean × 100</a:t>
            </a:r>
          </a:p>
        </p:txBody>
      </p:sp>
      <p:sp>
        <p:nvSpPr>
          <p:cNvPr id="45" name="!!NOTE"/>
          <p:cNvSpPr/>
          <p:nvPr/>
        </p:nvSpPr>
        <p:spPr>
          <a:xfrm>
            <a:off x="2103120" y="5166360"/>
            <a:ext cx="7955279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2194560" y="527608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Lab 5: máximo, mínimo, rango, desviación estándar y coeficiente de variación.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1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¿Hay áreas donde las carreras sean más caras?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Usamos groupby(), agg(), media y mediana.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2834639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P10"/>
          <p:cNvSpPr/>
          <p:nvPr/>
        </p:nvSpPr>
        <p:spPr>
          <a:xfrm>
            <a:off x="685800" y="2049873"/>
            <a:ext cx="825909" cy="2339246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630936" y="1821273"/>
            <a:ext cx="93563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4,751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76072" y="4434840"/>
            <a:ext cx="104536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Agro</a:t>
            </a:r>
          </a:p>
        </p:txBody>
      </p:sp>
      <p:sp>
        <p:nvSpPr>
          <p:cNvPr id="24" name="!!P11"/>
          <p:cNvSpPr/>
          <p:nvPr/>
        </p:nvSpPr>
        <p:spPr>
          <a:xfrm>
            <a:off x="2079522" y="2296550"/>
            <a:ext cx="825909" cy="2092569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2024658" y="2067950"/>
            <a:ext cx="93563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4,25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969794" y="4434840"/>
            <a:ext cx="104536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Derecho</a:t>
            </a:r>
          </a:p>
        </p:txBody>
      </p:sp>
      <p:sp>
        <p:nvSpPr>
          <p:cNvPr id="27" name="!!P12"/>
          <p:cNvSpPr/>
          <p:nvPr/>
        </p:nvSpPr>
        <p:spPr>
          <a:xfrm>
            <a:off x="3473245" y="2299997"/>
            <a:ext cx="825909" cy="2089122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3418381" y="2071397"/>
            <a:ext cx="93563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4,243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363517" y="4434840"/>
            <a:ext cx="104536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Salud</a:t>
            </a:r>
          </a:p>
        </p:txBody>
      </p:sp>
      <p:sp>
        <p:nvSpPr>
          <p:cNvPr id="30" name="!!P13"/>
          <p:cNvSpPr/>
          <p:nvPr/>
        </p:nvSpPr>
        <p:spPr>
          <a:xfrm>
            <a:off x="4866967" y="2348249"/>
            <a:ext cx="825909" cy="2040870"/>
          </a:xfrm>
          <a:prstGeom prst="roundRect">
            <a:avLst/>
          </a:prstGeom>
          <a:solidFill>
            <a:srgbClr val="58D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4812103" y="2119649"/>
            <a:ext cx="93563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4,145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757239" y="4434840"/>
            <a:ext cx="104536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Cs. Bás.</a:t>
            </a:r>
          </a:p>
        </p:txBody>
      </p:sp>
      <p:sp>
        <p:nvSpPr>
          <p:cNvPr id="33" name="!!P14"/>
          <p:cNvSpPr/>
          <p:nvPr/>
        </p:nvSpPr>
        <p:spPr>
          <a:xfrm>
            <a:off x="6260690" y="3249777"/>
            <a:ext cx="825909" cy="1139342"/>
          </a:xfrm>
          <a:prstGeom prst="roundRect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6205826" y="3021177"/>
            <a:ext cx="93563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2,314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150962" y="4434840"/>
            <a:ext cx="104536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Tecnol.</a:t>
            </a:r>
          </a:p>
        </p:txBody>
      </p:sp>
      <p:sp>
        <p:nvSpPr>
          <p:cNvPr id="36" name="!!P1A"/>
          <p:cNvSpPr/>
          <p:nvPr/>
        </p:nvSpPr>
        <p:spPr>
          <a:xfrm>
            <a:off x="7635240" y="1874519"/>
            <a:ext cx="315468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7763256" y="196596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MAYOR MEDIANA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763256" y="2221991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$4.751.078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763256" y="284378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Agropecuaria</a:t>
            </a:r>
          </a:p>
        </p:txBody>
      </p:sp>
      <p:sp>
        <p:nvSpPr>
          <p:cNvPr id="40" name="!!P1B"/>
          <p:cNvSpPr/>
          <p:nvPr/>
        </p:nvSpPr>
        <p:spPr>
          <a:xfrm>
            <a:off x="7635240" y="3429000"/>
            <a:ext cx="3154680" cy="123444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7763256" y="3520440"/>
            <a:ext cx="28986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SIGUIENTES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7763256" y="3776472"/>
            <a:ext cx="28986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Derecho · Salud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7763256" y="4398264"/>
            <a:ext cx="28986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≈ $4,25M</a:t>
            </a:r>
          </a:p>
        </p:txBody>
      </p:sp>
      <p:sp>
        <p:nvSpPr>
          <p:cNvPr id="44" name="!!NOTE"/>
          <p:cNvSpPr/>
          <p:nvPr/>
        </p:nvSpPr>
        <p:spPr>
          <a:xfrm>
            <a:off x="7635240" y="4983480"/>
            <a:ext cx="315468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7726679" y="5093208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Comparación descriptiva por mediana.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2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Edad y tipo de institución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Usamos groupby(), agg() y crosstab().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3264408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E1"/>
          <p:cNvSpPr/>
          <p:nvPr/>
        </p:nvSpPr>
        <p:spPr>
          <a:xfrm>
            <a:off x="731520" y="1828800"/>
            <a:ext cx="320040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59536" y="1920240"/>
            <a:ext cx="2944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15 A 19 AÑOS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59536" y="217627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6F9FC"/>
                </a:solidFill>
                <a:latin typeface="Aptos"/>
              </a:rPr>
              <a:t>46,2% CRUCH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59536" y="2935224"/>
            <a:ext cx="29443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19,3% IP</a:t>
            </a:r>
          </a:p>
        </p:txBody>
      </p:sp>
      <p:sp>
        <p:nvSpPr>
          <p:cNvPr id="25" name="!!E2"/>
          <p:cNvSpPr/>
          <p:nvPr/>
        </p:nvSpPr>
        <p:spPr>
          <a:xfrm>
            <a:off x="4480560" y="1828800"/>
            <a:ext cx="320040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608576" y="1920240"/>
            <a:ext cx="2944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40 AÑOS O MÁS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608576" y="2176272"/>
            <a:ext cx="294436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6F9FC"/>
                </a:solidFill>
                <a:latin typeface="Aptos"/>
              </a:rPr>
              <a:t>52,9% IP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608576" y="2935224"/>
            <a:ext cx="29443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10,9% CRUCH</a:t>
            </a:r>
          </a:p>
        </p:txBody>
      </p:sp>
      <p:sp>
        <p:nvSpPr>
          <p:cNvPr id="29" name="!!AGE0"/>
          <p:cNvSpPr/>
          <p:nvPr/>
        </p:nvSpPr>
        <p:spPr>
          <a:xfrm>
            <a:off x="914400" y="4261561"/>
            <a:ext cx="1061883" cy="950518"/>
          </a:xfrm>
          <a:prstGeom prst="roundRect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859536" y="4032961"/>
            <a:ext cx="117161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46,2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04672" y="5257799"/>
            <a:ext cx="12813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15–19 CRUCH</a:t>
            </a:r>
          </a:p>
        </p:txBody>
      </p:sp>
      <p:sp>
        <p:nvSpPr>
          <p:cNvPr id="32" name="!!AGE1"/>
          <p:cNvSpPr/>
          <p:nvPr/>
        </p:nvSpPr>
        <p:spPr>
          <a:xfrm>
            <a:off x="2754998" y="4815001"/>
            <a:ext cx="1061883" cy="397078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2700134" y="4586401"/>
            <a:ext cx="117161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19,3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2645270" y="5257799"/>
            <a:ext cx="12813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15–19 IP</a:t>
            </a:r>
          </a:p>
        </p:txBody>
      </p:sp>
      <p:sp>
        <p:nvSpPr>
          <p:cNvPr id="35" name="!!AGE2"/>
          <p:cNvSpPr/>
          <p:nvPr/>
        </p:nvSpPr>
        <p:spPr>
          <a:xfrm>
            <a:off x="4595597" y="4987823"/>
            <a:ext cx="1061883" cy="224256"/>
          </a:xfrm>
          <a:prstGeom prst="roundRect">
            <a:avLst/>
          </a:prstGeom>
          <a:solidFill>
            <a:srgbClr val="FF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4540733" y="4759223"/>
            <a:ext cx="117161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10,9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4485869" y="5257799"/>
            <a:ext cx="12813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40+ CRUCH</a:t>
            </a:r>
          </a:p>
        </p:txBody>
      </p:sp>
      <p:sp>
        <p:nvSpPr>
          <p:cNvPr id="38" name="!!AGE3"/>
          <p:cNvSpPr/>
          <p:nvPr/>
        </p:nvSpPr>
        <p:spPr>
          <a:xfrm>
            <a:off x="6436196" y="4123715"/>
            <a:ext cx="1061883" cy="1088364"/>
          </a:xfrm>
          <a:prstGeom prst="roundRect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6381332" y="3895115"/>
            <a:ext cx="1171611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6F9FC"/>
                </a:solidFill>
                <a:latin typeface="Aptos"/>
              </a:rPr>
              <a:t>52,9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326468" y="5257799"/>
            <a:ext cx="12813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B4C6D8"/>
                </a:solidFill>
                <a:latin typeface="Aptos"/>
              </a:rPr>
              <a:t>40+ IP</a:t>
            </a:r>
          </a:p>
        </p:txBody>
      </p:sp>
      <p:sp>
        <p:nvSpPr>
          <p:cNvPr id="41" name="!!NOTE"/>
          <p:cNvSpPr/>
          <p:nvPr/>
        </p:nvSpPr>
        <p:spPr>
          <a:xfrm>
            <a:off x="7955279" y="4069080"/>
            <a:ext cx="2971800" cy="502920"/>
          </a:xfrm>
          <a:prstGeom prst="roundRect">
            <a:avLst/>
          </a:prstGeom>
          <a:solidFill>
            <a:srgbClr val="FFBE50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8046719" y="4178808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Se describen frecuencias observadas en la base.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PREGUNTA 3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¿Hay carreras cuyo arancel sea más alto que la mayoría?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Usamos percentil 75, mediana, groupby() y agg().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5C7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3694176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Q3P"/>
          <p:cNvSpPr/>
          <p:nvPr/>
        </p:nvSpPr>
        <p:spPr>
          <a:xfrm>
            <a:off x="731520" y="1828800"/>
            <a:ext cx="292608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59536" y="1920240"/>
            <a:ext cx="2670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PERCENTIL 75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59536" y="2176272"/>
            <a:ext cx="2670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6F9FC"/>
                </a:solidFill>
                <a:latin typeface="Aptos"/>
              </a:rPr>
              <a:t>$4.261.900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59536" y="2935224"/>
            <a:ext cx="2670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quantile(0.75)</a:t>
            </a:r>
          </a:p>
        </p:txBody>
      </p:sp>
      <p:sp>
        <p:nvSpPr>
          <p:cNvPr id="25" name="!!Q30"/>
          <p:cNvSpPr/>
          <p:nvPr/>
        </p:nvSpPr>
        <p:spPr>
          <a:xfrm>
            <a:off x="4023360" y="1828800"/>
            <a:ext cx="292608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151376" y="1920240"/>
            <a:ext cx="2670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ODONTOLOGÍA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151376" y="2176272"/>
            <a:ext cx="2670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$7.625.300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151376" y="2843784"/>
            <a:ext cx="2670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mediana &gt; P75</a:t>
            </a:r>
          </a:p>
        </p:txBody>
      </p:sp>
      <p:sp>
        <p:nvSpPr>
          <p:cNvPr id="29" name="!!Q31"/>
          <p:cNvSpPr/>
          <p:nvPr/>
        </p:nvSpPr>
        <p:spPr>
          <a:xfrm>
            <a:off x="7406640" y="1828800"/>
            <a:ext cx="292608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7534656" y="1920240"/>
            <a:ext cx="2670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MEDICINA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534656" y="2176272"/>
            <a:ext cx="2670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$7.490.000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534656" y="2843784"/>
            <a:ext cx="2670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mediana &gt; P75</a:t>
            </a:r>
          </a:p>
        </p:txBody>
      </p:sp>
      <p:sp>
        <p:nvSpPr>
          <p:cNvPr id="33" name="!!Q32"/>
          <p:cNvSpPr/>
          <p:nvPr/>
        </p:nvSpPr>
        <p:spPr>
          <a:xfrm>
            <a:off x="4023360" y="3429000"/>
            <a:ext cx="292608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4151376" y="3520440"/>
            <a:ext cx="2670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LIC. MEDICINA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151376" y="3776472"/>
            <a:ext cx="2670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$6.750.000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4151376" y="4443984"/>
            <a:ext cx="2670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mediana &gt; P75</a:t>
            </a:r>
          </a:p>
        </p:txBody>
      </p:sp>
      <p:sp>
        <p:nvSpPr>
          <p:cNvPr id="37" name="!!Q33"/>
          <p:cNvSpPr/>
          <p:nvPr/>
        </p:nvSpPr>
        <p:spPr>
          <a:xfrm>
            <a:off x="7406640" y="3429000"/>
            <a:ext cx="2926080" cy="128016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7534656" y="3520440"/>
            <a:ext cx="2670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ING. CIVIL MINAS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534656" y="3776472"/>
            <a:ext cx="2670048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6F9FC"/>
                </a:solidFill>
                <a:latin typeface="Aptos"/>
              </a:rPr>
              <a:t>$6.050.705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534656" y="4443984"/>
            <a:ext cx="2670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mediana &gt; P75</a:t>
            </a:r>
          </a:p>
        </p:txBody>
      </p:sp>
      <p:sp>
        <p:nvSpPr>
          <p:cNvPr id="41" name="!!NOTE"/>
          <p:cNvSpPr/>
          <p:nvPr/>
        </p:nvSpPr>
        <p:spPr>
          <a:xfrm>
            <a:off x="914400" y="4754880"/>
            <a:ext cx="996696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1005840" y="4864608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P75 deja al 75% de los datos a lo más en $4.261.900; revisamos carreras con mediana superior.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QUÉ HICIMOS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Métodos utilizados en el trabajo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Cada uno aparece en los laboratorios del profesor.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4123944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K0"/>
          <p:cNvSpPr/>
          <p:nvPr/>
        </p:nvSpPr>
        <p:spPr>
          <a:xfrm>
            <a:off x="685800" y="1737360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13816" y="182880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PANDAS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3816" y="208483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read_excel · head · tail</a:t>
            </a:r>
          </a:p>
        </p:txBody>
      </p:sp>
      <p:sp>
        <p:nvSpPr>
          <p:cNvPr id="24" name="!!K1"/>
          <p:cNvSpPr/>
          <p:nvPr/>
        </p:nvSpPr>
        <p:spPr>
          <a:xfrm>
            <a:off x="4389120" y="1737360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4517136" y="182880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FRECUENCIAS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517136" y="208483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groupby · size · cut · cumsum</a:t>
            </a:r>
          </a:p>
        </p:txBody>
      </p:sp>
      <p:sp>
        <p:nvSpPr>
          <p:cNvPr id="27" name="!!K2"/>
          <p:cNvSpPr/>
          <p:nvPr/>
        </p:nvSpPr>
        <p:spPr>
          <a:xfrm>
            <a:off x="8092440" y="1737360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8220456" y="182880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GRÁFICOS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0456" y="208483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bar · subplots</a:t>
            </a:r>
          </a:p>
        </p:txBody>
      </p:sp>
      <p:sp>
        <p:nvSpPr>
          <p:cNvPr id="30" name="!!K3"/>
          <p:cNvSpPr/>
          <p:nvPr/>
        </p:nvSpPr>
        <p:spPr>
          <a:xfrm>
            <a:off x="685800" y="3063239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813816" y="3154679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TENDENCIA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13816" y="341071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mean · median · mode</a:t>
            </a:r>
          </a:p>
        </p:txBody>
      </p:sp>
      <p:sp>
        <p:nvSpPr>
          <p:cNvPr id="33" name="!!K4"/>
          <p:cNvSpPr/>
          <p:nvPr/>
        </p:nvSpPr>
        <p:spPr>
          <a:xfrm>
            <a:off x="4389120" y="3063239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4517136" y="3154679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PERCENTILES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517136" y="341071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quantile</a:t>
            </a:r>
          </a:p>
        </p:txBody>
      </p:sp>
      <p:sp>
        <p:nvSpPr>
          <p:cNvPr id="36" name="!!K5"/>
          <p:cNvSpPr/>
          <p:nvPr/>
        </p:nvSpPr>
        <p:spPr>
          <a:xfrm>
            <a:off x="8092440" y="3063239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8220456" y="3154679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BIVARIADO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220456" y="3410711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crosstab · agg</a:t>
            </a:r>
          </a:p>
        </p:txBody>
      </p:sp>
      <p:sp>
        <p:nvSpPr>
          <p:cNvPr id="39" name="!!K6"/>
          <p:cNvSpPr/>
          <p:nvPr/>
        </p:nvSpPr>
        <p:spPr>
          <a:xfrm>
            <a:off x="685800" y="4389120"/>
            <a:ext cx="3246120" cy="105156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813816" y="4480559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DISPERSIÓN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13816" y="4736592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6F9FC"/>
                </a:solidFill>
                <a:latin typeface="Aptos"/>
              </a:rPr>
              <a:t>max · min · std · CV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CONCLUSIONES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Resultados descriptivos principales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No agregamos técnicas fuera de los laboratorios.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4553712" y="5559552"/>
            <a:ext cx="201168" cy="201168"/>
          </a:xfrm>
          <a:prstGeom prst="ellipse">
            <a:avLst/>
          </a:prstGeom>
          <a:solidFill>
            <a:srgbClr val="FF8420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C1"/>
          <p:cNvSpPr/>
          <p:nvPr/>
        </p:nvSpPr>
        <p:spPr>
          <a:xfrm>
            <a:off x="685800" y="1828800"/>
            <a:ext cx="324612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813816" y="192024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8420"/>
                </a:solidFill>
                <a:latin typeface="Aptos"/>
              </a:rPr>
              <a:t>ÁREAS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13816" y="2176272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Agropecuaria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13816" y="2935224"/>
            <a:ext cx="299008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mayor mediana de arancel</a:t>
            </a:r>
          </a:p>
        </p:txBody>
      </p:sp>
      <p:sp>
        <p:nvSpPr>
          <p:cNvPr id="25" name="!!C2"/>
          <p:cNvSpPr/>
          <p:nvPr/>
        </p:nvSpPr>
        <p:spPr>
          <a:xfrm>
            <a:off x="4480560" y="1828800"/>
            <a:ext cx="324612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608576" y="192024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26DAFF"/>
                </a:solidFill>
                <a:latin typeface="Aptos"/>
              </a:rPr>
              <a:t>EDAD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608576" y="2176272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Patrones distintos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608576" y="2935224"/>
            <a:ext cx="299008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según institución</a:t>
            </a:r>
          </a:p>
        </p:txBody>
      </p:sp>
      <p:sp>
        <p:nvSpPr>
          <p:cNvPr id="29" name="!!C3"/>
          <p:cNvSpPr/>
          <p:nvPr/>
        </p:nvSpPr>
        <p:spPr>
          <a:xfrm>
            <a:off x="8275320" y="1828800"/>
            <a:ext cx="3246120" cy="1371600"/>
          </a:xfrm>
          <a:prstGeom prst="roundRect">
            <a:avLst/>
          </a:prstGeom>
          <a:solidFill>
            <a:srgbClr val="0A1B2E"/>
          </a:solidFill>
          <a:ln>
            <a:solidFill>
              <a:srgbClr val="FFB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8403336" y="1920240"/>
            <a:ext cx="299008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FFBE50"/>
                </a:solidFill>
                <a:latin typeface="Aptos"/>
              </a:rPr>
              <a:t>P75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403336" y="2176272"/>
            <a:ext cx="2990087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6F9FC"/>
                </a:solidFill>
                <a:latin typeface="Aptos"/>
              </a:rPr>
              <a:t>$4.261.900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403336" y="2935224"/>
            <a:ext cx="2990087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B4C6D8"/>
                </a:solidFill>
                <a:latin typeface="Aptos"/>
              </a:rPr>
              <a:t>referencia del 25% superior</a:t>
            </a:r>
          </a:p>
        </p:txBody>
      </p:sp>
      <p:sp>
        <p:nvSpPr>
          <p:cNvPr id="33" name="!!NOTE"/>
          <p:cNvSpPr/>
          <p:nvPr/>
        </p:nvSpPr>
        <p:spPr>
          <a:xfrm>
            <a:off x="1234440" y="4206240"/>
            <a:ext cx="9601200" cy="502920"/>
          </a:xfrm>
          <a:prstGeom prst="roundRect">
            <a:avLst/>
          </a:prstGeom>
          <a:solidFill>
            <a:srgbClr val="26DAFF"/>
          </a:solidFill>
          <a:ln>
            <a:solidFill>
              <a:srgbClr val="26D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1325880" y="4315968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El trabajo describe la base 2021 mediante frecuencias, gráficos, medidas descriptivas y percentiles.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Base de matrículas de Educación Superior del Biobío 2021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02920" y="292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DAFF"/>
                </a:solidFill>
                <a:latin typeface="Aptos"/>
              </a:rPr>
              <a:t>CIERRE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02920" y="566928"/>
            <a:ext cx="104241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6F9FC"/>
                </a:solidFill>
                <a:latin typeface="Aptos"/>
              </a:rPr>
              <a:t>Cómo explicar el proyecto en una frase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521207" y="1170432"/>
            <a:ext cx="10149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C6D8"/>
                </a:solidFill>
                <a:latin typeface="Aptos"/>
              </a:rPr>
              <a:t>La defensa debe poder vincular cada paso con un laboratorio del profesor.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1155680" y="36576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B4C6D8"/>
                </a:solidFill>
                <a:latin typeface="Aptos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256031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BASE</a:t>
            </a:r>
          </a:p>
        </p:txBody>
      </p:sp>
      <p:sp>
        <p:nvSpPr>
          <p:cNvPr id="10" name="Oval 9"/>
          <p:cNvSpPr/>
          <p:nvPr/>
        </p:nvSpPr>
        <p:spPr>
          <a:xfrm>
            <a:off x="2395728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2103120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FRECUENCIAS</a:t>
            </a:r>
          </a:p>
        </p:txBody>
      </p:sp>
      <p:sp>
        <p:nvSpPr>
          <p:cNvPr id="12" name="Oval 11"/>
          <p:cNvSpPr/>
          <p:nvPr/>
        </p:nvSpPr>
        <p:spPr>
          <a:xfrm>
            <a:off x="4242816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950207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GRÁFICOS</a:t>
            </a:r>
          </a:p>
        </p:txBody>
      </p:sp>
      <p:sp>
        <p:nvSpPr>
          <p:cNvPr id="14" name="Oval 13"/>
          <p:cNvSpPr/>
          <p:nvPr/>
        </p:nvSpPr>
        <p:spPr>
          <a:xfrm>
            <a:off x="6089904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5797296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MEDIDAS</a:t>
            </a:r>
          </a:p>
        </p:txBody>
      </p:sp>
      <p:sp>
        <p:nvSpPr>
          <p:cNvPr id="16" name="Oval 15"/>
          <p:cNvSpPr/>
          <p:nvPr/>
        </p:nvSpPr>
        <p:spPr>
          <a:xfrm>
            <a:off x="7936992" y="6419088"/>
            <a:ext cx="100584" cy="100584"/>
          </a:xfrm>
          <a:prstGeom prst="ellipse">
            <a:avLst/>
          </a:prstGeom>
          <a:solidFill>
            <a:srgbClr val="26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7644383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B4C6D8"/>
                </a:solidFill>
                <a:latin typeface="Aptos"/>
              </a:rPr>
              <a:t>PREGUNTAS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6419088"/>
            <a:ext cx="100584" cy="100584"/>
          </a:xfrm>
          <a:prstGeom prst="ellipse">
            <a:avLst/>
          </a:prstGeom>
          <a:solidFill>
            <a:srgbClr val="FF8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9491472" y="6556248"/>
            <a:ext cx="694944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F6F9FC"/>
                </a:solidFill>
                <a:latin typeface="Aptos"/>
              </a:rPr>
              <a:t>CIERRE</a:t>
            </a:r>
          </a:p>
        </p:txBody>
      </p:sp>
      <p:sp>
        <p:nvSpPr>
          <p:cNvPr id="20" name="Oval 19"/>
          <p:cNvSpPr/>
          <p:nvPr/>
        </p:nvSpPr>
        <p:spPr>
          <a:xfrm>
            <a:off x="4983479" y="5559552"/>
            <a:ext cx="201168" cy="201168"/>
          </a:xfrm>
          <a:prstGeom prst="ellipse">
            <a:avLst/>
          </a:prstGeom>
          <a:solidFill>
            <a:srgbClr val="26DAFF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6F9FC"/>
                </a:solidFill>
                <a:latin typeface="Aptos"/>
              </a:rPr>
              <a:t>“Tomamos la base de matrículas del Biobío 2021 y aplicamos las herramientas de estadística descriptiva vistas en los laboratorios para responder tres preguntas sobre aranceles, edad e institución.”</a:t>
            </a:r>
          </a:p>
        </p:txBody>
      </p:sp>
      <p:sp>
        <p:nvSpPr>
          <p:cNvPr id="22" name="!!NOTE"/>
          <p:cNvSpPr/>
          <p:nvPr/>
        </p:nvSpPr>
        <p:spPr>
          <a:xfrm>
            <a:off x="1828800" y="3931920"/>
            <a:ext cx="8503920" cy="502920"/>
          </a:xfrm>
          <a:prstGeom prst="roundRect">
            <a:avLst/>
          </a:prstGeom>
          <a:solidFill>
            <a:srgbClr val="FF8420"/>
          </a:solidFill>
          <a:ln>
            <a:solidFill>
              <a:srgbClr val="FF8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920240" y="4041648"/>
            <a:ext cx="8321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Si preguntan “¿por qué hicieron esto?”, mostramos el laboratorio donde se enseñó.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035040" y="6236208"/>
            <a:ext cx="55778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60" b="0">
                <a:solidFill>
                  <a:srgbClr val="8798AA"/>
                </a:solidFill>
                <a:latin typeface="Aptos"/>
              </a:rPr>
              <a:t>Material de estudio: laboratorios 0 al 5 del profesor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5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