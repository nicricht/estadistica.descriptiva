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VER"/>
          <p:cNvSpPr/>
          <p:nvPr/>
        </p:nvSpPr>
        <p:spPr>
          <a:xfrm>
            <a:off x="594360" y="658368"/>
            <a:ext cx="4892040" cy="201168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722376" y="749808"/>
            <a:ext cx="463600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ESTADÍSTICA DESCRIPTIVA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22376" y="1005840"/>
            <a:ext cx="463600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DEL ACERO
AL ALGORITMO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22376" y="2404872"/>
            <a:ext cx="463600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Educación Superior del Biobío</a:t>
            </a:r>
          </a:p>
        </p:txBody>
      </p:sp>
      <p:pic>
        <p:nvPicPr>
          <p:cNvPr id="8" name="!!IMG_A" descr="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097280"/>
            <a:ext cx="5760720" cy="3744468"/>
          </a:xfrm>
          <a:prstGeom prst="rect">
            <a:avLst/>
          </a:prstGeom>
        </p:spPr>
      </p:pic>
      <p:sp>
        <p:nvSpPr>
          <p:cNvPr id="9" name="!!QUESTION"/>
          <p:cNvSpPr txBox="1"/>
          <p:nvPr/>
        </p:nvSpPr>
        <p:spPr>
          <a:xfrm>
            <a:off x="822960" y="4709160"/>
            <a:ext cx="103327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6F9FC"/>
                </a:solidFill>
                <a:latin typeface="Aptos"/>
              </a:rPr>
              <a:t>¿Desde qué base de capital humano parte el Biobío para transformar su histórica vocación industrial hacia una economía de manufactura avanzada e Industria 4.0?</a:t>
            </a:r>
          </a:p>
        </p:txBody>
      </p:sp>
      <p:sp>
        <p:nvSpPr>
          <p:cNvPr id="10" name="!!FLOW"/>
          <p:cNvSpPr/>
          <p:nvPr/>
        </p:nvSpPr>
        <p:spPr>
          <a:xfrm>
            <a:off x="1115568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BIOBÍO INDUSTRIAL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¿Por qué importa estudiar esta base formativa?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Industria, manufactura, forestal, puertos, logística, pesca, construcción y energía.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02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1545336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4937760" cy="3209544"/>
          </a:xfrm>
          <a:prstGeom prst="rect">
            <a:avLst/>
          </a:prstGeom>
        </p:spPr>
      </p:pic>
      <p:pic>
        <p:nvPicPr>
          <p:cNvPr id="22" name="!!IMG_B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828800"/>
            <a:ext cx="2926080" cy="1901952"/>
          </a:xfrm>
          <a:prstGeom prst="rect">
            <a:avLst/>
          </a:prstGeom>
        </p:spPr>
      </p:pic>
      <p:sp>
        <p:nvSpPr>
          <p:cNvPr id="23" name="!!SEC0"/>
          <p:cNvSpPr/>
          <p:nvPr/>
        </p:nvSpPr>
        <p:spPr>
          <a:xfrm>
            <a:off x="5074920" y="1828800"/>
            <a:ext cx="17830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5111496" y="189738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Industria</a:t>
            </a:r>
          </a:p>
        </p:txBody>
      </p:sp>
      <p:sp>
        <p:nvSpPr>
          <p:cNvPr id="25" name="!!SEC1"/>
          <p:cNvSpPr/>
          <p:nvPr/>
        </p:nvSpPr>
        <p:spPr>
          <a:xfrm>
            <a:off x="7132320" y="1828800"/>
            <a:ext cx="17830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7168896" y="189738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Forestal</a:t>
            </a:r>
          </a:p>
        </p:txBody>
      </p:sp>
      <p:sp>
        <p:nvSpPr>
          <p:cNvPr id="27" name="!!SEC2"/>
          <p:cNvSpPr/>
          <p:nvPr/>
        </p:nvSpPr>
        <p:spPr>
          <a:xfrm>
            <a:off x="5074920" y="2331720"/>
            <a:ext cx="17830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5111496" y="240030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Puertos</a:t>
            </a:r>
          </a:p>
        </p:txBody>
      </p:sp>
      <p:sp>
        <p:nvSpPr>
          <p:cNvPr id="29" name="!!SEC3"/>
          <p:cNvSpPr/>
          <p:nvPr/>
        </p:nvSpPr>
        <p:spPr>
          <a:xfrm>
            <a:off x="7132320" y="2331720"/>
            <a:ext cx="17830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7168896" y="240030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Logística</a:t>
            </a:r>
          </a:p>
        </p:txBody>
      </p:sp>
      <p:sp>
        <p:nvSpPr>
          <p:cNvPr id="31" name="!!SEC4"/>
          <p:cNvSpPr/>
          <p:nvPr/>
        </p:nvSpPr>
        <p:spPr>
          <a:xfrm>
            <a:off x="5074920" y="2834640"/>
            <a:ext cx="17830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5111496" y="290322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Pesca</a:t>
            </a:r>
          </a:p>
        </p:txBody>
      </p:sp>
      <p:sp>
        <p:nvSpPr>
          <p:cNvPr id="33" name="!!SEC5"/>
          <p:cNvSpPr/>
          <p:nvPr/>
        </p:nvSpPr>
        <p:spPr>
          <a:xfrm>
            <a:off x="7132320" y="2834640"/>
            <a:ext cx="17830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7168896" y="290322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Energía</a:t>
            </a:r>
          </a:p>
        </p:txBody>
      </p:sp>
      <p:sp>
        <p:nvSpPr>
          <p:cNvPr id="35" name="!!NOTE"/>
          <p:cNvSpPr/>
          <p:nvPr/>
        </p:nvSpPr>
        <p:spPr>
          <a:xfrm>
            <a:off x="5074920" y="3657600"/>
            <a:ext cx="3794760" cy="502920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5166359" y="3767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La pregunta no es INDUSTRIA vs. TECNOLOGÍA.</a:t>
            </a:r>
          </a:p>
        </p:txBody>
      </p:sp>
      <p:sp>
        <p:nvSpPr>
          <p:cNvPr id="37" name="!!NOTE"/>
          <p:cNvSpPr/>
          <p:nvPr/>
        </p:nvSpPr>
        <p:spPr>
          <a:xfrm>
            <a:off x="5074920" y="4297680"/>
            <a:ext cx="379476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5166359" y="44074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La pregunta es INDUSTRIA + TECNOLOGÍA.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DATASET Y METODOLOGÍA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De 106.555 registros a tres unidades de análisis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Personas, precios y ofertas requieren bases distintas para no distorsionar resultados.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03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1975104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2743200" cy="1783080"/>
          </a:xfrm>
          <a:prstGeom prst="rect">
            <a:avLst/>
          </a:prstGeom>
        </p:spPr>
      </p:pic>
      <p:sp>
        <p:nvSpPr>
          <p:cNvPr id="22" name="!!K0"/>
          <p:cNvSpPr/>
          <p:nvPr/>
        </p:nvSpPr>
        <p:spPr>
          <a:xfrm>
            <a:off x="3429000" y="1874519"/>
            <a:ext cx="173736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3557016" y="196596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ORIGINAL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557016" y="2221991"/>
            <a:ext cx="14813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106.555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557016" y="2843784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28 columnas</a:t>
            </a:r>
          </a:p>
        </p:txBody>
      </p:sp>
      <p:sp>
        <p:nvSpPr>
          <p:cNvPr id="26" name="!!K1"/>
          <p:cNvSpPr/>
          <p:nvPr/>
        </p:nvSpPr>
        <p:spPr>
          <a:xfrm>
            <a:off x="5440680" y="1874519"/>
            <a:ext cx="173736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5568696" y="196596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PREGRADO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568696" y="2221991"/>
            <a:ext cx="14813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101.093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568696" y="2843784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personas / ADN</a:t>
            </a:r>
          </a:p>
        </p:txBody>
      </p:sp>
      <p:sp>
        <p:nvSpPr>
          <p:cNvPr id="30" name="!!K2"/>
          <p:cNvSpPr/>
          <p:nvPr/>
        </p:nvSpPr>
        <p:spPr>
          <a:xfrm>
            <a:off x="7452360" y="1874519"/>
            <a:ext cx="173736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7580376" y="196596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PRECIO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580376" y="2221991"/>
            <a:ext cx="14813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101.067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580376" y="2843784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arancel &gt; $0</a:t>
            </a:r>
          </a:p>
        </p:txBody>
      </p:sp>
      <p:sp>
        <p:nvSpPr>
          <p:cNvPr id="34" name="!!K3"/>
          <p:cNvSpPr/>
          <p:nvPr/>
        </p:nvSpPr>
        <p:spPr>
          <a:xfrm>
            <a:off x="9464040" y="1874519"/>
            <a:ext cx="173736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9592056" y="196596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OFERTAS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592056" y="2221991"/>
            <a:ext cx="14813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1.273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592056" y="2843784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precios únicos</a:t>
            </a:r>
          </a:p>
        </p:txBody>
      </p:sp>
      <p:sp>
        <p:nvSpPr>
          <p:cNvPr id="38" name="!!NOTE"/>
          <p:cNvSpPr/>
          <p:nvPr/>
        </p:nvSpPr>
        <p:spPr>
          <a:xfrm>
            <a:off x="3429000" y="3657600"/>
            <a:ext cx="777240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3520440" y="3767328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Oferta única = institución + carrera + comuna + modalidad + jornada + duración + matrícula + arancel.</a:t>
            </a:r>
          </a:p>
        </p:txBody>
      </p:sp>
      <p:sp>
        <p:nvSpPr>
          <p:cNvPr id="40" name="pill"/>
          <p:cNvSpPr/>
          <p:nvPr/>
        </p:nvSpPr>
        <p:spPr>
          <a:xfrm>
            <a:off x="3657600" y="4389120"/>
            <a:ext cx="1828800" cy="329184"/>
          </a:xfrm>
          <a:prstGeom prst="roundRect">
            <a:avLst/>
          </a:prstGeom>
          <a:solidFill>
            <a:srgbClr val="58D68D"/>
          </a:solidFill>
          <a:ln>
            <a:solidFill>
              <a:srgbClr val="58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3694176" y="4457700"/>
            <a:ext cx="1755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0 duplicados</a:t>
            </a:r>
          </a:p>
        </p:txBody>
      </p:sp>
      <p:sp>
        <p:nvSpPr>
          <p:cNvPr id="42" name="pill"/>
          <p:cNvSpPr/>
          <p:nvPr/>
        </p:nvSpPr>
        <p:spPr>
          <a:xfrm>
            <a:off x="5669280" y="4389120"/>
            <a:ext cx="228600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5705856" y="4457700"/>
            <a:ext cx="22128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26 aranceles $0</a:t>
            </a:r>
          </a:p>
        </p:txBody>
      </p:sp>
      <p:sp>
        <p:nvSpPr>
          <p:cNvPr id="44" name="pill"/>
          <p:cNvSpPr/>
          <p:nvPr/>
        </p:nvSpPr>
        <p:spPr>
          <a:xfrm>
            <a:off x="8138160" y="4389120"/>
            <a:ext cx="2377440" cy="329184"/>
          </a:xfrm>
          <a:prstGeom prst="roundRect">
            <a:avLst/>
          </a:prstGeom>
          <a:solidFill>
            <a:srgbClr val="5C7084"/>
          </a:solidFill>
          <a:ln>
            <a:solidFill>
              <a:srgbClr val="5C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8174736" y="4457700"/>
            <a:ext cx="23042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nulos en acreditación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RADIOGRAFÍA ESTADÍSTICA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¿Qué nos dicen los datos antes del problema regional?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Frecuencias, tendencia central, percentiles y dispersión resumen la estructura general.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04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2404872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0"/>
          <p:cNvSpPr/>
          <p:nvPr/>
        </p:nvSpPr>
        <p:spPr>
          <a:xfrm>
            <a:off x="685800" y="2036618"/>
            <a:ext cx="589935" cy="2078181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630936" y="1808018"/>
            <a:ext cx="69966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27,6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76072" y="4160520"/>
            <a:ext cx="809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Tecnol.</a:t>
            </a:r>
          </a:p>
        </p:txBody>
      </p:sp>
      <p:sp>
        <p:nvSpPr>
          <p:cNvPr id="24" name="!!B1"/>
          <p:cNvSpPr/>
          <p:nvPr/>
        </p:nvSpPr>
        <p:spPr>
          <a:xfrm>
            <a:off x="1708354" y="2285096"/>
            <a:ext cx="589935" cy="1829703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653490" y="2056496"/>
            <a:ext cx="69966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24,3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598626" y="4160520"/>
            <a:ext cx="809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Salud</a:t>
            </a:r>
          </a:p>
        </p:txBody>
      </p:sp>
      <p:sp>
        <p:nvSpPr>
          <p:cNvPr id="27" name="!!B2"/>
          <p:cNvSpPr/>
          <p:nvPr/>
        </p:nvSpPr>
        <p:spPr>
          <a:xfrm>
            <a:off x="2730909" y="3105827"/>
            <a:ext cx="589935" cy="1008972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2676045" y="2877227"/>
            <a:ext cx="69966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13,4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2621181" y="4160520"/>
            <a:ext cx="809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Adm.</a:t>
            </a:r>
          </a:p>
        </p:txBody>
      </p:sp>
      <p:sp>
        <p:nvSpPr>
          <p:cNvPr id="30" name="!!B3"/>
          <p:cNvSpPr/>
          <p:nvPr/>
        </p:nvSpPr>
        <p:spPr>
          <a:xfrm>
            <a:off x="3753464" y="3256420"/>
            <a:ext cx="589935" cy="858379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3698600" y="3027820"/>
            <a:ext cx="69966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11,4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3643736" y="4160520"/>
            <a:ext cx="809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Educ.</a:t>
            </a:r>
          </a:p>
        </p:txBody>
      </p:sp>
      <p:sp>
        <p:nvSpPr>
          <p:cNvPr id="33" name="!!S0"/>
          <p:cNvSpPr/>
          <p:nvPr/>
        </p:nvSpPr>
        <p:spPr>
          <a:xfrm>
            <a:off x="4754880" y="182880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4882896" y="192024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GÉNERO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882896" y="2176272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54,3% F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4882896" y="270662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45,7% M</a:t>
            </a:r>
          </a:p>
        </p:txBody>
      </p:sp>
      <p:sp>
        <p:nvSpPr>
          <p:cNvPr id="37" name="!!S1"/>
          <p:cNvSpPr/>
          <p:nvPr/>
        </p:nvSpPr>
        <p:spPr>
          <a:xfrm>
            <a:off x="6812280" y="182880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58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6940296" y="192024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58D68D"/>
                </a:solidFill>
                <a:latin typeface="Aptos"/>
              </a:rPr>
              <a:t>DURACIÓN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6940296" y="2176272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10 sem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940296" y="270662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moda</a:t>
            </a:r>
          </a:p>
        </p:txBody>
      </p:sp>
      <p:sp>
        <p:nvSpPr>
          <p:cNvPr id="41" name="!!S2"/>
          <p:cNvSpPr/>
          <p:nvPr/>
        </p:nvSpPr>
        <p:spPr>
          <a:xfrm>
            <a:off x="8869680" y="182880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8997696" y="192024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CV ARANCEL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997696" y="2176272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47,1%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8997696" y="270662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dispersión relativa</a:t>
            </a:r>
          </a:p>
        </p:txBody>
      </p:sp>
      <p:sp>
        <p:nvSpPr>
          <p:cNvPr id="45" name="!!S3"/>
          <p:cNvSpPr/>
          <p:nvPr/>
        </p:nvSpPr>
        <p:spPr>
          <a:xfrm>
            <a:off x="4754880" y="324612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4882896" y="333756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MEDIA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4882896" y="3593591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$3,22M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4882896" y="412394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arancel</a:t>
            </a:r>
          </a:p>
        </p:txBody>
      </p:sp>
      <p:sp>
        <p:nvSpPr>
          <p:cNvPr id="49" name="!!S4"/>
          <p:cNvSpPr/>
          <p:nvPr/>
        </p:nvSpPr>
        <p:spPr>
          <a:xfrm>
            <a:off x="6812280" y="324612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"/>
          <p:cNvSpPr txBox="1"/>
          <p:nvPr/>
        </p:nvSpPr>
        <p:spPr>
          <a:xfrm>
            <a:off x="6940296" y="333756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MEDIANA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940296" y="3593591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$3,13M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940296" y="412394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arancel</a:t>
            </a:r>
          </a:p>
        </p:txBody>
      </p:sp>
      <p:sp>
        <p:nvSpPr>
          <p:cNvPr id="53" name="!!S5"/>
          <p:cNvSpPr/>
          <p:nvPr/>
        </p:nvSpPr>
        <p:spPr>
          <a:xfrm>
            <a:off x="8869680" y="3246120"/>
            <a:ext cx="178308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"/>
          <p:cNvSpPr txBox="1"/>
          <p:nvPr/>
        </p:nvSpPr>
        <p:spPr>
          <a:xfrm>
            <a:off x="8997696" y="3337560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RIC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8997696" y="3593591"/>
            <a:ext cx="1527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Q3 − Q1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8997696" y="4123944"/>
            <a:ext cx="1527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rango central</a:t>
            </a:r>
          </a:p>
        </p:txBody>
      </p:sp>
      <p:sp>
        <p:nvSpPr>
          <p:cNvPr id="57" name="!!NOTE"/>
          <p:cNvSpPr/>
          <p:nvPr/>
        </p:nvSpPr>
        <p:spPr>
          <a:xfrm>
            <a:off x="4754880" y="4800600"/>
            <a:ext cx="589788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"/>
          <p:cNvSpPr txBox="1"/>
          <p:nvPr/>
        </p:nvSpPr>
        <p:spPr>
          <a:xfrm>
            <a:off x="4846320" y="4910328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El notebook contiene fi, hi, acumuladas, moda, percentiles, rango, varianza, desviación, CV y RIC.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ADN PROFESIONAL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De cientos de carreras a nueve familias estratégicas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Taxonomía analítica propia: una carrera se asigna a una sola familia para evitar doble conteo.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05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2834639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2926080" cy="1901952"/>
          </a:xfrm>
          <a:prstGeom prst="rect">
            <a:avLst/>
          </a:prstGeom>
        </p:spPr>
      </p:pic>
      <p:pic>
        <p:nvPicPr>
          <p:cNvPr id="22" name="!!IMG_B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691640"/>
            <a:ext cx="2560320" cy="1664208"/>
          </a:xfrm>
          <a:prstGeom prst="rect">
            <a:avLst/>
          </a:prstGeom>
        </p:spPr>
      </p:pic>
      <p:sp>
        <p:nvSpPr>
          <p:cNvPr id="23" name="!!F0"/>
          <p:cNvSpPr/>
          <p:nvPr/>
        </p:nvSpPr>
        <p:spPr>
          <a:xfrm>
            <a:off x="3063240" y="182880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3099816" y="189738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Industria</a:t>
            </a:r>
          </a:p>
        </p:txBody>
      </p:sp>
      <p:sp>
        <p:nvSpPr>
          <p:cNvPr id="25" name="!!F1"/>
          <p:cNvSpPr/>
          <p:nvPr/>
        </p:nvSpPr>
        <p:spPr>
          <a:xfrm>
            <a:off x="4937760" y="182880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974336" y="189738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Construcción</a:t>
            </a:r>
          </a:p>
        </p:txBody>
      </p:sp>
      <p:sp>
        <p:nvSpPr>
          <p:cNvPr id="27" name="!!F2"/>
          <p:cNvSpPr/>
          <p:nvPr/>
        </p:nvSpPr>
        <p:spPr>
          <a:xfrm>
            <a:off x="6812279" y="182880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6848855" y="189738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Logística</a:t>
            </a:r>
          </a:p>
        </p:txBody>
      </p:sp>
      <p:sp>
        <p:nvSpPr>
          <p:cNvPr id="29" name="!!F3"/>
          <p:cNvSpPr/>
          <p:nvPr/>
        </p:nvSpPr>
        <p:spPr>
          <a:xfrm>
            <a:off x="3063240" y="242316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3099816" y="249174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Forestal</a:t>
            </a:r>
          </a:p>
        </p:txBody>
      </p:sp>
      <p:sp>
        <p:nvSpPr>
          <p:cNvPr id="31" name="!!F4"/>
          <p:cNvSpPr/>
          <p:nvPr/>
        </p:nvSpPr>
        <p:spPr>
          <a:xfrm>
            <a:off x="4937760" y="242316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4974336" y="249174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Pesca</a:t>
            </a:r>
          </a:p>
        </p:txBody>
      </p:sp>
      <p:sp>
        <p:nvSpPr>
          <p:cNvPr id="33" name="!!F5"/>
          <p:cNvSpPr/>
          <p:nvPr/>
        </p:nvSpPr>
        <p:spPr>
          <a:xfrm>
            <a:off x="6812279" y="2423160"/>
            <a:ext cx="164592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6848855" y="249174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Agro</a:t>
            </a:r>
          </a:p>
        </p:txBody>
      </p:sp>
      <p:sp>
        <p:nvSpPr>
          <p:cNvPr id="35" name="!!F6"/>
          <p:cNvSpPr/>
          <p:nvPr/>
        </p:nvSpPr>
        <p:spPr>
          <a:xfrm>
            <a:off x="3063240" y="3017520"/>
            <a:ext cx="16459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099816" y="308610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Digital/TIC</a:t>
            </a:r>
          </a:p>
        </p:txBody>
      </p:sp>
      <p:sp>
        <p:nvSpPr>
          <p:cNvPr id="37" name="!!F7"/>
          <p:cNvSpPr/>
          <p:nvPr/>
        </p:nvSpPr>
        <p:spPr>
          <a:xfrm>
            <a:off x="4937760" y="3017520"/>
            <a:ext cx="16459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4974336" y="308610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Automatización</a:t>
            </a:r>
          </a:p>
        </p:txBody>
      </p:sp>
      <p:sp>
        <p:nvSpPr>
          <p:cNvPr id="39" name="!!F8"/>
          <p:cNvSpPr/>
          <p:nvPr/>
        </p:nvSpPr>
        <p:spPr>
          <a:xfrm>
            <a:off x="6812279" y="3017520"/>
            <a:ext cx="16459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6848855" y="308610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Energía+bio</a:t>
            </a:r>
          </a:p>
        </p:txBody>
      </p:sp>
      <p:sp>
        <p:nvSpPr>
          <p:cNvPr id="41" name="!!NOTE"/>
          <p:cNvSpPr/>
          <p:nvPr/>
        </p:nvSpPr>
        <p:spPr>
          <a:xfrm>
            <a:off x="3063240" y="3886200"/>
            <a:ext cx="5349240" cy="502920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3154680" y="3995928"/>
            <a:ext cx="5166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MOTORES PRODUCTIVOS  →  “ACERO”</a:t>
            </a:r>
          </a:p>
        </p:txBody>
      </p:sp>
      <p:sp>
        <p:nvSpPr>
          <p:cNvPr id="43" name="!!NOTE"/>
          <p:cNvSpPr/>
          <p:nvPr/>
        </p:nvSpPr>
        <p:spPr>
          <a:xfrm>
            <a:off x="3063240" y="4572000"/>
            <a:ext cx="534924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3154680" y="4681728"/>
            <a:ext cx="5166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CAPACIDADES TRANSFORMADORAS  →  “ALGORITMO”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HALLAZGO CENTRAL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En 2021, el componente productivo era casi tres veces el transformador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Resultado descriptivo. No demuestra déficit, atraso educativo ni escasez laboral.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06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3264408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2834640" cy="1842516"/>
          </a:xfrm>
          <a:prstGeom prst="rect">
            <a:avLst/>
          </a:prstGeom>
        </p:spPr>
      </p:pic>
      <p:pic>
        <p:nvPicPr>
          <p:cNvPr id="22" name="!!IMG_B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828800"/>
            <a:ext cx="2514600" cy="1634490"/>
          </a:xfrm>
          <a:prstGeom prst="rect">
            <a:avLst/>
          </a:prstGeom>
        </p:spPr>
      </p:pic>
      <p:sp>
        <p:nvSpPr>
          <p:cNvPr id="23" name="!!MOT"/>
          <p:cNvSpPr/>
          <p:nvPr/>
        </p:nvSpPr>
        <p:spPr>
          <a:xfrm>
            <a:off x="3429000" y="1874519"/>
            <a:ext cx="2148840" cy="141732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3557016" y="196596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MOTORES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557016" y="2221991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20.368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557016" y="3026663"/>
            <a:ext cx="18928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20,15%</a:t>
            </a:r>
          </a:p>
        </p:txBody>
      </p:sp>
      <p:sp>
        <p:nvSpPr>
          <p:cNvPr id="27" name="!!TRA"/>
          <p:cNvSpPr/>
          <p:nvPr/>
        </p:nvSpPr>
        <p:spPr>
          <a:xfrm>
            <a:off x="5897880" y="1874519"/>
            <a:ext cx="2148840" cy="141732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6025896" y="196596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TRANSFORMADORAS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025896" y="2221991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7.000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25896" y="3026663"/>
            <a:ext cx="18928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6,92%</a:t>
            </a:r>
          </a:p>
        </p:txBody>
      </p:sp>
      <p:sp>
        <p:nvSpPr>
          <p:cNvPr id="31" name="!!NOTE"/>
          <p:cNvSpPr/>
          <p:nvPr/>
        </p:nvSpPr>
        <p:spPr>
          <a:xfrm>
            <a:off x="3931920" y="3794760"/>
            <a:ext cx="365760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4023359" y="390448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≈ 2,9 matrículas productivas por cada transformadora.</a:t>
            </a:r>
          </a:p>
        </p:txBody>
      </p:sp>
      <p:sp>
        <p:nvSpPr>
          <p:cNvPr id="33" name="!!NOTE"/>
          <p:cNvSpPr/>
          <p:nvPr/>
        </p:nvSpPr>
        <p:spPr>
          <a:xfrm>
            <a:off x="3108960" y="4617720"/>
            <a:ext cx="530352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3200400" y="472744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Línea base 2021: “más peso” ≠ “déficit”.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INTERPRETACIÓN CONTEXTUAL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¿Por qué podría existir esa diferencia?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Planteamos explicaciones plausibles, no causas demostradas por el Excel.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07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3694176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874519"/>
            <a:ext cx="3246120" cy="2109978"/>
          </a:xfrm>
          <a:prstGeom prst="rect">
            <a:avLst/>
          </a:prstGeom>
        </p:spPr>
      </p:pic>
      <p:sp>
        <p:nvSpPr>
          <p:cNvPr id="22" name="!!I0"/>
          <p:cNvSpPr/>
          <p:nvPr/>
        </p:nvSpPr>
        <p:spPr>
          <a:xfrm>
            <a:off x="731520" y="1828800"/>
            <a:ext cx="2743200" cy="118872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859536" y="1920240"/>
            <a:ext cx="2487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HERENCIA INDUSTRIAL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59536" y="2176272"/>
            <a:ext cx="24871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Trayectoria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59536" y="2752344"/>
            <a:ext cx="2487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interpretación contextual</a:t>
            </a:r>
          </a:p>
        </p:txBody>
      </p:sp>
      <p:sp>
        <p:nvSpPr>
          <p:cNvPr id="26" name="!!I1"/>
          <p:cNvSpPr/>
          <p:nvPr/>
        </p:nvSpPr>
        <p:spPr>
          <a:xfrm>
            <a:off x="3840480" y="1828800"/>
            <a:ext cx="2743200" cy="118872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3968496" y="1920240"/>
            <a:ext cx="2487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OFERTA FORMATIVA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968496" y="2176272"/>
            <a:ext cx="24871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Visible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968496" y="2752344"/>
            <a:ext cx="2487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interpretación contextual</a:t>
            </a:r>
          </a:p>
        </p:txBody>
      </p:sp>
      <p:sp>
        <p:nvSpPr>
          <p:cNvPr id="30" name="!!I2"/>
          <p:cNvSpPr/>
          <p:nvPr/>
        </p:nvSpPr>
        <p:spPr>
          <a:xfrm>
            <a:off x="731520" y="3383280"/>
            <a:ext cx="2743200" cy="118872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859536" y="3474720"/>
            <a:ext cx="2487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TRANSFORMACIÓN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59536" y="3730752"/>
            <a:ext cx="24871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Más reciente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59536" y="4306824"/>
            <a:ext cx="2487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interpretación contextual</a:t>
            </a:r>
          </a:p>
        </p:txBody>
      </p:sp>
      <p:sp>
        <p:nvSpPr>
          <p:cNvPr id="34" name="!!I3"/>
          <p:cNvSpPr/>
          <p:nvPr/>
        </p:nvSpPr>
        <p:spPr>
          <a:xfrm>
            <a:off x="3840480" y="3383280"/>
            <a:ext cx="2743200" cy="118872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3968496" y="3474720"/>
            <a:ext cx="2487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CAUSALIDAD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3968496" y="3730752"/>
            <a:ext cx="24871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No demostrada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3968496" y="4306824"/>
            <a:ext cx="2487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interpretación contextual</a:t>
            </a:r>
          </a:p>
        </p:txBody>
      </p:sp>
      <p:sp>
        <p:nvSpPr>
          <p:cNvPr id="38" name="!!NOTE"/>
          <p:cNvSpPr/>
          <p:nvPr/>
        </p:nvSpPr>
        <p:spPr>
          <a:xfrm>
            <a:off x="731520" y="4937760"/>
            <a:ext cx="5852160" cy="502920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822960" y="5047488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Contexto regional ≠ prueba causal.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SEÑAL LABORAL 2021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En el mismo período, la manufactura reportaba dificultades de contratación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ENADEL aporta contexto laboral, pero NO prueba relación causal con nuestro 6,92%.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08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4123944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3291840" cy="2139696"/>
          </a:xfrm>
          <a:prstGeom prst="rect">
            <a:avLst/>
          </a:prstGeom>
        </p:spPr>
      </p:pic>
      <p:pic>
        <p:nvPicPr>
          <p:cNvPr id="22" name="!!IMG_B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965960"/>
            <a:ext cx="2286000" cy="1485900"/>
          </a:xfrm>
          <a:prstGeom prst="rect">
            <a:avLst/>
          </a:prstGeom>
        </p:spPr>
      </p:pic>
      <p:sp>
        <p:nvSpPr>
          <p:cNvPr id="23" name="!!E1"/>
          <p:cNvSpPr/>
          <p:nvPr/>
        </p:nvSpPr>
        <p:spPr>
          <a:xfrm>
            <a:off x="3840480" y="1874519"/>
            <a:ext cx="192024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3968496" y="1965960"/>
            <a:ext cx="16642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EMPRESAS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968496" y="2221991"/>
            <a:ext cx="16642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69%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968496" y="2935224"/>
            <a:ext cx="1664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dificultades para llenar vacantes</a:t>
            </a:r>
          </a:p>
        </p:txBody>
      </p:sp>
      <p:sp>
        <p:nvSpPr>
          <p:cNvPr id="27" name="!!E2"/>
          <p:cNvSpPr/>
          <p:nvPr/>
        </p:nvSpPr>
        <p:spPr>
          <a:xfrm>
            <a:off x="5989320" y="1874519"/>
            <a:ext cx="192024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6117336" y="1965960"/>
            <a:ext cx="16642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POSTULANTES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117336" y="2221991"/>
            <a:ext cx="16642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30%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117336" y="2935224"/>
            <a:ext cx="1664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falta de postulantes</a:t>
            </a:r>
          </a:p>
        </p:txBody>
      </p:sp>
      <p:sp>
        <p:nvSpPr>
          <p:cNvPr id="31" name="!!E3"/>
          <p:cNvSpPr/>
          <p:nvPr/>
        </p:nvSpPr>
        <p:spPr>
          <a:xfrm>
            <a:off x="3840480" y="3520440"/>
            <a:ext cx="192024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3968496" y="3611880"/>
            <a:ext cx="16642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COMPETENCIAS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3968496" y="3867912"/>
            <a:ext cx="16642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30%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3968496" y="4581144"/>
            <a:ext cx="1664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técnicas insuficientes</a:t>
            </a:r>
          </a:p>
        </p:txBody>
      </p:sp>
      <p:sp>
        <p:nvSpPr>
          <p:cNvPr id="35" name="!!NOTE"/>
          <p:cNvSpPr/>
          <p:nvPr/>
        </p:nvSpPr>
        <p:spPr>
          <a:xfrm>
            <a:off x="5989320" y="3520440"/>
            <a:ext cx="2697480" cy="502920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6080759" y="363016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69% NO es causado por el 6,92%.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30352" y="6117336"/>
            <a:ext cx="6492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9BACBE"/>
                </a:solidFill>
                <a:latin typeface="Aptos"/>
              </a:rPr>
              <a:t>Fuente: SENCE · Observatorio Laboral Biobío · ENADEL 2021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Contexto laboral · no causal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OBLIGATORIA 1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¿Hay áreas donde las carreras sean más caras?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Unidad: 1.273 ofertas únicas. Criterio: mediana, menos sensible a valores extremos.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09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4553712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Q10"/>
          <p:cNvSpPr/>
          <p:nvPr/>
        </p:nvSpPr>
        <p:spPr>
          <a:xfrm>
            <a:off x="594360" y="2139513"/>
            <a:ext cx="629264" cy="2295326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539496" y="1910913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3,586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84632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Derecho</a:t>
            </a:r>
          </a:p>
        </p:txBody>
      </p:sp>
      <p:sp>
        <p:nvSpPr>
          <p:cNvPr id="24" name="!!Q11"/>
          <p:cNvSpPr/>
          <p:nvPr/>
        </p:nvSpPr>
        <p:spPr>
          <a:xfrm>
            <a:off x="1638939" y="2328976"/>
            <a:ext cx="629264" cy="2105863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584075" y="2100376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3,29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529211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Cs. Bás.</a:t>
            </a:r>
          </a:p>
        </p:txBody>
      </p:sp>
      <p:sp>
        <p:nvSpPr>
          <p:cNvPr id="27" name="!!Q12"/>
          <p:cNvSpPr/>
          <p:nvPr/>
        </p:nvSpPr>
        <p:spPr>
          <a:xfrm>
            <a:off x="2683518" y="2526121"/>
            <a:ext cx="629264" cy="1908718"/>
          </a:xfrm>
          <a:prstGeom prst="roundRect">
            <a:avLst/>
          </a:prstGeom>
          <a:solidFill>
            <a:srgbClr val="58D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2628654" y="2297521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2,982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2573790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Agro</a:t>
            </a:r>
          </a:p>
        </p:txBody>
      </p:sp>
      <p:sp>
        <p:nvSpPr>
          <p:cNvPr id="30" name="!!Q13"/>
          <p:cNvSpPr/>
          <p:nvPr/>
        </p:nvSpPr>
        <p:spPr>
          <a:xfrm>
            <a:off x="3728097" y="3076590"/>
            <a:ext cx="629264" cy="1358249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3673233" y="2847990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2,122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3618369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Tecnol.</a:t>
            </a:r>
          </a:p>
        </p:txBody>
      </p:sp>
      <p:sp>
        <p:nvSpPr>
          <p:cNvPr id="33" name="!!Q14"/>
          <p:cNvSpPr/>
          <p:nvPr/>
        </p:nvSpPr>
        <p:spPr>
          <a:xfrm>
            <a:off x="4772676" y="3103473"/>
            <a:ext cx="629264" cy="1331366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4717812" y="2874873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2,08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662948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Salud</a:t>
            </a:r>
          </a:p>
        </p:txBody>
      </p:sp>
      <p:sp>
        <p:nvSpPr>
          <p:cNvPr id="36" name="!!Q15"/>
          <p:cNvSpPr/>
          <p:nvPr/>
        </p:nvSpPr>
        <p:spPr>
          <a:xfrm>
            <a:off x="5817255" y="3135477"/>
            <a:ext cx="629264" cy="1299362"/>
          </a:xfrm>
          <a:prstGeom prst="roundRect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5762391" y="2906877"/>
            <a:ext cx="7389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2,03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707527" y="4480559"/>
            <a:ext cx="84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Global</a:t>
            </a:r>
          </a:p>
        </p:txBody>
      </p:sp>
      <p:pic>
        <p:nvPicPr>
          <p:cNvPr id="39" name="!!IMG_A" descr="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20240"/>
            <a:ext cx="3291840" cy="2139696"/>
          </a:xfrm>
          <a:prstGeom prst="rect">
            <a:avLst/>
          </a:prstGeom>
        </p:spPr>
      </p:pic>
      <p:sp>
        <p:nvSpPr>
          <p:cNvPr id="40" name="!!QC"/>
          <p:cNvSpPr/>
          <p:nvPr/>
        </p:nvSpPr>
        <p:spPr>
          <a:xfrm>
            <a:off x="685800" y="4754880"/>
            <a:ext cx="196596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813816" y="484632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CRITERIO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13816" y="5102352"/>
            <a:ext cx="17099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Mediana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13816" y="5404104"/>
            <a:ext cx="17099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por área</a:t>
            </a:r>
          </a:p>
        </p:txBody>
      </p:sp>
      <p:sp>
        <p:nvSpPr>
          <p:cNvPr id="44" name="!!QQ"/>
          <p:cNvSpPr/>
          <p:nvPr/>
        </p:nvSpPr>
        <p:spPr>
          <a:xfrm>
            <a:off x="2834640" y="4754880"/>
            <a:ext cx="196596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2962656" y="484632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COMPLEMENTO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2962656" y="5102352"/>
            <a:ext cx="17099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Q1 · Q3 · RIC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2962656" y="5404104"/>
            <a:ext cx="17099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+ cantidad</a:t>
            </a:r>
          </a:p>
        </p:txBody>
      </p:sp>
      <p:sp>
        <p:nvSpPr>
          <p:cNvPr id="48" name="!!QD"/>
          <p:cNvSpPr/>
          <p:nvPr/>
        </p:nvSpPr>
        <p:spPr>
          <a:xfrm>
            <a:off x="4983480" y="4754880"/>
            <a:ext cx="196596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"/>
          <p:cNvSpPr txBox="1"/>
          <p:nvPr/>
        </p:nvSpPr>
        <p:spPr>
          <a:xfrm>
            <a:off x="5111496" y="4846320"/>
            <a:ext cx="1709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MAYOR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5111496" y="5102352"/>
            <a:ext cx="17099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Derecho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5111496" y="5404104"/>
            <a:ext cx="17099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$3.586.000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OBLIGATORIA 2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La composición institucional cambia entre grupos de edad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Tabla de contingencia y porcentajes: asociación observada, no “la edad causa la elección”.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10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4983479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2743200" cy="1783080"/>
          </a:xfrm>
          <a:prstGeom prst="rect">
            <a:avLst/>
          </a:prstGeom>
        </p:spPr>
      </p:pic>
      <p:pic>
        <p:nvPicPr>
          <p:cNvPr id="22" name="!!IMG_B" descr="cam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965960"/>
            <a:ext cx="2514600" cy="1634490"/>
          </a:xfrm>
          <a:prstGeom prst="rect">
            <a:avLst/>
          </a:prstGeom>
        </p:spPr>
      </p:pic>
      <p:sp>
        <p:nvSpPr>
          <p:cNvPr id="23" name="!!AGE1"/>
          <p:cNvSpPr/>
          <p:nvPr/>
        </p:nvSpPr>
        <p:spPr>
          <a:xfrm>
            <a:off x="3520440" y="1828800"/>
            <a:ext cx="201168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3648456" y="1920240"/>
            <a:ext cx="1755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15–19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648456" y="2176272"/>
            <a:ext cx="1755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46,24% CRUCH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648456" y="2798064"/>
            <a:ext cx="1755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19,30% IP</a:t>
            </a:r>
          </a:p>
        </p:txBody>
      </p:sp>
      <p:sp>
        <p:nvSpPr>
          <p:cNvPr id="27" name="!!AGE2"/>
          <p:cNvSpPr/>
          <p:nvPr/>
        </p:nvSpPr>
        <p:spPr>
          <a:xfrm>
            <a:off x="5806440" y="1828800"/>
            <a:ext cx="201168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5934455" y="1920240"/>
            <a:ext cx="1755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40+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934455" y="2176272"/>
            <a:ext cx="1755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52,93% IP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934455" y="2798064"/>
            <a:ext cx="1755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10,88% CRUCH</a:t>
            </a:r>
          </a:p>
        </p:txBody>
      </p:sp>
      <p:sp>
        <p:nvSpPr>
          <p:cNvPr id="31" name="!!AGE0"/>
          <p:cNvSpPr/>
          <p:nvPr/>
        </p:nvSpPr>
        <p:spPr>
          <a:xfrm>
            <a:off x="3566160" y="4169298"/>
            <a:ext cx="678425" cy="951341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3511296" y="3940698"/>
            <a:ext cx="7881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46,24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3456432" y="5166359"/>
            <a:ext cx="897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15–19 CRUCH</a:t>
            </a:r>
          </a:p>
        </p:txBody>
      </p:sp>
      <p:sp>
        <p:nvSpPr>
          <p:cNvPr id="34" name="!!AGE1"/>
          <p:cNvSpPr/>
          <p:nvPr/>
        </p:nvSpPr>
        <p:spPr>
          <a:xfrm>
            <a:off x="4742098" y="4723561"/>
            <a:ext cx="678425" cy="397078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4687234" y="4494961"/>
            <a:ext cx="7881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19,3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4632370" y="5166359"/>
            <a:ext cx="897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15–19 IP</a:t>
            </a:r>
          </a:p>
        </p:txBody>
      </p:sp>
      <p:sp>
        <p:nvSpPr>
          <p:cNvPr id="37" name="!!AGE2"/>
          <p:cNvSpPr/>
          <p:nvPr/>
        </p:nvSpPr>
        <p:spPr>
          <a:xfrm>
            <a:off x="5918036" y="4896794"/>
            <a:ext cx="678425" cy="223845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5863172" y="4668194"/>
            <a:ext cx="7881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10,88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808308" y="5166359"/>
            <a:ext cx="897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40+ CRUCH</a:t>
            </a:r>
          </a:p>
        </p:txBody>
      </p:sp>
      <p:sp>
        <p:nvSpPr>
          <p:cNvPr id="40" name="!!AGE3"/>
          <p:cNvSpPr/>
          <p:nvPr/>
        </p:nvSpPr>
        <p:spPr>
          <a:xfrm>
            <a:off x="7093974" y="4031658"/>
            <a:ext cx="678425" cy="1088981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7039110" y="3803058"/>
            <a:ext cx="78815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52,93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6984246" y="5166359"/>
            <a:ext cx="897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40+ IP</a:t>
            </a:r>
          </a:p>
        </p:txBody>
      </p:sp>
      <p:sp>
        <p:nvSpPr>
          <p:cNvPr id="43" name="!!NOTE"/>
          <p:cNvSpPr/>
          <p:nvPr/>
        </p:nvSpPr>
        <p:spPr>
          <a:xfrm>
            <a:off x="8046720" y="4069080"/>
            <a:ext cx="283464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8138160" y="417880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Se observan diferencias ≠ influencia causal.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OBLIGATORIA 3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¿Cuándo un arancel es sustantivamente más caro que la mayoría?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Criterio: valor atípico superior = Q3 + 1,5 × RIC sobre ofertas académicas únicas.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11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5413248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4709160" cy="3060954"/>
          </a:xfrm>
          <a:prstGeom prst="rect">
            <a:avLst/>
          </a:prstGeom>
        </p:spPr>
      </p:pic>
      <p:sp>
        <p:nvSpPr>
          <p:cNvPr id="22" name="!!R0"/>
          <p:cNvSpPr/>
          <p:nvPr/>
        </p:nvSpPr>
        <p:spPr>
          <a:xfrm>
            <a:off x="5486400" y="1828800"/>
            <a:ext cx="164592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5614416" y="1920240"/>
            <a:ext cx="13898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Q1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614416" y="2176272"/>
            <a:ext cx="13898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$1,616M</a:t>
            </a:r>
          </a:p>
        </p:txBody>
      </p:sp>
      <p:sp>
        <p:nvSpPr>
          <p:cNvPr id="25" name="!!R1"/>
          <p:cNvSpPr/>
          <p:nvPr/>
        </p:nvSpPr>
        <p:spPr>
          <a:xfrm>
            <a:off x="7360920" y="1828800"/>
            <a:ext cx="164592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7488936" y="1920240"/>
            <a:ext cx="13898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Q3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488936" y="2176272"/>
            <a:ext cx="13898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$2,580M</a:t>
            </a:r>
          </a:p>
        </p:txBody>
      </p:sp>
      <p:sp>
        <p:nvSpPr>
          <p:cNvPr id="28" name="!!R2"/>
          <p:cNvSpPr/>
          <p:nvPr/>
        </p:nvSpPr>
        <p:spPr>
          <a:xfrm>
            <a:off x="9235440" y="1828800"/>
            <a:ext cx="164592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9363456" y="1920240"/>
            <a:ext cx="13898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RIC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363456" y="2176272"/>
            <a:ext cx="13898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$964k</a:t>
            </a:r>
          </a:p>
        </p:txBody>
      </p:sp>
      <p:sp>
        <p:nvSpPr>
          <p:cNvPr id="31" name="!!R3"/>
          <p:cNvSpPr/>
          <p:nvPr/>
        </p:nvSpPr>
        <p:spPr>
          <a:xfrm>
            <a:off x="5486400" y="3246120"/>
            <a:ext cx="164592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5614416" y="3337560"/>
            <a:ext cx="13898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LÍMITE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614416" y="3593591"/>
            <a:ext cx="13898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$4,026M</a:t>
            </a:r>
          </a:p>
        </p:txBody>
      </p:sp>
      <p:sp>
        <p:nvSpPr>
          <p:cNvPr id="34" name="!!R4"/>
          <p:cNvSpPr/>
          <p:nvPr/>
        </p:nvSpPr>
        <p:spPr>
          <a:xfrm>
            <a:off x="7360920" y="3246120"/>
            <a:ext cx="1645920" cy="1143000"/>
          </a:xfrm>
          <a:prstGeom prst="roundRect">
            <a:avLst/>
          </a:prstGeom>
          <a:solidFill>
            <a:srgbClr val="0A1B2E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7488936" y="3337560"/>
            <a:ext cx="13898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5B5B"/>
                </a:solidFill>
                <a:latin typeface="Aptos"/>
              </a:rPr>
              <a:t>OFERTAS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7488936" y="3593591"/>
            <a:ext cx="13898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135</a:t>
            </a:r>
          </a:p>
        </p:txBody>
      </p:sp>
      <p:sp>
        <p:nvSpPr>
          <p:cNvPr id="37" name="!!NOTE"/>
          <p:cNvSpPr/>
          <p:nvPr/>
        </p:nvSpPr>
        <p:spPr>
          <a:xfrm>
            <a:off x="5486400" y="4709160"/>
            <a:ext cx="5440680" cy="502920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5577840" y="481888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135 / 1.273 = 10,6% · 73 CRUCH · 62 privadas · 129 Concepción · 6 Biobío.</a:t>
            </a:r>
          </a:p>
        </p:txBody>
      </p:sp>
      <p:sp>
        <p:nvSpPr>
          <p:cNvPr id="39" name="pill"/>
          <p:cNvSpPr/>
          <p:nvPr/>
        </p:nvSpPr>
        <p:spPr>
          <a:xfrm>
            <a:off x="5669280" y="5330952"/>
            <a:ext cx="150876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5705856" y="5399532"/>
            <a:ext cx="143560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Salud 39</a:t>
            </a:r>
          </a:p>
        </p:txBody>
      </p:sp>
      <p:sp>
        <p:nvSpPr>
          <p:cNvPr id="41" name="pill"/>
          <p:cNvSpPr/>
          <p:nvPr/>
        </p:nvSpPr>
        <p:spPr>
          <a:xfrm>
            <a:off x="7360920" y="5330952"/>
            <a:ext cx="16459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7397496" y="5399532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Tecnología 39</a:t>
            </a:r>
          </a:p>
        </p:txBody>
      </p:sp>
      <p:sp>
        <p:nvSpPr>
          <p:cNvPr id="43" name="pill"/>
          <p:cNvSpPr/>
          <p:nvPr/>
        </p:nvSpPr>
        <p:spPr>
          <a:xfrm>
            <a:off x="9189720" y="5330952"/>
            <a:ext cx="160020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9226296" y="5399532"/>
            <a:ext cx="1527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10 vs 5 sem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DIMENSIÓN TERRITORIAL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¿Cuánto talento transformador hay y dónde está?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Proporción y volumen absoluto cuentan historias distintas; no inferimos causalidad territorial.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12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5843016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T0"/>
          <p:cNvSpPr/>
          <p:nvPr/>
        </p:nvSpPr>
        <p:spPr>
          <a:xfrm>
            <a:off x="777240" y="192024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905256" y="201168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ARAUCO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05256" y="226771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8,55%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05256" y="302666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232 matrículas transformadoras</a:t>
            </a:r>
          </a:p>
        </p:txBody>
      </p:sp>
      <p:sp>
        <p:nvSpPr>
          <p:cNvPr id="25" name="Oval 24"/>
          <p:cNvSpPr/>
          <p:nvPr/>
        </p:nvSpPr>
        <p:spPr>
          <a:xfrm>
            <a:off x="2011680" y="3886200"/>
            <a:ext cx="640080" cy="640080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T1"/>
          <p:cNvSpPr/>
          <p:nvPr/>
        </p:nvSpPr>
        <p:spPr>
          <a:xfrm>
            <a:off x="4480559" y="192024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4608575" y="201168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BIOBÍO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608575" y="226771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7,61%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608575" y="302666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966 matrículas transformadoras</a:t>
            </a:r>
          </a:p>
        </p:txBody>
      </p:sp>
      <p:sp>
        <p:nvSpPr>
          <p:cNvPr id="30" name="Oval 29"/>
          <p:cNvSpPr/>
          <p:nvPr/>
        </p:nvSpPr>
        <p:spPr>
          <a:xfrm>
            <a:off x="5715000" y="3886200"/>
            <a:ext cx="640080" cy="640080"/>
          </a:xfrm>
          <a:prstGeom prst="ellipse">
            <a:avLst/>
          </a:prstGeom>
          <a:solidFill>
            <a:srgbClr val="FFBE5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T2"/>
          <p:cNvSpPr/>
          <p:nvPr/>
        </p:nvSpPr>
        <p:spPr>
          <a:xfrm>
            <a:off x="8183879" y="192024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8311896" y="201168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CONCEPCIÓN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311896" y="226771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6F9FC"/>
                </a:solidFill>
                <a:latin typeface="Aptos"/>
              </a:rPr>
              <a:t>6,77%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311896" y="302666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5.802 matrículas transformadoras</a:t>
            </a:r>
          </a:p>
        </p:txBody>
      </p:sp>
      <p:sp>
        <p:nvSpPr>
          <p:cNvPr id="35" name="Oval 34"/>
          <p:cNvSpPr/>
          <p:nvPr/>
        </p:nvSpPr>
        <p:spPr>
          <a:xfrm>
            <a:off x="9418320" y="3886200"/>
            <a:ext cx="640080" cy="640080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NOTE"/>
          <p:cNvSpPr/>
          <p:nvPr/>
        </p:nvSpPr>
        <p:spPr>
          <a:xfrm>
            <a:off x="777240" y="4983480"/>
            <a:ext cx="1051560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868680" y="509320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Arauco tiene mayor proporción; Concepción concentra por lejos el mayor volumen.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DIMENSIÓN DE GÉNERO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La participación tecnológica también tiene una dimensión de género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Hallazgo descriptivo y pregunta futura, no consecuencia demostrada.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13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6272783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200400" cy="2080260"/>
          </a:xfrm>
          <a:prstGeom prst="rect">
            <a:avLst/>
          </a:prstGeom>
        </p:spPr>
      </p:pic>
      <p:sp>
        <p:nvSpPr>
          <p:cNvPr id="22" name="!!GEN0"/>
          <p:cNvSpPr/>
          <p:nvPr/>
        </p:nvSpPr>
        <p:spPr>
          <a:xfrm>
            <a:off x="4297680" y="2373965"/>
            <a:ext cx="1179870" cy="2198034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4242816" y="2145365"/>
            <a:ext cx="128959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17,17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187952" y="4617720"/>
            <a:ext cx="139932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Industria</a:t>
            </a:r>
          </a:p>
        </p:txBody>
      </p:sp>
      <p:sp>
        <p:nvSpPr>
          <p:cNvPr id="25" name="!!GEN1"/>
          <p:cNvSpPr/>
          <p:nvPr/>
        </p:nvSpPr>
        <p:spPr>
          <a:xfrm>
            <a:off x="6450944" y="3099816"/>
            <a:ext cx="1179870" cy="1472184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6396080" y="2871216"/>
            <a:ext cx="128959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11,5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341216" y="4617720"/>
            <a:ext cx="139932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Digital/TIC</a:t>
            </a:r>
          </a:p>
        </p:txBody>
      </p:sp>
      <p:sp>
        <p:nvSpPr>
          <p:cNvPr id="28" name="!!GEN2"/>
          <p:cNvSpPr/>
          <p:nvPr/>
        </p:nvSpPr>
        <p:spPr>
          <a:xfrm>
            <a:off x="8604209" y="3830787"/>
            <a:ext cx="1179870" cy="741212"/>
          </a:xfrm>
          <a:prstGeom prst="roundRect">
            <a:avLst/>
          </a:prstGeom>
          <a:solidFill>
            <a:srgbClr val="AB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8549345" y="3602187"/>
            <a:ext cx="128959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5,79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494481" y="4617720"/>
            <a:ext cx="139932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Automatización</a:t>
            </a:r>
          </a:p>
        </p:txBody>
      </p:sp>
      <p:sp>
        <p:nvSpPr>
          <p:cNvPr id="31" name="!!NOTE"/>
          <p:cNvSpPr/>
          <p:nvPr/>
        </p:nvSpPr>
        <p:spPr>
          <a:xfrm>
            <a:off x="4297680" y="4800600"/>
            <a:ext cx="548640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4389120" y="491032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¿La transformación reducirá brechas o trasladará desigualdades hacia nuevas ocupaciones?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HUACHIPATO 2024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Un shock industrial vuelve visible la vulnerabilidad regional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Punto de inflexión posterior a 2021. No atribuimos el cierre a falta de talento tecnológico.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14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6702552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4114800" cy="2674620"/>
          </a:xfrm>
          <a:prstGeom prst="rect">
            <a:avLst/>
          </a:prstGeom>
        </p:spPr>
      </p:pic>
      <p:sp>
        <p:nvSpPr>
          <p:cNvPr id="22" name="!!HC"/>
          <p:cNvSpPr/>
          <p:nvPr/>
        </p:nvSpPr>
        <p:spPr>
          <a:xfrm>
            <a:off x="5074920" y="1874519"/>
            <a:ext cx="233172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5202936" y="1965960"/>
            <a:ext cx="20756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CIERRE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202936" y="2221991"/>
            <a:ext cx="20756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6F9FC"/>
                </a:solidFill>
                <a:latin typeface="Aptos"/>
              </a:rPr>
              <a:t>2024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202936" y="2935224"/>
            <a:ext cx="207568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Talcahuano</a:t>
            </a:r>
          </a:p>
        </p:txBody>
      </p:sp>
      <p:sp>
        <p:nvSpPr>
          <p:cNvPr id="26" name="!!HW"/>
          <p:cNvSpPr/>
          <p:nvPr/>
        </p:nvSpPr>
        <p:spPr>
          <a:xfrm>
            <a:off x="7726679" y="1874519"/>
            <a:ext cx="233172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7854696" y="1965960"/>
            <a:ext cx="20756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5B5B"/>
                </a:solidFill>
                <a:latin typeface="Aptos"/>
              </a:rPr>
              <a:t>AFECTADOS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854696" y="2221991"/>
            <a:ext cx="20756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7.168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854696" y="2935224"/>
            <a:ext cx="207568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directos e indirectos</a:t>
            </a:r>
          </a:p>
        </p:txBody>
      </p:sp>
      <p:sp>
        <p:nvSpPr>
          <p:cNvPr id="30" name="!!H0"/>
          <p:cNvSpPr/>
          <p:nvPr/>
        </p:nvSpPr>
        <p:spPr>
          <a:xfrm>
            <a:off x="5074920" y="3703320"/>
            <a:ext cx="233172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5111496" y="377190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reconversión</a:t>
            </a:r>
          </a:p>
        </p:txBody>
      </p:sp>
      <p:sp>
        <p:nvSpPr>
          <p:cNvPr id="32" name="!!H1"/>
          <p:cNvSpPr/>
          <p:nvPr/>
        </p:nvSpPr>
        <p:spPr>
          <a:xfrm>
            <a:off x="7726679" y="3703320"/>
            <a:ext cx="23317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7763255" y="377190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diversificación</a:t>
            </a:r>
          </a:p>
        </p:txBody>
      </p:sp>
      <p:sp>
        <p:nvSpPr>
          <p:cNvPr id="34" name="!!H2"/>
          <p:cNvSpPr/>
          <p:nvPr/>
        </p:nvSpPr>
        <p:spPr>
          <a:xfrm>
            <a:off x="5074920" y="4297680"/>
            <a:ext cx="233172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5111496" y="436626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fortalecimiento</a:t>
            </a:r>
          </a:p>
        </p:txBody>
      </p:sp>
      <p:sp>
        <p:nvSpPr>
          <p:cNvPr id="36" name="!!H3"/>
          <p:cNvSpPr/>
          <p:nvPr/>
        </p:nvSpPr>
        <p:spPr>
          <a:xfrm>
            <a:off x="7726679" y="4297680"/>
            <a:ext cx="233172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7763255" y="436626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innovación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117336"/>
            <a:ext cx="6492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9BACBE"/>
                </a:solidFill>
                <a:latin typeface="Aptos"/>
              </a:rPr>
              <a:t>Fuente: Ministerio de Economía · Plan de Fortalecimiento Industrial / avance 2026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Contexto posterior a la línea base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RESPUESTA REGIONAL 2024–2026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La región busca transformar su industria, no abandonarla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Manufactura avanzada, Industria 4.0, sistemas inteligentes, transición energética y capital humano.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15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7132320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2834640" cy="1842516"/>
          </a:xfrm>
          <a:prstGeom prst="rect">
            <a:avLst/>
          </a:prstGeom>
        </p:spPr>
      </p:pic>
      <p:pic>
        <p:nvPicPr>
          <p:cNvPr id="22" name="!!IMG_B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828800"/>
            <a:ext cx="2377440" cy="1545336"/>
          </a:xfrm>
          <a:prstGeom prst="rect">
            <a:avLst/>
          </a:prstGeom>
        </p:spPr>
      </p:pic>
      <p:sp>
        <p:nvSpPr>
          <p:cNvPr id="23" name="!!RESP0"/>
          <p:cNvSpPr/>
          <p:nvPr/>
        </p:nvSpPr>
        <p:spPr>
          <a:xfrm>
            <a:off x="3200400" y="1828800"/>
            <a:ext cx="224028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3328416" y="192024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PLAN INDUSTRIAL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328416" y="2176272"/>
            <a:ext cx="19842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32 medidas</a:t>
            </a:r>
          </a:p>
        </p:txBody>
      </p:sp>
      <p:sp>
        <p:nvSpPr>
          <p:cNvPr id="26" name="!!RESP1"/>
          <p:cNvSpPr/>
          <p:nvPr/>
        </p:nvSpPr>
        <p:spPr>
          <a:xfrm>
            <a:off x="5715000" y="1828800"/>
            <a:ext cx="224028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5843016" y="192024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INDUSTRIA 4.0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843016" y="2176272"/>
            <a:ext cx="19842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centro tecnológico</a:t>
            </a:r>
          </a:p>
        </p:txBody>
      </p:sp>
      <p:sp>
        <p:nvSpPr>
          <p:cNvPr id="29" name="!!RESP2"/>
          <p:cNvSpPr/>
          <p:nvPr/>
        </p:nvSpPr>
        <p:spPr>
          <a:xfrm>
            <a:off x="3200400" y="2971800"/>
            <a:ext cx="224028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3328416" y="306324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SISTEMAS 4.0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328416" y="3319272"/>
            <a:ext cx="19842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mantenimiento predictivo</a:t>
            </a:r>
          </a:p>
        </p:txBody>
      </p:sp>
      <p:sp>
        <p:nvSpPr>
          <p:cNvPr id="32" name="!!RESP3"/>
          <p:cNvSpPr/>
          <p:nvPr/>
        </p:nvSpPr>
        <p:spPr>
          <a:xfrm>
            <a:off x="5715000" y="2971800"/>
            <a:ext cx="224028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AB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5843016" y="306324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AB7DFF"/>
                </a:solidFill>
                <a:latin typeface="Aptos"/>
              </a:rPr>
              <a:t>CAPITAL HUMANO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843016" y="3319272"/>
            <a:ext cx="19842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IA avanzada</a:t>
            </a:r>
          </a:p>
        </p:txBody>
      </p:sp>
      <p:sp>
        <p:nvSpPr>
          <p:cNvPr id="35" name="!!RESP4"/>
          <p:cNvSpPr/>
          <p:nvPr/>
        </p:nvSpPr>
        <p:spPr>
          <a:xfrm>
            <a:off x="3200400" y="4114800"/>
            <a:ext cx="2240280" cy="914400"/>
          </a:xfrm>
          <a:prstGeom prst="roundRect">
            <a:avLst/>
          </a:prstGeom>
          <a:solidFill>
            <a:srgbClr val="0A1B2E"/>
          </a:solidFill>
          <a:ln>
            <a:solidFill>
              <a:srgbClr val="58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328416" y="420624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58D68D"/>
                </a:solidFill>
                <a:latin typeface="Aptos"/>
              </a:rPr>
              <a:t>BIOBÍO 2050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3328416" y="4462272"/>
            <a:ext cx="19842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innovación + talento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117336"/>
            <a:ext cx="6492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9BACBE"/>
                </a:solidFill>
                <a:latin typeface="Aptos"/>
              </a:rPr>
              <a:t>Fuente: Ministerio de Economía; Corfo; GORE Biobío; Desarrolla Biobío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ACERO + ALGORITMO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Transformar no significa reemplazar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Las capacidades digitales pueden incorporarse a los sectores productivos existentes.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16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7562088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691640"/>
            <a:ext cx="4663440" cy="3031236"/>
          </a:xfrm>
          <a:prstGeom prst="rect">
            <a:avLst/>
          </a:prstGeom>
        </p:spPr>
      </p:pic>
      <p:sp>
        <p:nvSpPr>
          <p:cNvPr id="22" name="!!EA0"/>
          <p:cNvSpPr/>
          <p:nvPr/>
        </p:nvSpPr>
        <p:spPr>
          <a:xfrm>
            <a:off x="548640" y="43434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585216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Manufactura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148840" y="43982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25" name="!!EB0"/>
          <p:cNvSpPr/>
          <p:nvPr/>
        </p:nvSpPr>
        <p:spPr>
          <a:xfrm>
            <a:off x="2423160" y="43434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2459736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Automatización</a:t>
            </a:r>
          </a:p>
        </p:txBody>
      </p:sp>
      <p:sp>
        <p:nvSpPr>
          <p:cNvPr id="27" name="!!EA1"/>
          <p:cNvSpPr/>
          <p:nvPr/>
        </p:nvSpPr>
        <p:spPr>
          <a:xfrm>
            <a:off x="4343400" y="43434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4379976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Metalmecánica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943600" y="43982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30" name="!!EB1"/>
          <p:cNvSpPr/>
          <p:nvPr/>
        </p:nvSpPr>
        <p:spPr>
          <a:xfrm>
            <a:off x="6217920" y="43434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6254496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Mantenimiento</a:t>
            </a:r>
          </a:p>
        </p:txBody>
      </p:sp>
      <p:sp>
        <p:nvSpPr>
          <p:cNvPr id="32" name="!!EA2"/>
          <p:cNvSpPr/>
          <p:nvPr/>
        </p:nvSpPr>
        <p:spPr>
          <a:xfrm>
            <a:off x="8138160" y="43434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8174736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Forestal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738360" y="43982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35" name="!!EB2"/>
          <p:cNvSpPr/>
          <p:nvPr/>
        </p:nvSpPr>
        <p:spPr>
          <a:xfrm>
            <a:off x="10012680" y="43434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10049255" y="44119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Sensores+datos</a:t>
            </a:r>
          </a:p>
        </p:txBody>
      </p:sp>
      <p:sp>
        <p:nvSpPr>
          <p:cNvPr id="37" name="!!EA3"/>
          <p:cNvSpPr/>
          <p:nvPr/>
        </p:nvSpPr>
        <p:spPr>
          <a:xfrm>
            <a:off x="548640" y="50292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585216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Puertos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2148840" y="50840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40" name="!!EB3"/>
          <p:cNvSpPr/>
          <p:nvPr/>
        </p:nvSpPr>
        <p:spPr>
          <a:xfrm>
            <a:off x="2423160" y="50292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2459736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Sistemas 4.0</a:t>
            </a:r>
          </a:p>
        </p:txBody>
      </p:sp>
      <p:sp>
        <p:nvSpPr>
          <p:cNvPr id="42" name="!!EA4"/>
          <p:cNvSpPr/>
          <p:nvPr/>
        </p:nvSpPr>
        <p:spPr>
          <a:xfrm>
            <a:off x="4343400" y="50292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4379976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Logística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943600" y="50840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45" name="!!EB4"/>
          <p:cNvSpPr/>
          <p:nvPr/>
        </p:nvSpPr>
        <p:spPr>
          <a:xfrm>
            <a:off x="6217920" y="50292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6254496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Software</a:t>
            </a:r>
          </a:p>
        </p:txBody>
      </p:sp>
      <p:sp>
        <p:nvSpPr>
          <p:cNvPr id="47" name="!!EA5"/>
          <p:cNvSpPr/>
          <p:nvPr/>
        </p:nvSpPr>
        <p:spPr>
          <a:xfrm>
            <a:off x="8138160" y="5029200"/>
            <a:ext cx="1554480" cy="329184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8174736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Industria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738360" y="5084064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6F9FC"/>
                </a:solidFill>
                <a:latin typeface="Aptos"/>
              </a:rPr>
              <a:t>+</a:t>
            </a:r>
          </a:p>
        </p:txBody>
      </p:sp>
      <p:sp>
        <p:nvSpPr>
          <p:cNvPr id="50" name="!!EB5"/>
          <p:cNvSpPr/>
          <p:nvPr/>
        </p:nvSpPr>
        <p:spPr>
          <a:xfrm>
            <a:off x="10012680" y="5029200"/>
            <a:ext cx="15544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10049255" y="5097780"/>
            <a:ext cx="1481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IA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HIPÓTESIS FUTURA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¿Qué riesgo merece investigarse a continuación?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Hipótesis, no conclusión: requiere empleo, vacantes, salarios, competencias, egresados y series temporales.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17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7991855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3383280" cy="2199132"/>
          </a:xfrm>
          <a:prstGeom prst="rect">
            <a:avLst/>
          </a:prstGeom>
        </p:spPr>
      </p:pic>
      <p:sp>
        <p:nvSpPr>
          <p:cNvPr id="22" name="!!HYP"/>
          <p:cNvSpPr/>
          <p:nvPr/>
        </p:nvSpPr>
        <p:spPr>
          <a:xfrm>
            <a:off x="685800" y="1874519"/>
            <a:ext cx="539496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813816" y="1965960"/>
            <a:ext cx="5138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HIPÓTESIS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3816" y="2221991"/>
            <a:ext cx="513892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6F9FC"/>
                </a:solidFill>
                <a:latin typeface="Aptos"/>
              </a:rPr>
              <a:t>Velocidades distintas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13816" y="2980944"/>
            <a:ext cx="51389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transformación industrial vs. capital humano</a:t>
            </a:r>
          </a:p>
        </p:txBody>
      </p:sp>
      <p:sp>
        <p:nvSpPr>
          <p:cNvPr id="26" name="!!RSK0"/>
          <p:cNvSpPr/>
          <p:nvPr/>
        </p:nvSpPr>
        <p:spPr>
          <a:xfrm>
            <a:off x="777240" y="3657600"/>
            <a:ext cx="2331720" cy="329184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13816" y="372618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adopción tecnológica</a:t>
            </a:r>
          </a:p>
        </p:txBody>
      </p:sp>
      <p:sp>
        <p:nvSpPr>
          <p:cNvPr id="28" name="!!RSK1"/>
          <p:cNvSpPr/>
          <p:nvPr/>
        </p:nvSpPr>
        <p:spPr>
          <a:xfrm>
            <a:off x="3429000" y="3657600"/>
            <a:ext cx="2331720" cy="329184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3465576" y="3726180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vacantes especializadas</a:t>
            </a:r>
          </a:p>
        </p:txBody>
      </p:sp>
      <p:sp>
        <p:nvSpPr>
          <p:cNvPr id="30" name="!!RSK2"/>
          <p:cNvSpPr/>
          <p:nvPr/>
        </p:nvSpPr>
        <p:spPr>
          <a:xfrm>
            <a:off x="777240" y="4224528"/>
            <a:ext cx="2331720" cy="329184"/>
          </a:xfrm>
          <a:prstGeom prst="roundRect">
            <a:avLst/>
          </a:prstGeom>
          <a:solidFill>
            <a:srgbClr val="FF5B5B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813816" y="4293108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talento externo</a:t>
            </a:r>
          </a:p>
        </p:txBody>
      </p:sp>
      <p:sp>
        <p:nvSpPr>
          <p:cNvPr id="32" name="!!RSK3"/>
          <p:cNvSpPr/>
          <p:nvPr/>
        </p:nvSpPr>
        <p:spPr>
          <a:xfrm>
            <a:off x="3429000" y="4224528"/>
            <a:ext cx="233172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3465576" y="4293108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skills mismatch</a:t>
            </a:r>
          </a:p>
        </p:txBody>
      </p:sp>
      <p:sp>
        <p:nvSpPr>
          <p:cNvPr id="34" name="!!RSK4"/>
          <p:cNvSpPr/>
          <p:nvPr/>
        </p:nvSpPr>
        <p:spPr>
          <a:xfrm>
            <a:off x="777240" y="4791456"/>
            <a:ext cx="233172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813816" y="4860036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inversión tecnológica</a:t>
            </a:r>
          </a:p>
        </p:txBody>
      </p:sp>
      <p:sp>
        <p:nvSpPr>
          <p:cNvPr id="36" name="!!RSK5"/>
          <p:cNvSpPr/>
          <p:nvPr/>
        </p:nvSpPr>
        <p:spPr>
          <a:xfrm>
            <a:off x="3429000" y="4791456"/>
            <a:ext cx="233172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3465576" y="4860036"/>
            <a:ext cx="22585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productividad potencial</a:t>
            </a:r>
          </a:p>
        </p:txBody>
      </p:sp>
      <p:sp>
        <p:nvSpPr>
          <p:cNvPr id="38" name="!!NOTE"/>
          <p:cNvSpPr/>
          <p:nvPr/>
        </p:nvSpPr>
        <p:spPr>
          <a:xfrm>
            <a:off x="777240" y="5486400"/>
            <a:ext cx="498348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868680" y="5596128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Riesgos plausibles ≠ efectos demostrados.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LÍNEA TEMPORAL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Cuatro momentos, no una causalidad inventada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2021 es línea base; los hechos posteriores explican por qué esa fotografía puede volverse relevante.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18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8421624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TM0"/>
          <p:cNvSpPr/>
          <p:nvPr/>
        </p:nvSpPr>
        <p:spPr>
          <a:xfrm>
            <a:off x="685800" y="1828800"/>
            <a:ext cx="2148840" cy="96012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13816" y="192024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2021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3816" y="2176272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Fotografía + ENADEL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3337560"/>
            <a:ext cx="438912" cy="438912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TM1"/>
          <p:cNvSpPr/>
          <p:nvPr/>
        </p:nvSpPr>
        <p:spPr>
          <a:xfrm>
            <a:off x="3657600" y="1828800"/>
            <a:ext cx="2148840" cy="960120"/>
          </a:xfrm>
          <a:prstGeom prst="roundRect">
            <a:avLst/>
          </a:prstGeom>
          <a:solidFill>
            <a:srgbClr val="0A1B2E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3785615" y="192024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5B5B"/>
                </a:solidFill>
                <a:latin typeface="Aptos"/>
              </a:rPr>
              <a:t>2024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785615" y="2176272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Shock Huachipato</a:t>
            </a:r>
          </a:p>
        </p:txBody>
      </p:sp>
      <p:sp>
        <p:nvSpPr>
          <p:cNvPr id="28" name="Oval 27"/>
          <p:cNvSpPr/>
          <p:nvPr/>
        </p:nvSpPr>
        <p:spPr>
          <a:xfrm>
            <a:off x="3886200" y="3337560"/>
            <a:ext cx="438912" cy="438912"/>
          </a:xfrm>
          <a:prstGeom prst="ellipse">
            <a:avLst/>
          </a:prstGeom>
          <a:solidFill>
            <a:srgbClr val="FF5B5B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TM2"/>
          <p:cNvSpPr/>
          <p:nvPr/>
        </p:nvSpPr>
        <p:spPr>
          <a:xfrm>
            <a:off x="6629400" y="1828800"/>
            <a:ext cx="2148840" cy="96012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6757416" y="192024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2024–26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757416" y="2176272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Industria 4.0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3337560"/>
            <a:ext cx="438912" cy="438912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TM3"/>
          <p:cNvSpPr/>
          <p:nvPr/>
        </p:nvSpPr>
        <p:spPr>
          <a:xfrm>
            <a:off x="9601200" y="1828800"/>
            <a:ext cx="2148840" cy="960120"/>
          </a:xfrm>
          <a:prstGeom prst="roundRect">
            <a:avLst/>
          </a:prstGeom>
          <a:solidFill>
            <a:srgbClr val="0A1B2E"/>
          </a:solidFill>
          <a:ln>
            <a:solidFill>
              <a:srgbClr val="58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9729216" y="1920240"/>
            <a:ext cx="1892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58D68D"/>
                </a:solidFill>
                <a:latin typeface="Aptos"/>
              </a:rPr>
              <a:t>2050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729216" y="2176272"/>
            <a:ext cx="18928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Pregunta futura</a:t>
            </a:r>
          </a:p>
        </p:txBody>
      </p:sp>
      <p:sp>
        <p:nvSpPr>
          <p:cNvPr id="36" name="Oval 35"/>
          <p:cNvSpPr/>
          <p:nvPr/>
        </p:nvSpPr>
        <p:spPr>
          <a:xfrm>
            <a:off x="9829800" y="3337560"/>
            <a:ext cx="438912" cy="438912"/>
          </a:xfrm>
          <a:prstGeom prst="ellipse">
            <a:avLst/>
          </a:prstGeom>
          <a:solidFill>
            <a:srgbClr val="58D68D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25880" y="3547872"/>
            <a:ext cx="2560320" cy="27432"/>
          </a:xfrm>
          <a:prstGeom prst="rect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547872"/>
            <a:ext cx="2560320" cy="27432"/>
          </a:xfrm>
          <a:prstGeom prst="rect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69480" y="3547872"/>
            <a:ext cx="2560320" cy="27432"/>
          </a:xfrm>
          <a:prstGeom prst="rect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NOTE"/>
          <p:cNvSpPr/>
          <p:nvPr/>
        </p:nvSpPr>
        <p:spPr>
          <a:xfrm>
            <a:off x="2011680" y="4709160"/>
            <a:ext cx="813816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2103120" y="4818888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¿Evolucionará el capital humano junto con la transformación productiva que la región proyecta?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CONCLUSIONES Y LÍMITES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Qué demostramos y qué NO demostramos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Separar resultados, contexto e hipótesis protege la interpretación estadística.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19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8851392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CA"/>
          <p:cNvSpPr/>
          <p:nvPr/>
        </p:nvSpPr>
        <p:spPr>
          <a:xfrm>
            <a:off x="685800" y="182880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1381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DEMOSTRAMOS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381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6F9FC"/>
                </a:solidFill>
                <a:latin typeface="Aptos"/>
              </a:rPr>
              <a:t>20,15% vs 6,92%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3816" y="29352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≈ 2,9 : 1 en 2021</a:t>
            </a:r>
          </a:p>
        </p:txBody>
      </p:sp>
      <p:sp>
        <p:nvSpPr>
          <p:cNvPr id="25" name="!!CB"/>
          <p:cNvSpPr/>
          <p:nvPr/>
        </p:nvSpPr>
        <p:spPr>
          <a:xfrm>
            <a:off x="4160520" y="182880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28853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DEMOSTRAMOS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28853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Precios + asociaciones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288536" y="29352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3 preguntas obligatorias</a:t>
            </a:r>
          </a:p>
        </p:txBody>
      </p:sp>
      <p:sp>
        <p:nvSpPr>
          <p:cNvPr id="29" name="!!CC"/>
          <p:cNvSpPr/>
          <p:nvPr/>
        </p:nvSpPr>
        <p:spPr>
          <a:xfrm>
            <a:off x="7635240" y="1828800"/>
            <a:ext cx="31546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776325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5B5B"/>
                </a:solidFill>
                <a:latin typeface="Aptos"/>
              </a:rPr>
              <a:t>NO DEMOSTRAMOS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76325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Causalidad / déficit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763256" y="29352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ni evolución temporal</a:t>
            </a:r>
          </a:p>
        </p:txBody>
      </p:sp>
      <p:sp>
        <p:nvSpPr>
          <p:cNvPr id="33" name="!!L0"/>
          <p:cNvSpPr/>
          <p:nvPr/>
        </p:nvSpPr>
        <p:spPr>
          <a:xfrm>
            <a:off x="731520" y="3749039"/>
            <a:ext cx="2423160" cy="329184"/>
          </a:xfrm>
          <a:prstGeom prst="roundRect">
            <a:avLst/>
          </a:prstGeom>
          <a:solidFill>
            <a:srgbClr val="5C7084"/>
          </a:solidFill>
          <a:ln>
            <a:solidFill>
              <a:srgbClr val="5C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768096" y="3817620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Solo 2021</a:t>
            </a:r>
          </a:p>
        </p:txBody>
      </p:sp>
      <p:sp>
        <p:nvSpPr>
          <p:cNvPr id="35" name="!!L1"/>
          <p:cNvSpPr/>
          <p:nvPr/>
        </p:nvSpPr>
        <p:spPr>
          <a:xfrm>
            <a:off x="3474720" y="3749039"/>
            <a:ext cx="2423160" cy="329184"/>
          </a:xfrm>
          <a:prstGeom prst="roundRect">
            <a:avLst/>
          </a:prstGeom>
          <a:solidFill>
            <a:srgbClr val="5C7084"/>
          </a:solidFill>
          <a:ln>
            <a:solidFill>
              <a:srgbClr val="5C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511296" y="3817620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Taxonomía propia</a:t>
            </a:r>
          </a:p>
        </p:txBody>
      </p:sp>
      <p:sp>
        <p:nvSpPr>
          <p:cNvPr id="37" name="!!L2"/>
          <p:cNvSpPr/>
          <p:nvPr/>
        </p:nvSpPr>
        <p:spPr>
          <a:xfrm>
            <a:off x="6217920" y="3749039"/>
            <a:ext cx="2423160" cy="329184"/>
          </a:xfrm>
          <a:prstGeom prst="roundRect">
            <a:avLst/>
          </a:prstGeom>
          <a:solidFill>
            <a:srgbClr val="5C7084"/>
          </a:solidFill>
          <a:ln>
            <a:solidFill>
              <a:srgbClr val="5C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6254496" y="3817620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Una familia/carrera</a:t>
            </a:r>
          </a:p>
        </p:txBody>
      </p:sp>
      <p:sp>
        <p:nvSpPr>
          <p:cNvPr id="39" name="!!L3"/>
          <p:cNvSpPr/>
          <p:nvPr/>
        </p:nvSpPr>
        <p:spPr>
          <a:xfrm>
            <a:off x="8961120" y="3749039"/>
            <a:ext cx="2423160" cy="329184"/>
          </a:xfrm>
          <a:prstGeom prst="roundRect">
            <a:avLst/>
          </a:prstGeom>
          <a:solidFill>
            <a:srgbClr val="5C7084"/>
          </a:solidFill>
          <a:ln>
            <a:solidFill>
              <a:srgbClr val="5C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8997696" y="3817620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Sin salarios</a:t>
            </a:r>
          </a:p>
        </p:txBody>
      </p:sp>
      <p:sp>
        <p:nvSpPr>
          <p:cNvPr id="41" name="!!L4"/>
          <p:cNvSpPr/>
          <p:nvPr/>
        </p:nvSpPr>
        <p:spPr>
          <a:xfrm>
            <a:off x="731520" y="4407407"/>
            <a:ext cx="242316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768096" y="4475988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Sin vacantes carrera/carrera</a:t>
            </a:r>
          </a:p>
        </p:txBody>
      </p:sp>
      <p:sp>
        <p:nvSpPr>
          <p:cNvPr id="43" name="!!L5"/>
          <p:cNvSpPr/>
          <p:nvPr/>
        </p:nvSpPr>
        <p:spPr>
          <a:xfrm>
            <a:off x="3474720" y="4407407"/>
            <a:ext cx="242316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3511296" y="4475988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Sin productividad</a:t>
            </a:r>
          </a:p>
        </p:txBody>
      </p:sp>
      <p:sp>
        <p:nvSpPr>
          <p:cNvPr id="45" name="!!L6"/>
          <p:cNvSpPr/>
          <p:nvPr/>
        </p:nvSpPr>
        <p:spPr>
          <a:xfrm>
            <a:off x="6217920" y="4407407"/>
            <a:ext cx="242316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6254496" y="4475988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Sin serie temporal</a:t>
            </a:r>
          </a:p>
        </p:txBody>
      </p:sp>
      <p:sp>
        <p:nvSpPr>
          <p:cNvPr id="47" name="!!L7"/>
          <p:cNvSpPr/>
          <p:nvPr/>
        </p:nvSpPr>
        <p:spPr>
          <a:xfrm>
            <a:off x="8961120" y="4407407"/>
            <a:ext cx="242316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8997696" y="4475988"/>
            <a:ext cx="2350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Asociación ≠ causalidad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Elaboración propia · Matrículas Educación Superior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FUENTES Y CIERRE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La pregunta que queda abierta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El desafío es incorporar capacidades digitales, automatización, datos e innovación a la identidad industrial del Biobío.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20</a:t>
            </a:r>
          </a:p>
        </p:txBody>
      </p:sp>
      <p:sp>
        <p:nvSpPr>
          <p:cNvPr id="8" name="!!ST0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 2021</a:t>
            </a:r>
          </a:p>
        </p:txBody>
      </p:sp>
      <p:sp>
        <p:nvSpPr>
          <p:cNvPr id="10" name="!!ST1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ESTADÍSTICA</a:t>
            </a:r>
          </a:p>
        </p:txBody>
      </p:sp>
      <p:sp>
        <p:nvSpPr>
          <p:cNvPr id="12" name="!!ST2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ADN</a:t>
            </a:r>
          </a:p>
        </p:txBody>
      </p:sp>
      <p:sp>
        <p:nvSpPr>
          <p:cNvPr id="14" name="!!ST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6" name="!!ST4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REGIÓN</a:t>
            </a:r>
          </a:p>
        </p:txBody>
      </p:sp>
      <p:sp>
        <p:nvSpPr>
          <p:cNvPr id="18" name="!!ST5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FUTURO</a:t>
            </a:r>
          </a:p>
        </p:txBody>
      </p:sp>
      <p:sp>
        <p:nvSpPr>
          <p:cNvPr id="20" name="!!FLOW"/>
          <p:cNvSpPr/>
          <p:nvPr/>
        </p:nvSpPr>
        <p:spPr>
          <a:xfrm>
            <a:off x="9281159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IMG_A" descr="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3931920" cy="2555748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685800" y="17373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SENCE · ENADEL 2021 Biobío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85800" y="21945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Ministerio de Economía · Plan Industrial 2024 / avance 2026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85800" y="26517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Corfo · Manufactura Avanzada e Industria 4.0, 2025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85800" y="31089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Corfo · Sistemas inteligentes / mantenimiento predictivo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85800" y="35661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GORE Biobío · Capital Humano Avanzado en IA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85800" y="40233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F6F9FC"/>
                </a:solidFill>
                <a:latin typeface="Aptos"/>
              </a:rPr>
              <a:t>• Desarrolla Biobío · Estrategia Biobío 2050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85800" y="4480560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40" b="0">
                <a:solidFill>
                  <a:srgbClr val="26DAFF"/>
                </a:solidFill>
                <a:latin typeface="Aptos"/>
              </a:rPr>
              <a:t>• Excel del trabajo · elaboración propia</a:t>
            </a:r>
          </a:p>
        </p:txBody>
      </p:sp>
      <p:sp>
        <p:nvSpPr>
          <p:cNvPr id="29" name="!!NOTE"/>
          <p:cNvSpPr/>
          <p:nvPr/>
        </p:nvSpPr>
        <p:spPr>
          <a:xfrm>
            <a:off x="868680" y="5230368"/>
            <a:ext cx="10058400" cy="502920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960120" y="5340096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¿Está evolucionando el capital humano del Biobío al mismo ritmo que la transformación productiva que la región proyecta?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040880" y="62362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CIERRE · DEL ACERO AL ALGORITMO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