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228600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235440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TITLE"/>
          <p:cNvSpPr txBox="1"/>
          <p:nvPr/>
        </p:nvSpPr>
        <p:spPr>
          <a:xfrm>
            <a:off x="731520" y="914400"/>
            <a:ext cx="4572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F6F9FC"/>
                </a:solidFill>
                <a:latin typeface="Aptos Display"/>
              </a:rPr>
              <a:t>DEL ACERO</a:t>
            </a:r>
          </a:p>
          <a:p>
            <a:r>
              <a:rPr sz="3900" b="1">
                <a:solidFill>
                  <a:srgbClr val="FF831F"/>
                </a:solidFill>
                <a:latin typeface="Aptos Display"/>
              </a:rPr>
              <a:t>AL ALGORITMO</a:t>
            </a:r>
          </a:p>
        </p:txBody>
      </p:sp>
      <p:sp>
        <p:nvSpPr>
          <p:cNvPr id="7" name="!!MOTOR"/>
          <p:cNvSpPr/>
          <p:nvPr/>
        </p:nvSpPr>
        <p:spPr>
          <a:xfrm>
            <a:off x="6949440" y="2011680"/>
            <a:ext cx="1920240" cy="118872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77455" y="2121408"/>
            <a:ext cx="16642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MOTORES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7455" y="2395728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20,15%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7455" y="2926080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20.368 matrículas</a:t>
            </a:r>
          </a:p>
        </p:txBody>
      </p:sp>
      <p:sp>
        <p:nvSpPr>
          <p:cNvPr id="11" name="!!TRANS"/>
          <p:cNvSpPr/>
          <p:nvPr/>
        </p:nvSpPr>
        <p:spPr>
          <a:xfrm>
            <a:off x="9144000" y="2011680"/>
            <a:ext cx="1920240" cy="11887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72016" y="2121408"/>
            <a:ext cx="16642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TRANSFORMADORAS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395728"/>
            <a:ext cx="16642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6,92%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2016" y="2926080"/>
            <a:ext cx="16642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7.000 matrículas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6F9FC"/>
                </a:solidFill>
                <a:latin typeface="Aptos"/>
              </a:rPr>
              <a:t>¿Qué peso tenía en 2021 la formación ligada a los motores productivos frente a las capacidades transformadoras?</a:t>
            </a:r>
          </a:p>
        </p:txBody>
      </p:sp>
      <p:sp>
        <p:nvSpPr>
          <p:cNvPr id="16" name="!!FLOW"/>
          <p:cNvSpPr/>
          <p:nvPr/>
        </p:nvSpPr>
        <p:spPr>
          <a:xfrm>
            <a:off x="5669280" y="548640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256032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217152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RECORRIDO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Así está construido el notebook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Pandas → variables → frecuencias → gráficos → tendencia → dispersión → aplicación → preguntas.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02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914400" y="544068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STEP0"/>
          <p:cNvSpPr/>
          <p:nvPr/>
        </p:nvSpPr>
        <p:spPr>
          <a:xfrm>
            <a:off x="731520" y="196596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207568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ETAPA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235000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265176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31" name="!!STEP1"/>
          <p:cNvSpPr/>
          <p:nvPr/>
        </p:nvSpPr>
        <p:spPr>
          <a:xfrm>
            <a:off x="3474720" y="196596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2736" y="207568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ETAPA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2736" y="235000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VARIABLES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2736" y="265176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35" name="!!STEP2"/>
          <p:cNvSpPr/>
          <p:nvPr/>
        </p:nvSpPr>
        <p:spPr>
          <a:xfrm>
            <a:off x="6217920" y="196596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5936" y="207568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ETAPA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235000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FRECUENCIAS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265176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39" name="!!STEP3"/>
          <p:cNvSpPr/>
          <p:nvPr/>
        </p:nvSpPr>
        <p:spPr>
          <a:xfrm>
            <a:off x="8961120" y="196596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207568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ETAPA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9136" y="235000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GRÁFICOS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265176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43" name="!!STEP4"/>
          <p:cNvSpPr/>
          <p:nvPr/>
        </p:nvSpPr>
        <p:spPr>
          <a:xfrm>
            <a:off x="731520" y="347472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" y="358444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ETAPA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" y="385876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TENDENCIA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" y="416052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47" name="!!STEP5"/>
          <p:cNvSpPr/>
          <p:nvPr/>
        </p:nvSpPr>
        <p:spPr>
          <a:xfrm>
            <a:off x="3474720" y="347472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02736" y="358444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ETAPA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2736" y="385876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DISPERSIÓN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02736" y="416052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51" name="!!STEP6"/>
          <p:cNvSpPr/>
          <p:nvPr/>
        </p:nvSpPr>
        <p:spPr>
          <a:xfrm>
            <a:off x="6217920" y="347472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58444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ETAPA 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45936" y="385876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APLICACIÓN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16052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  <p:sp>
        <p:nvSpPr>
          <p:cNvPr id="55" name="!!STEP7"/>
          <p:cNvSpPr/>
          <p:nvPr/>
        </p:nvSpPr>
        <p:spPr>
          <a:xfrm>
            <a:off x="8961120" y="3474720"/>
            <a:ext cx="2331720" cy="96012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89136" y="358444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ETAPA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89136" y="385876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PREGUNTAS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89136" y="416052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pregunta → código → resultado → interpretación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283464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198864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LAB 0 · PANDAS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De 106.555 registros a una base lista para analizar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read_excel(), head(), tail(), shape, info(), value_counts(), filtros y nuevas columnas.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03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2834640" y="544068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KPI0"/>
          <p:cNvSpPr/>
          <p:nvPr/>
        </p:nvSpPr>
        <p:spPr>
          <a:xfrm>
            <a:off x="822960" y="2057400"/>
            <a:ext cx="2331720" cy="13716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216712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REGISTROS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244144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106.555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15468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28 columnas</a:t>
            </a:r>
          </a:p>
        </p:txBody>
      </p:sp>
      <p:sp>
        <p:nvSpPr>
          <p:cNvPr id="31" name="!!KPI1"/>
          <p:cNvSpPr/>
          <p:nvPr/>
        </p:nvSpPr>
        <p:spPr>
          <a:xfrm>
            <a:off x="3611879" y="2057400"/>
            <a:ext cx="2331720" cy="13716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39896" y="216712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PREGRADO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39896" y="244144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101.093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315468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matrículas</a:t>
            </a:r>
          </a:p>
        </p:txBody>
      </p:sp>
      <p:sp>
        <p:nvSpPr>
          <p:cNvPr id="35" name="!!KPI2"/>
          <p:cNvSpPr/>
          <p:nvPr/>
        </p:nvSpPr>
        <p:spPr>
          <a:xfrm>
            <a:off x="6400800" y="2057400"/>
            <a:ext cx="2331720" cy="13716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216712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PRECIO &gt; 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244144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101.067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8816" y="315468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26 excluidos</a:t>
            </a:r>
          </a:p>
        </p:txBody>
      </p:sp>
      <p:sp>
        <p:nvSpPr>
          <p:cNvPr id="39" name="!!KPI3"/>
          <p:cNvSpPr/>
          <p:nvPr/>
        </p:nvSpPr>
        <p:spPr>
          <a:xfrm>
            <a:off x="9189719" y="2057400"/>
            <a:ext cx="2331720" cy="13716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17736" y="216712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OFERTAS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244144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1.273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154680"/>
            <a:ext cx="20756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unidad precio</a:t>
            </a:r>
          </a:p>
        </p:txBody>
      </p:sp>
      <p:sp>
        <p:nvSpPr>
          <p:cNvPr id="43" name="!!TOOL0"/>
          <p:cNvSpPr/>
          <p:nvPr/>
        </p:nvSpPr>
        <p:spPr>
          <a:xfrm>
            <a:off x="914400" y="4069080"/>
            <a:ext cx="1828800" cy="841248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" y="4178808"/>
            <a:ext cx="15727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HERRAMIENTA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" y="4453128"/>
            <a:ext cx="15727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read_excel()</a:t>
            </a:r>
          </a:p>
        </p:txBody>
      </p:sp>
      <p:sp>
        <p:nvSpPr>
          <p:cNvPr id="46" name="!!TOOL1"/>
          <p:cNvSpPr/>
          <p:nvPr/>
        </p:nvSpPr>
        <p:spPr>
          <a:xfrm>
            <a:off x="3063240" y="4069080"/>
            <a:ext cx="1828800" cy="841248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91256" y="4178808"/>
            <a:ext cx="15727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HERRAMIENTA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1256" y="4453128"/>
            <a:ext cx="15727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head()/tail()</a:t>
            </a:r>
          </a:p>
        </p:txBody>
      </p:sp>
      <p:sp>
        <p:nvSpPr>
          <p:cNvPr id="49" name="!!TOOL2"/>
          <p:cNvSpPr/>
          <p:nvPr/>
        </p:nvSpPr>
        <p:spPr>
          <a:xfrm>
            <a:off x="5212080" y="4069080"/>
            <a:ext cx="1828800" cy="841248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40096" y="4178808"/>
            <a:ext cx="15727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HERRAMIENTA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40096" y="4453128"/>
            <a:ext cx="15727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shape/info()</a:t>
            </a:r>
          </a:p>
        </p:txBody>
      </p:sp>
      <p:sp>
        <p:nvSpPr>
          <p:cNvPr id="52" name="!!TOOL3"/>
          <p:cNvSpPr/>
          <p:nvPr/>
        </p:nvSpPr>
        <p:spPr>
          <a:xfrm>
            <a:off x="7360920" y="4069080"/>
            <a:ext cx="1828800" cy="841248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88936" y="4178808"/>
            <a:ext cx="15727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HERRAMIENTA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88936" y="4453128"/>
            <a:ext cx="15727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value_counts()</a:t>
            </a:r>
          </a:p>
        </p:txBody>
      </p:sp>
      <p:sp>
        <p:nvSpPr>
          <p:cNvPr id="55" name="!!TOOL4"/>
          <p:cNvSpPr/>
          <p:nvPr/>
        </p:nvSpPr>
        <p:spPr>
          <a:xfrm>
            <a:off x="9509760" y="4069080"/>
            <a:ext cx="1828800" cy="841248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37776" y="4178808"/>
            <a:ext cx="15727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HERRAMIENTA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37776" y="4453128"/>
            <a:ext cx="15727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isin() + filtros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310896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180576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LAB 1 · CONCEPTOS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Población, muestra y clasificación de variables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La clasificación determina qué tabla, gráfico y medida estadística corresponde.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04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4114800" y="539496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AR0"/>
          <p:cNvSpPr/>
          <p:nvPr/>
        </p:nvSpPr>
        <p:spPr>
          <a:xfrm>
            <a:off x="822960" y="2011680"/>
            <a:ext cx="3154680" cy="109728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2121408"/>
            <a:ext cx="2898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GENERO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2395728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Nominal</a:t>
            </a:r>
          </a:p>
        </p:txBody>
      </p:sp>
      <p:sp>
        <p:nvSpPr>
          <p:cNvPr id="30" name="!!VAR1"/>
          <p:cNvSpPr/>
          <p:nvPr/>
        </p:nvSpPr>
        <p:spPr>
          <a:xfrm>
            <a:off x="4526280" y="2011680"/>
            <a:ext cx="3154680" cy="109728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4296" y="2121408"/>
            <a:ext cx="2898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RANGO EDAD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4296" y="2395728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Ordinal</a:t>
            </a:r>
          </a:p>
        </p:txBody>
      </p:sp>
      <p:sp>
        <p:nvSpPr>
          <p:cNvPr id="33" name="!!VAR2"/>
          <p:cNvSpPr/>
          <p:nvPr/>
        </p:nvSpPr>
        <p:spPr>
          <a:xfrm>
            <a:off x="8229600" y="2011680"/>
            <a:ext cx="3154680" cy="109728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7616" y="2121408"/>
            <a:ext cx="2898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EDAD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395728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Cuantitativa</a:t>
            </a:r>
          </a:p>
        </p:txBody>
      </p:sp>
      <p:sp>
        <p:nvSpPr>
          <p:cNvPr id="36" name="!!VAR3"/>
          <p:cNvSpPr/>
          <p:nvPr/>
        </p:nvSpPr>
        <p:spPr>
          <a:xfrm>
            <a:off x="822960" y="3566160"/>
            <a:ext cx="3154680" cy="109728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" y="3675888"/>
            <a:ext cx="2898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ARANCEL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" y="3950208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Cuantitativa</a:t>
            </a:r>
          </a:p>
        </p:txBody>
      </p:sp>
      <p:sp>
        <p:nvSpPr>
          <p:cNvPr id="39" name="!!VAR4"/>
          <p:cNvSpPr/>
          <p:nvPr/>
        </p:nvSpPr>
        <p:spPr>
          <a:xfrm>
            <a:off x="4526280" y="3566160"/>
            <a:ext cx="3154680" cy="109728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54296" y="3675888"/>
            <a:ext cx="2898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ÁREA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54296" y="3950208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Nominal</a:t>
            </a:r>
          </a:p>
        </p:txBody>
      </p:sp>
      <p:sp>
        <p:nvSpPr>
          <p:cNvPr id="42" name="!!VAR5"/>
          <p:cNvSpPr/>
          <p:nvPr/>
        </p:nvSpPr>
        <p:spPr>
          <a:xfrm>
            <a:off x="8229600" y="3566160"/>
            <a:ext cx="3154680" cy="1097280"/>
          </a:xfrm>
          <a:prstGeom prst="roundRect">
            <a:avLst/>
          </a:prstGeom>
          <a:solidFill>
            <a:srgbClr val="0C1D31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57616" y="3675888"/>
            <a:ext cx="2898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3950208"/>
            <a:ext cx="2898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Discreta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338328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162288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LAB 2 · FRECUENCIAS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Contar, ordenar y acumular cuando corresponde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Nominales: fi y hi. Cuantitativas ordenadas o agrupadas: fi, Fi, hi y 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05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5486400" y="539496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AR0"/>
          <p:cNvSpPr/>
          <p:nvPr/>
        </p:nvSpPr>
        <p:spPr>
          <a:xfrm>
            <a:off x="777240" y="1965960"/>
            <a:ext cx="324612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07568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GÉNERO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" y="23500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54,3% F · 45,7% M</a:t>
            </a:r>
          </a:p>
        </p:txBody>
      </p:sp>
      <p:sp>
        <p:nvSpPr>
          <p:cNvPr id="30" name="!!VAR1"/>
          <p:cNvSpPr/>
          <p:nvPr/>
        </p:nvSpPr>
        <p:spPr>
          <a:xfrm>
            <a:off x="4526279" y="1965960"/>
            <a:ext cx="324612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4295" y="207568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ÁREA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4295" y="23500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27,6% Tecnología</a:t>
            </a:r>
          </a:p>
        </p:txBody>
      </p:sp>
      <p:sp>
        <p:nvSpPr>
          <p:cNvPr id="33" name="!!VAR2"/>
          <p:cNvSpPr/>
          <p:nvPr/>
        </p:nvSpPr>
        <p:spPr>
          <a:xfrm>
            <a:off x="8275319" y="1965960"/>
            <a:ext cx="324612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6" y="207568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8D68D"/>
                </a:solidFill>
                <a:latin typeface="Aptos"/>
              </a:rPr>
              <a:t>DURACIÓN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6" y="23500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10 sem = 34,6%</a:t>
            </a:r>
          </a:p>
        </p:txBody>
      </p:sp>
      <p:sp>
        <p:nvSpPr>
          <p:cNvPr id="36" name="!!VAR3"/>
          <p:cNvSpPr/>
          <p:nvPr/>
        </p:nvSpPr>
        <p:spPr>
          <a:xfrm>
            <a:off x="777240" y="3566160"/>
            <a:ext cx="324612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" y="3675887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EDAD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" y="39502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pd.cut()</a:t>
            </a:r>
          </a:p>
        </p:txBody>
      </p:sp>
      <p:sp>
        <p:nvSpPr>
          <p:cNvPr id="39" name="!!VAR4"/>
          <p:cNvSpPr/>
          <p:nvPr/>
        </p:nvSpPr>
        <p:spPr>
          <a:xfrm>
            <a:off x="4526279" y="3566160"/>
            <a:ext cx="324612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54295" y="3675887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ARANCEL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54295" y="39502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pd.cut()</a:t>
            </a:r>
          </a:p>
        </p:txBody>
      </p:sp>
      <p:sp>
        <p:nvSpPr>
          <p:cNvPr id="42" name="!!VAR5"/>
          <p:cNvSpPr/>
          <p:nvPr/>
        </p:nvSpPr>
        <p:spPr>
          <a:xfrm>
            <a:off x="8275319" y="3566160"/>
            <a:ext cx="324612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03336" y="3675887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FI · FI · HI · HI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03336" y="39502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según variable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365760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144000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LAB 3 · GRÁFICOS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Las tablas se convierten en imágenes interpretables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Circular, barras, histogramas, subplots y dispersión.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06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6858000" y="539496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G0"/>
          <p:cNvSpPr/>
          <p:nvPr/>
        </p:nvSpPr>
        <p:spPr>
          <a:xfrm>
            <a:off x="731520" y="2319250"/>
            <a:ext cx="571500" cy="2161309"/>
          </a:xfrm>
          <a:prstGeom prst="round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063218"/>
            <a:ext cx="6629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27.60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4544568"/>
            <a:ext cx="79095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Tecnología</a:t>
            </a:r>
          </a:p>
        </p:txBody>
      </p:sp>
      <p:sp>
        <p:nvSpPr>
          <p:cNvPr id="30" name="!!G1"/>
          <p:cNvSpPr/>
          <p:nvPr/>
        </p:nvSpPr>
        <p:spPr>
          <a:xfrm>
            <a:off x="1760220" y="2577668"/>
            <a:ext cx="571500" cy="1902891"/>
          </a:xfrm>
          <a:prstGeom prst="round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14500" y="2321636"/>
            <a:ext cx="6629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24.30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50492" y="4544568"/>
            <a:ext cx="79095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Salud</a:t>
            </a:r>
          </a:p>
        </p:txBody>
      </p:sp>
      <p:sp>
        <p:nvSpPr>
          <p:cNvPr id="33" name="!!G2"/>
          <p:cNvSpPr/>
          <p:nvPr/>
        </p:nvSpPr>
        <p:spPr>
          <a:xfrm>
            <a:off x="2788920" y="3431228"/>
            <a:ext cx="571500" cy="1049331"/>
          </a:xfrm>
          <a:prstGeom prst="round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3175196"/>
            <a:ext cx="6629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13.40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79191" y="4544568"/>
            <a:ext cx="79095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Adm.</a:t>
            </a:r>
          </a:p>
        </p:txBody>
      </p:sp>
      <p:sp>
        <p:nvSpPr>
          <p:cNvPr id="36" name="!!G3"/>
          <p:cNvSpPr/>
          <p:nvPr/>
        </p:nvSpPr>
        <p:spPr>
          <a:xfrm>
            <a:off x="3817620" y="3587845"/>
            <a:ext cx="571500" cy="892714"/>
          </a:xfrm>
          <a:prstGeom prst="roundRect">
            <a:avLst/>
          </a:prstGeom>
          <a:solidFill>
            <a:srgbClr val="FFB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71900" y="3331813"/>
            <a:ext cx="6629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11.40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7891" y="4544568"/>
            <a:ext cx="79095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Educ.</a:t>
            </a:r>
          </a:p>
        </p:txBody>
      </p:sp>
      <p:sp>
        <p:nvSpPr>
          <p:cNvPr id="39" name="!!PIE"/>
          <p:cNvSpPr/>
          <p:nvPr/>
        </p:nvSpPr>
        <p:spPr>
          <a:xfrm>
            <a:off x="4892040" y="2057400"/>
            <a:ext cx="2011680" cy="18288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0055" y="2167128"/>
            <a:ext cx="1755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GRÁFICO CIRCULAR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0055" y="2441448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54,3 / 45,7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0055" y="3611880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género</a:t>
            </a:r>
          </a:p>
        </p:txBody>
      </p:sp>
      <p:sp>
        <p:nvSpPr>
          <p:cNvPr id="43" name="!!HIST"/>
          <p:cNvSpPr/>
          <p:nvPr/>
        </p:nvSpPr>
        <p:spPr>
          <a:xfrm>
            <a:off x="7223760" y="2057400"/>
            <a:ext cx="2011680" cy="18288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51776" y="2167128"/>
            <a:ext cx="1755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HISTOGRAMA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1776" y="2441448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edad / arancel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51776" y="3611880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intervalos</a:t>
            </a:r>
          </a:p>
        </p:txBody>
      </p:sp>
      <p:sp>
        <p:nvSpPr>
          <p:cNvPr id="47" name="!!SCAT"/>
          <p:cNvSpPr/>
          <p:nvPr/>
        </p:nvSpPr>
        <p:spPr>
          <a:xfrm>
            <a:off x="9555480" y="2057400"/>
            <a:ext cx="2011680" cy="182880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83496" y="2167128"/>
            <a:ext cx="1755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DISPERSIÓN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83496" y="2441448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edad vs arancel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3496" y="3611880"/>
            <a:ext cx="175564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dos variables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393192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125712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LAB 4 · TENDENCIA Y PERCENTILES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¿Dónde está el centro y dónde comienza el grupo superior?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Media, mediana, moda, percentiles, describe(), agg() y crosstab().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07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8046720" y="539496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EAN"/>
          <p:cNvSpPr/>
          <p:nvPr/>
        </p:nvSpPr>
        <p:spPr>
          <a:xfrm>
            <a:off x="822960" y="2011680"/>
            <a:ext cx="219456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21214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MEDIA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23957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$3,22M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301752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arancel</a:t>
            </a:r>
          </a:p>
        </p:txBody>
      </p:sp>
      <p:sp>
        <p:nvSpPr>
          <p:cNvPr id="31" name="!!MEDIAN"/>
          <p:cNvSpPr/>
          <p:nvPr/>
        </p:nvSpPr>
        <p:spPr>
          <a:xfrm>
            <a:off x="3246120" y="2011680"/>
            <a:ext cx="219456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21214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MEDIANA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4136" y="23957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$3,13M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4136" y="301752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arancel</a:t>
            </a:r>
          </a:p>
        </p:txBody>
      </p:sp>
      <p:sp>
        <p:nvSpPr>
          <p:cNvPr id="35" name="!!P50"/>
          <p:cNvSpPr/>
          <p:nvPr/>
        </p:nvSpPr>
        <p:spPr>
          <a:xfrm>
            <a:off x="5669280" y="2011680"/>
            <a:ext cx="219456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97296" y="21214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P50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7296" y="23957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$3,13M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7296" y="301752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50% bajo/igual</a:t>
            </a:r>
          </a:p>
        </p:txBody>
      </p:sp>
      <p:sp>
        <p:nvSpPr>
          <p:cNvPr id="39" name="!!P90"/>
          <p:cNvSpPr/>
          <p:nvPr/>
        </p:nvSpPr>
        <p:spPr>
          <a:xfrm>
            <a:off x="8092440" y="2011680"/>
            <a:ext cx="219456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0456" y="21214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8D68D"/>
                </a:solidFill>
                <a:latin typeface="Aptos"/>
              </a:rPr>
              <a:t>P90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23957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$5,01M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0456" y="301752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10% superior</a:t>
            </a:r>
          </a:p>
        </p:txBody>
      </p:sp>
      <p:sp>
        <p:nvSpPr>
          <p:cNvPr id="43" name="!!P0"/>
          <p:cNvSpPr/>
          <p:nvPr/>
        </p:nvSpPr>
        <p:spPr>
          <a:xfrm>
            <a:off x="1051560" y="3977639"/>
            <a:ext cx="214884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79576" y="4087368"/>
            <a:ext cx="18928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P25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" y="4361688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$1,99M</a:t>
            </a:r>
          </a:p>
        </p:txBody>
      </p:sp>
      <p:sp>
        <p:nvSpPr>
          <p:cNvPr id="46" name="!!P1"/>
          <p:cNvSpPr/>
          <p:nvPr/>
        </p:nvSpPr>
        <p:spPr>
          <a:xfrm>
            <a:off x="3657600" y="3977639"/>
            <a:ext cx="214884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85615" y="4087368"/>
            <a:ext cx="18928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P50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85615" y="4361688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$3,13M</a:t>
            </a:r>
          </a:p>
        </p:txBody>
      </p:sp>
      <p:sp>
        <p:nvSpPr>
          <p:cNvPr id="49" name="!!P2"/>
          <p:cNvSpPr/>
          <p:nvPr/>
        </p:nvSpPr>
        <p:spPr>
          <a:xfrm>
            <a:off x="6263640" y="3977639"/>
            <a:ext cx="214884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91655" y="4087368"/>
            <a:ext cx="18928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P75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91655" y="4361688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$4,26M</a:t>
            </a:r>
          </a:p>
        </p:txBody>
      </p:sp>
      <p:sp>
        <p:nvSpPr>
          <p:cNvPr id="52" name="!!P3"/>
          <p:cNvSpPr/>
          <p:nvPr/>
        </p:nvSpPr>
        <p:spPr>
          <a:xfrm>
            <a:off x="8869680" y="3977639"/>
            <a:ext cx="214884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97696" y="4087368"/>
            <a:ext cx="18928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P90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97696" y="4361688"/>
            <a:ext cx="1892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$5,01M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420623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107424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LAB 5 · DISPERSIÓN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No basta saber el centro: importa cuánto se separan los datos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Rango, desviación estándar, coeficiente de variación y comparación entre grupos.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08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9235440" y="5394960"/>
            <a:ext cx="237744" cy="237744"/>
          </a:xfrm>
          <a:prstGeom prst="ellipse">
            <a:avLst/>
          </a:prstGeom>
          <a:solidFill>
            <a:srgbClr val="24D8F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CVA"/>
          <p:cNvSpPr/>
          <p:nvPr/>
        </p:nvSpPr>
        <p:spPr>
          <a:xfrm>
            <a:off x="914400" y="1965960"/>
            <a:ext cx="283464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2075688"/>
            <a:ext cx="25786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ARANCEL · CV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2350008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47,1%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" y="2971800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mayor dispersión relativa</a:t>
            </a:r>
          </a:p>
        </p:txBody>
      </p:sp>
      <p:sp>
        <p:nvSpPr>
          <p:cNvPr id="31" name="!!CVE"/>
          <p:cNvSpPr/>
          <p:nvPr/>
        </p:nvSpPr>
        <p:spPr>
          <a:xfrm>
            <a:off x="4069080" y="1965960"/>
            <a:ext cx="283464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7096" y="2075688"/>
            <a:ext cx="25786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EDAD · CV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2350008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≈25,5%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7096" y="2971800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menor dispersión</a:t>
            </a:r>
          </a:p>
        </p:txBody>
      </p:sp>
      <p:sp>
        <p:nvSpPr>
          <p:cNvPr id="35" name="!!RANGO"/>
          <p:cNvSpPr/>
          <p:nvPr/>
        </p:nvSpPr>
        <p:spPr>
          <a:xfrm>
            <a:off x="7223760" y="1965960"/>
            <a:ext cx="2834640" cy="128016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2075688"/>
            <a:ext cx="25786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RANGO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1776" y="2350008"/>
            <a:ext cx="25786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máximo − mínimo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6" y="2971800"/>
            <a:ext cx="25786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medida simple</a:t>
            </a:r>
          </a:p>
        </p:txBody>
      </p:sp>
      <p:sp>
        <p:nvSpPr>
          <p:cNvPr id="39" name="!!A0"/>
          <p:cNvSpPr/>
          <p:nvPr/>
        </p:nvSpPr>
        <p:spPr>
          <a:xfrm>
            <a:off x="914400" y="4069080"/>
            <a:ext cx="219456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" y="41788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COMPARACIÓN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" y="44531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Tecnología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" y="470916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mean · median · std</a:t>
            </a:r>
          </a:p>
        </p:txBody>
      </p:sp>
      <p:sp>
        <p:nvSpPr>
          <p:cNvPr id="43" name="!!A1"/>
          <p:cNvSpPr/>
          <p:nvPr/>
        </p:nvSpPr>
        <p:spPr>
          <a:xfrm>
            <a:off x="3520440" y="4069080"/>
            <a:ext cx="219456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41788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COMPARACIÓN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44531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Salud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48456" y="470916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mean · median · std</a:t>
            </a:r>
          </a:p>
        </p:txBody>
      </p:sp>
      <p:sp>
        <p:nvSpPr>
          <p:cNvPr id="47" name="!!A2"/>
          <p:cNvSpPr/>
          <p:nvPr/>
        </p:nvSpPr>
        <p:spPr>
          <a:xfrm>
            <a:off x="6126480" y="4069080"/>
            <a:ext cx="219456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54496" y="41788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COMPARACIÓN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54496" y="44531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Adm. y Comercio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54496" y="470916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mean · median · std</a:t>
            </a:r>
          </a:p>
        </p:txBody>
      </p:sp>
      <p:sp>
        <p:nvSpPr>
          <p:cNvPr id="51" name="!!A3"/>
          <p:cNvSpPr/>
          <p:nvPr/>
        </p:nvSpPr>
        <p:spPr>
          <a:xfrm>
            <a:off x="8732520" y="4069080"/>
            <a:ext cx="2194560" cy="9144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0536" y="4178808"/>
            <a:ext cx="19385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COMPARACIÓN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0536" y="4453128"/>
            <a:ext cx="19385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Educación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0536" y="4709160"/>
            <a:ext cx="19385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mean · median · std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448056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089136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APLICACIÓN REGIONAL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Del acero al algoritmo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Nueve familias estratégicas se agrupan en motores productivos y capacidades transformadoras.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09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10515600" y="539496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0"/>
          <p:cNvSpPr/>
          <p:nvPr/>
        </p:nvSpPr>
        <p:spPr>
          <a:xfrm>
            <a:off x="731520" y="1874519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198424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FAMILIA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225856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Industria</a:t>
            </a:r>
          </a:p>
        </p:txBody>
      </p:sp>
      <p:sp>
        <p:nvSpPr>
          <p:cNvPr id="30" name="!!F1"/>
          <p:cNvSpPr/>
          <p:nvPr/>
        </p:nvSpPr>
        <p:spPr>
          <a:xfrm>
            <a:off x="4526280" y="1874519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4296" y="198424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FAMILIA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4296" y="225856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Construcción</a:t>
            </a:r>
          </a:p>
        </p:txBody>
      </p:sp>
      <p:sp>
        <p:nvSpPr>
          <p:cNvPr id="33" name="!!F2"/>
          <p:cNvSpPr/>
          <p:nvPr/>
        </p:nvSpPr>
        <p:spPr>
          <a:xfrm>
            <a:off x="8321040" y="1874519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9056" y="198424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FAMILIA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9056" y="225856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Logística</a:t>
            </a:r>
          </a:p>
        </p:txBody>
      </p:sp>
      <p:sp>
        <p:nvSpPr>
          <p:cNvPr id="36" name="!!F3"/>
          <p:cNvSpPr/>
          <p:nvPr/>
        </p:nvSpPr>
        <p:spPr>
          <a:xfrm>
            <a:off x="731520" y="3063239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317296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FAMILIA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3447287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Forestal</a:t>
            </a:r>
          </a:p>
        </p:txBody>
      </p:sp>
      <p:sp>
        <p:nvSpPr>
          <p:cNvPr id="39" name="!!F4"/>
          <p:cNvSpPr/>
          <p:nvPr/>
        </p:nvSpPr>
        <p:spPr>
          <a:xfrm>
            <a:off x="4526280" y="3063239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54296" y="317296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FAMILIA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54296" y="3447287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Pesca</a:t>
            </a:r>
          </a:p>
        </p:txBody>
      </p:sp>
      <p:sp>
        <p:nvSpPr>
          <p:cNvPr id="42" name="!!F5"/>
          <p:cNvSpPr/>
          <p:nvPr/>
        </p:nvSpPr>
        <p:spPr>
          <a:xfrm>
            <a:off x="8321040" y="3063239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49056" y="317296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FAMILIA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3447287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Agro</a:t>
            </a:r>
          </a:p>
        </p:txBody>
      </p:sp>
      <p:sp>
        <p:nvSpPr>
          <p:cNvPr id="45" name="!!F6"/>
          <p:cNvSpPr/>
          <p:nvPr/>
        </p:nvSpPr>
        <p:spPr>
          <a:xfrm>
            <a:off x="731520" y="4251960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436168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FAMILIA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" y="46360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Digital/TIC</a:t>
            </a:r>
          </a:p>
        </p:txBody>
      </p:sp>
      <p:sp>
        <p:nvSpPr>
          <p:cNvPr id="48" name="!!F7"/>
          <p:cNvSpPr/>
          <p:nvPr/>
        </p:nvSpPr>
        <p:spPr>
          <a:xfrm>
            <a:off x="4526280" y="4251960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54296" y="436168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FAMILIA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54296" y="46360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Automatización</a:t>
            </a:r>
          </a:p>
        </p:txBody>
      </p:sp>
      <p:sp>
        <p:nvSpPr>
          <p:cNvPr id="51" name="!!F8"/>
          <p:cNvSpPr/>
          <p:nvPr/>
        </p:nvSpPr>
        <p:spPr>
          <a:xfrm>
            <a:off x="8321040" y="4251960"/>
            <a:ext cx="3246120" cy="859536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49056" y="4361688"/>
            <a:ext cx="29900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FAMILIA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9056" y="4636008"/>
            <a:ext cx="29900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Energía+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475488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070848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HALLAZGO CENTRAL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El componente productivo es casi tres veces el transformador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Describe composición 2021; no prueba déficit laboral.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10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9144000" y="539496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OTOR"/>
          <p:cNvSpPr/>
          <p:nvPr/>
        </p:nvSpPr>
        <p:spPr>
          <a:xfrm>
            <a:off x="1828800" y="2011680"/>
            <a:ext cx="3108960" cy="18288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56816" y="2121408"/>
            <a:ext cx="28529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MOTORES PRODUCTIVOS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2395728"/>
            <a:ext cx="2852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20.368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56816" y="3566160"/>
            <a:ext cx="2852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20,15%</a:t>
            </a:r>
          </a:p>
        </p:txBody>
      </p:sp>
      <p:sp>
        <p:nvSpPr>
          <p:cNvPr id="31" name="!!TRANS"/>
          <p:cNvSpPr/>
          <p:nvPr/>
        </p:nvSpPr>
        <p:spPr>
          <a:xfrm>
            <a:off x="7269480" y="2011680"/>
            <a:ext cx="3108960" cy="18288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2121408"/>
            <a:ext cx="28529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CAPACIDADES TRANSFORMADORAS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2395728"/>
            <a:ext cx="28529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7.000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7496" y="3566160"/>
            <a:ext cx="28529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6,92%</a:t>
            </a:r>
          </a:p>
        </p:txBody>
      </p:sp>
      <p:sp>
        <p:nvSpPr>
          <p:cNvPr id="35" name="!!RATIO"/>
          <p:cNvSpPr/>
          <p:nvPr/>
        </p:nvSpPr>
        <p:spPr>
          <a:xfrm>
            <a:off x="5074920" y="4434840"/>
            <a:ext cx="2011680" cy="100584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02936" y="4544568"/>
            <a:ext cx="175564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RELACIÓN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2936" y="4818888"/>
            <a:ext cx="175564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≈ 2,9 : 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502920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052560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PREGUNTA 1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¿Hay áreas donde las carreras sean más caras?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Criterio: mediana de arancel de 1.273 ofertas únicas.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11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9875520" y="539496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Q_BADGE"/>
          <p:cNvSpPr/>
          <p:nvPr/>
        </p:nvSpPr>
        <p:spPr>
          <a:xfrm>
            <a:off x="10835640" y="749808"/>
            <a:ext cx="530352" cy="530352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35640" y="822960"/>
            <a:ext cx="530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 Display"/>
              </a:rPr>
              <a:t>1</a:t>
            </a:r>
          </a:p>
        </p:txBody>
      </p:sp>
      <p:sp>
        <p:nvSpPr>
          <p:cNvPr id="29" name="!!Q10"/>
          <p:cNvSpPr/>
          <p:nvPr/>
        </p:nvSpPr>
        <p:spPr>
          <a:xfrm>
            <a:off x="822960" y="2327563"/>
            <a:ext cx="1009649" cy="2701636"/>
          </a:xfrm>
          <a:prstGeom prst="round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071531"/>
            <a:ext cx="110109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3.59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093208"/>
            <a:ext cx="122910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Derecho</a:t>
            </a:r>
          </a:p>
        </p:txBody>
      </p:sp>
      <p:sp>
        <p:nvSpPr>
          <p:cNvPr id="32" name="!!Q11"/>
          <p:cNvSpPr/>
          <p:nvPr/>
        </p:nvSpPr>
        <p:spPr>
          <a:xfrm>
            <a:off x="2559558" y="2550565"/>
            <a:ext cx="1009649" cy="2478634"/>
          </a:xfrm>
          <a:prstGeom prst="roundRect">
            <a:avLst/>
          </a:prstGeom>
          <a:solidFill>
            <a:srgbClr val="FFB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13838" y="2294533"/>
            <a:ext cx="110109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3.29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9830" y="5093208"/>
            <a:ext cx="122910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C. Básicas</a:t>
            </a:r>
          </a:p>
        </p:txBody>
      </p:sp>
      <p:sp>
        <p:nvSpPr>
          <p:cNvPr id="35" name="!!Q12"/>
          <p:cNvSpPr/>
          <p:nvPr/>
        </p:nvSpPr>
        <p:spPr>
          <a:xfrm>
            <a:off x="4296156" y="2782607"/>
            <a:ext cx="1009649" cy="2246592"/>
          </a:xfrm>
          <a:prstGeom prst="roundRect">
            <a:avLst/>
          </a:prstGeom>
          <a:solidFill>
            <a:srgbClr val="58D6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50436" y="2526575"/>
            <a:ext cx="110109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2.98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86428" y="5093208"/>
            <a:ext cx="122910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Agropec.</a:t>
            </a:r>
          </a:p>
        </p:txBody>
      </p:sp>
      <p:sp>
        <p:nvSpPr>
          <p:cNvPr id="38" name="!!Q13"/>
          <p:cNvSpPr/>
          <p:nvPr/>
        </p:nvSpPr>
        <p:spPr>
          <a:xfrm>
            <a:off x="6032754" y="3430518"/>
            <a:ext cx="1009649" cy="1598681"/>
          </a:xfrm>
          <a:prstGeom prst="round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87034" y="3174486"/>
            <a:ext cx="110109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2.12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23026" y="5093208"/>
            <a:ext cx="122910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Tecnología</a:t>
            </a:r>
          </a:p>
        </p:txBody>
      </p:sp>
      <p:sp>
        <p:nvSpPr>
          <p:cNvPr id="41" name="!!Q14"/>
          <p:cNvSpPr/>
          <p:nvPr/>
        </p:nvSpPr>
        <p:spPr>
          <a:xfrm>
            <a:off x="7769351" y="3462160"/>
            <a:ext cx="1009649" cy="1567039"/>
          </a:xfrm>
          <a:prstGeom prst="round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23631" y="3206128"/>
            <a:ext cx="110109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2.08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59624" y="5093208"/>
            <a:ext cx="122910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Salud</a:t>
            </a:r>
          </a:p>
        </p:txBody>
      </p:sp>
      <p:sp>
        <p:nvSpPr>
          <p:cNvPr id="44" name="!!Q15"/>
          <p:cNvSpPr/>
          <p:nvPr/>
        </p:nvSpPr>
        <p:spPr>
          <a:xfrm>
            <a:off x="9505950" y="3499829"/>
            <a:ext cx="1009649" cy="1529370"/>
          </a:xfrm>
          <a:prstGeom prst="round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0230" y="3243797"/>
            <a:ext cx="110109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6F9FC"/>
                </a:solidFill>
                <a:latin typeface="Aptos"/>
              </a:rPr>
              <a:t>2.03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96222" y="5093208"/>
            <a:ext cx="122910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>
                <a:solidFill>
                  <a:srgbClr val="B5C6D8"/>
                </a:solidFill>
                <a:latin typeface="Aptos"/>
              </a:rPr>
              <a:t>Global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530352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034272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PREGUNTA 2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¿Qué cambia con la edad al mirar el tipo de institución?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Comparación descriptiva por grupos etarios e institución.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12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8686800" y="539496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Q_BADGE"/>
          <p:cNvSpPr/>
          <p:nvPr/>
        </p:nvSpPr>
        <p:spPr>
          <a:xfrm>
            <a:off x="10835640" y="749808"/>
            <a:ext cx="530352" cy="530352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35640" y="822960"/>
            <a:ext cx="530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 Display"/>
              </a:rPr>
              <a:t>2</a:t>
            </a:r>
          </a:p>
        </p:txBody>
      </p:sp>
      <p:sp>
        <p:nvSpPr>
          <p:cNvPr id="29" name="!!YOUNG"/>
          <p:cNvSpPr/>
          <p:nvPr/>
        </p:nvSpPr>
        <p:spPr>
          <a:xfrm>
            <a:off x="1005840" y="1965960"/>
            <a:ext cx="4023360" cy="150876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2075688"/>
            <a:ext cx="37673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15–19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2350008"/>
            <a:ext cx="3767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46,24% CRUCH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3200400"/>
            <a:ext cx="3767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19,30% IP</a:t>
            </a:r>
          </a:p>
        </p:txBody>
      </p:sp>
      <p:sp>
        <p:nvSpPr>
          <p:cNvPr id="33" name="!!OLD"/>
          <p:cNvSpPr/>
          <p:nvPr/>
        </p:nvSpPr>
        <p:spPr>
          <a:xfrm>
            <a:off x="6492240" y="1965960"/>
            <a:ext cx="4023360" cy="150876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0255" y="2075688"/>
            <a:ext cx="37673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40+ AÑOS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0255" y="2350008"/>
            <a:ext cx="37673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52,93% 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0255" y="3200400"/>
            <a:ext cx="37673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10,88% CRUCH</a:t>
            </a:r>
          </a:p>
        </p:txBody>
      </p:sp>
      <p:sp>
        <p:nvSpPr>
          <p:cNvPr id="37" name="!!Q2I"/>
          <p:cNvSpPr/>
          <p:nvPr/>
        </p:nvSpPr>
        <p:spPr>
          <a:xfrm>
            <a:off x="3063240" y="4160520"/>
            <a:ext cx="6080760" cy="114300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91256" y="4270248"/>
            <a:ext cx="582472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256" y="4544568"/>
            <a:ext cx="582472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La distribución cambia con la edad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91256" y="5029200"/>
            <a:ext cx="58247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asociación, no causalidad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557784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9015984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PREGUNTA 3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¿Cuándo un arancel es sustantivamente caro?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Criterio: ofertas por sobre el Percentil 90.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13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7498079" y="539496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Q_BADGE"/>
          <p:cNvSpPr/>
          <p:nvPr/>
        </p:nvSpPr>
        <p:spPr>
          <a:xfrm>
            <a:off x="10835640" y="749808"/>
            <a:ext cx="530352" cy="530352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35640" y="822960"/>
            <a:ext cx="530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 Display"/>
              </a:rPr>
              <a:t>3</a:t>
            </a:r>
          </a:p>
        </p:txBody>
      </p:sp>
      <p:sp>
        <p:nvSpPr>
          <p:cNvPr id="29" name="!!P90Q"/>
          <p:cNvSpPr/>
          <p:nvPr/>
        </p:nvSpPr>
        <p:spPr>
          <a:xfrm>
            <a:off x="777240" y="1874519"/>
            <a:ext cx="2057400" cy="123444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1984248"/>
            <a:ext cx="18013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P90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" y="2258568"/>
            <a:ext cx="1801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$4.106.400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" y="2834640"/>
            <a:ext cx="1801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umbral</a:t>
            </a:r>
          </a:p>
        </p:txBody>
      </p:sp>
      <p:sp>
        <p:nvSpPr>
          <p:cNvPr id="33" name="!!N128"/>
          <p:cNvSpPr/>
          <p:nvPr/>
        </p:nvSpPr>
        <p:spPr>
          <a:xfrm>
            <a:off x="3063240" y="1874519"/>
            <a:ext cx="2057400" cy="123444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1984248"/>
            <a:ext cx="18013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OFERTAS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256" y="2258568"/>
            <a:ext cx="1801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91256" y="2834640"/>
            <a:ext cx="1801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10,1%</a:t>
            </a:r>
          </a:p>
        </p:txBody>
      </p:sp>
      <p:sp>
        <p:nvSpPr>
          <p:cNvPr id="37" name="!!INST"/>
          <p:cNvSpPr/>
          <p:nvPr/>
        </p:nvSpPr>
        <p:spPr>
          <a:xfrm>
            <a:off x="5349240" y="1874519"/>
            <a:ext cx="2057400" cy="123444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77255" y="1984248"/>
            <a:ext cx="18013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INSTITUCIÓN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77255" y="2258568"/>
            <a:ext cx="1801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73 / 55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77255" y="2834640"/>
            <a:ext cx="1801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CRUCH / privadas</a:t>
            </a:r>
          </a:p>
        </p:txBody>
      </p:sp>
      <p:sp>
        <p:nvSpPr>
          <p:cNvPr id="41" name="!!TERR"/>
          <p:cNvSpPr/>
          <p:nvPr/>
        </p:nvSpPr>
        <p:spPr>
          <a:xfrm>
            <a:off x="7635240" y="1874519"/>
            <a:ext cx="2057400" cy="1234440"/>
          </a:xfrm>
          <a:prstGeom prst="roundRect">
            <a:avLst/>
          </a:prstGeom>
          <a:solidFill>
            <a:srgbClr val="0C1D31"/>
          </a:solidFill>
          <a:ln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3256" y="1984248"/>
            <a:ext cx="18013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8D68D"/>
                </a:solidFill>
                <a:latin typeface="Aptos"/>
              </a:rPr>
              <a:t>TERRITORIO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3256" y="2258568"/>
            <a:ext cx="18013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123 /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2834640"/>
            <a:ext cx="18013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Concepción / Biobío</a:t>
            </a:r>
          </a:p>
        </p:txBody>
      </p:sp>
      <p:sp>
        <p:nvSpPr>
          <p:cNvPr id="45" name="!!DUR"/>
          <p:cNvSpPr/>
          <p:nvPr/>
        </p:nvSpPr>
        <p:spPr>
          <a:xfrm>
            <a:off x="1920240" y="3886200"/>
            <a:ext cx="3291840" cy="118872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48256" y="3995928"/>
            <a:ext cx="30358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DURACIÓN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48256" y="4270248"/>
            <a:ext cx="3035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10 sem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48256" y="4800600"/>
            <a:ext cx="30358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resto: 5 sem</a:t>
            </a:r>
          </a:p>
        </p:txBody>
      </p:sp>
      <p:sp>
        <p:nvSpPr>
          <p:cNvPr id="49" name="!!AREA"/>
          <p:cNvSpPr/>
          <p:nvPr/>
        </p:nvSpPr>
        <p:spPr>
          <a:xfrm>
            <a:off x="6400800" y="3886200"/>
            <a:ext cx="3291840" cy="118872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28816" y="3995928"/>
            <a:ext cx="303580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ÁREAS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28816" y="4270248"/>
            <a:ext cx="303580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Salud 38 · Tecnología 38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BG_LINE_0"/>
          <p:cNvSpPr/>
          <p:nvPr/>
        </p:nvSpPr>
        <p:spPr>
          <a:xfrm>
            <a:off x="585216" y="822960"/>
            <a:ext cx="2377440" cy="22860"/>
          </a:xfrm>
          <a:prstGeom prst="rect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BG_LINE_1"/>
          <p:cNvSpPr/>
          <p:nvPr/>
        </p:nvSpPr>
        <p:spPr>
          <a:xfrm>
            <a:off x="8997696" y="5349240"/>
            <a:ext cx="2331720" cy="22860"/>
          </a:xfrm>
          <a:prstGeom prst="rect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G_LINE_2"/>
          <p:cNvSpPr/>
          <p:nvPr/>
        </p:nvSpPr>
        <p:spPr>
          <a:xfrm>
            <a:off x="3474720" y="6144768"/>
            <a:ext cx="4754880" cy="22860"/>
          </a:xfrm>
          <a:prstGeom prst="rect">
            <a:avLst/>
          </a:prstGeom>
          <a:solidFill>
            <a:srgbClr val="526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KICKER"/>
          <p:cNvSpPr txBox="1"/>
          <p:nvPr/>
        </p:nvSpPr>
        <p:spPr>
          <a:xfrm>
            <a:off x="502920" y="320040"/>
            <a:ext cx="4937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4D8FF"/>
                </a:solidFill>
                <a:latin typeface="Aptos"/>
              </a:rPr>
              <a:t>CIERRE</a:t>
            </a:r>
          </a:p>
        </p:txBody>
      </p:sp>
      <p:sp>
        <p:nvSpPr>
          <p:cNvPr id="7" name="!!TITLE"/>
          <p:cNvSpPr txBox="1"/>
          <p:nvPr/>
        </p:nvSpPr>
        <p:spPr>
          <a:xfrm>
            <a:off x="502920" y="603504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6F9FC"/>
                </a:solidFill>
                <a:latin typeface="Aptos Display"/>
              </a:rPr>
              <a:t>La estadística describe el punto de partida, no inventa causas</a:t>
            </a:r>
          </a:p>
        </p:txBody>
      </p:sp>
      <p:sp>
        <p:nvSpPr>
          <p:cNvPr id="8" name="!!SUBTITLE"/>
          <p:cNvSpPr txBox="1"/>
          <p:nvPr/>
        </p:nvSpPr>
        <p:spPr>
          <a:xfrm>
            <a:off x="521207" y="1188720"/>
            <a:ext cx="868680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5C6D8"/>
                </a:solidFill>
                <a:latin typeface="Aptos"/>
              </a:rPr>
              <a:t>El valor del trabajo está tanto en los hallazgos como en reconocer sus límites.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365760"/>
            <a:ext cx="365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5C6D8"/>
                </a:solidFill>
                <a:latin typeface="Aptos"/>
              </a:rPr>
              <a:t>14</a:t>
            </a:r>
          </a:p>
        </p:txBody>
      </p:sp>
      <p:sp>
        <p:nvSpPr>
          <p:cNvPr id="10" name="!!P0"/>
          <p:cNvSpPr/>
          <p:nvPr/>
        </p:nvSpPr>
        <p:spPr>
          <a:xfrm>
            <a:off x="548640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PANDAS</a:t>
            </a:r>
          </a:p>
        </p:txBody>
      </p:sp>
      <p:sp>
        <p:nvSpPr>
          <p:cNvPr id="12" name="!!P1"/>
          <p:cNvSpPr/>
          <p:nvPr/>
        </p:nvSpPr>
        <p:spPr>
          <a:xfrm>
            <a:off x="193852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VARIABLES</a:t>
            </a:r>
          </a:p>
        </p:txBody>
      </p:sp>
      <p:sp>
        <p:nvSpPr>
          <p:cNvPr id="14" name="!!P2"/>
          <p:cNvSpPr/>
          <p:nvPr/>
        </p:nvSpPr>
        <p:spPr>
          <a:xfrm>
            <a:off x="3328416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FRECUENCIAS</a:t>
            </a:r>
          </a:p>
        </p:txBody>
      </p:sp>
      <p:sp>
        <p:nvSpPr>
          <p:cNvPr id="16" name="!!P3"/>
          <p:cNvSpPr/>
          <p:nvPr/>
        </p:nvSpPr>
        <p:spPr>
          <a:xfrm>
            <a:off x="4718304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GRÁFICOS</a:t>
            </a:r>
          </a:p>
        </p:txBody>
      </p:sp>
      <p:sp>
        <p:nvSpPr>
          <p:cNvPr id="18" name="!!P4"/>
          <p:cNvSpPr/>
          <p:nvPr/>
        </p:nvSpPr>
        <p:spPr>
          <a:xfrm>
            <a:off x="6108192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TENDENCIA</a:t>
            </a:r>
          </a:p>
        </p:txBody>
      </p:sp>
      <p:sp>
        <p:nvSpPr>
          <p:cNvPr id="20" name="!!P5"/>
          <p:cNvSpPr/>
          <p:nvPr/>
        </p:nvSpPr>
        <p:spPr>
          <a:xfrm>
            <a:off x="7498079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DISPERSIÓN</a:t>
            </a:r>
          </a:p>
        </p:txBody>
      </p:sp>
      <p:sp>
        <p:nvSpPr>
          <p:cNvPr id="22" name="!!P6"/>
          <p:cNvSpPr/>
          <p:nvPr/>
        </p:nvSpPr>
        <p:spPr>
          <a:xfrm>
            <a:off x="8887968" y="6400800"/>
            <a:ext cx="109728" cy="109728"/>
          </a:xfrm>
          <a:prstGeom prst="ellipse">
            <a:avLst/>
          </a:prstGeom>
          <a:solidFill>
            <a:srgbClr val="24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B5C6D8"/>
                </a:solidFill>
                <a:latin typeface="Aptos"/>
              </a:rPr>
              <a:t>APLICACIÓN</a:t>
            </a:r>
          </a:p>
        </p:txBody>
      </p:sp>
      <p:sp>
        <p:nvSpPr>
          <p:cNvPr id="24" name="!!P7"/>
          <p:cNvSpPr/>
          <p:nvPr/>
        </p:nvSpPr>
        <p:spPr>
          <a:xfrm>
            <a:off x="10277856" y="6400800"/>
            <a:ext cx="109728" cy="109728"/>
          </a:xfrm>
          <a:prstGeom prst="ellipse">
            <a:avLst/>
          </a:prstGeom>
          <a:solidFill>
            <a:srgbClr val="FF83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76688" y="6537960"/>
            <a:ext cx="530352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">
                <a:solidFill>
                  <a:srgbClr val="F6F9FC"/>
                </a:solidFill>
                <a:latin typeface="Aptos"/>
              </a:rPr>
              <a:t>PREGUNTAS</a:t>
            </a:r>
          </a:p>
        </p:txBody>
      </p:sp>
      <p:sp>
        <p:nvSpPr>
          <p:cNvPr id="26" name="!!FLOW"/>
          <p:cNvSpPr/>
          <p:nvPr/>
        </p:nvSpPr>
        <p:spPr>
          <a:xfrm>
            <a:off x="5852160" y="5394960"/>
            <a:ext cx="237744" cy="237744"/>
          </a:xfrm>
          <a:prstGeom prst="ellipse">
            <a:avLst/>
          </a:prstGeom>
          <a:solidFill>
            <a:srgbClr val="FF831F"/>
          </a:solidFill>
          <a:ln>
            <a:solidFill>
              <a:srgbClr val="F6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OTOR"/>
          <p:cNvSpPr/>
          <p:nvPr/>
        </p:nvSpPr>
        <p:spPr>
          <a:xfrm>
            <a:off x="731520" y="2011680"/>
            <a:ext cx="2560320" cy="1371600"/>
          </a:xfrm>
          <a:prstGeom prst="roundRect">
            <a:avLst/>
          </a:prstGeom>
          <a:solidFill>
            <a:srgbClr val="0C1D31"/>
          </a:solidFill>
          <a:ln>
            <a:solidFill>
              <a:srgbClr val="FF8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2121408"/>
            <a:ext cx="23042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831F"/>
                </a:solidFill>
                <a:latin typeface="Aptos"/>
              </a:rPr>
              <a:t>PRODUCTIVO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2395728"/>
            <a:ext cx="23042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20,15%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108960"/>
            <a:ext cx="23042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20.368 matrículas</a:t>
            </a:r>
          </a:p>
        </p:txBody>
      </p:sp>
      <p:sp>
        <p:nvSpPr>
          <p:cNvPr id="31" name="!!TRANS"/>
          <p:cNvSpPr/>
          <p:nvPr/>
        </p:nvSpPr>
        <p:spPr>
          <a:xfrm>
            <a:off x="8915400" y="2011680"/>
            <a:ext cx="2560320" cy="1371600"/>
          </a:xfrm>
          <a:prstGeom prst="roundRect">
            <a:avLst/>
          </a:prstGeom>
          <a:solidFill>
            <a:srgbClr val="0C1D31"/>
          </a:solidFill>
          <a:ln>
            <a:solidFill>
              <a:srgbClr val="24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3416" y="2121408"/>
            <a:ext cx="23042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4D8FF"/>
                </a:solidFill>
                <a:latin typeface="Aptos"/>
              </a:rPr>
              <a:t>TRANSFORMADOR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3416" y="2395728"/>
            <a:ext cx="23042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6,92%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3416" y="3108960"/>
            <a:ext cx="2304287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7.000 matrículas</a:t>
            </a:r>
          </a:p>
        </p:txBody>
      </p:sp>
      <p:sp>
        <p:nvSpPr>
          <p:cNvPr id="35" name="!!FINAL"/>
          <p:cNvSpPr/>
          <p:nvPr/>
        </p:nvSpPr>
        <p:spPr>
          <a:xfrm>
            <a:off x="4251960" y="2377440"/>
            <a:ext cx="3657600" cy="1508760"/>
          </a:xfrm>
          <a:prstGeom prst="roundRect">
            <a:avLst/>
          </a:prstGeom>
          <a:solidFill>
            <a:srgbClr val="0C1D31"/>
          </a:solidFill>
          <a:ln>
            <a:solidFill>
              <a:srgbClr val="FFB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9976" y="2487168"/>
            <a:ext cx="3401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FFBB4C"/>
                </a:solidFill>
                <a:latin typeface="Aptos"/>
              </a:rPr>
              <a:t>CONCLUSIÓN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9976" y="2761488"/>
            <a:ext cx="3401568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≈ 2,9 :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79976" y="3611880"/>
            <a:ext cx="340156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">
                <a:solidFill>
                  <a:srgbClr val="B5C6D8"/>
                </a:solidFill>
                <a:latin typeface="Aptos"/>
              </a:rPr>
              <a:t>composición 2021</a:t>
            </a:r>
          </a:p>
        </p:txBody>
      </p:sp>
      <p:sp>
        <p:nvSpPr>
          <p:cNvPr id="39" name="!!LIM0"/>
          <p:cNvSpPr/>
          <p:nvPr/>
        </p:nvSpPr>
        <p:spPr>
          <a:xfrm>
            <a:off x="914400" y="4663440"/>
            <a:ext cx="2331720" cy="822960"/>
          </a:xfrm>
          <a:prstGeom prst="roundRect">
            <a:avLst/>
          </a:prstGeom>
          <a:solidFill>
            <a:srgbClr val="0C1D31"/>
          </a:solidFill>
          <a:ln>
            <a:solidFill>
              <a:srgbClr val="526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" y="477316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2677D"/>
                </a:solidFill>
                <a:latin typeface="Aptos"/>
              </a:rPr>
              <a:t>LÍMITE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" y="504748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No prueba déficit</a:t>
            </a:r>
          </a:p>
        </p:txBody>
      </p:sp>
      <p:sp>
        <p:nvSpPr>
          <p:cNvPr id="42" name="!!LIM1"/>
          <p:cNvSpPr/>
          <p:nvPr/>
        </p:nvSpPr>
        <p:spPr>
          <a:xfrm>
            <a:off x="3657600" y="4663440"/>
            <a:ext cx="2331720" cy="822960"/>
          </a:xfrm>
          <a:prstGeom prst="roundRect">
            <a:avLst/>
          </a:prstGeom>
          <a:solidFill>
            <a:srgbClr val="0C1D31"/>
          </a:solidFill>
          <a:ln>
            <a:solidFill>
              <a:srgbClr val="526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85615" y="477316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2677D"/>
                </a:solidFill>
                <a:latin typeface="Aptos"/>
              </a:rPr>
              <a:t>LÍMITE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85615" y="504748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No prueba causalidad</a:t>
            </a:r>
          </a:p>
        </p:txBody>
      </p:sp>
      <p:sp>
        <p:nvSpPr>
          <p:cNvPr id="45" name="!!LIM2"/>
          <p:cNvSpPr/>
          <p:nvPr/>
        </p:nvSpPr>
        <p:spPr>
          <a:xfrm>
            <a:off x="6400800" y="4663440"/>
            <a:ext cx="2331720" cy="822960"/>
          </a:xfrm>
          <a:prstGeom prst="roundRect">
            <a:avLst/>
          </a:prstGeom>
          <a:solidFill>
            <a:srgbClr val="0C1D31"/>
          </a:solidFill>
          <a:ln>
            <a:solidFill>
              <a:srgbClr val="526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477316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2677D"/>
                </a:solidFill>
                <a:latin typeface="Aptos"/>
              </a:rPr>
              <a:t>LÍMITE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28816" y="504748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No mide salarios/vacantes</a:t>
            </a:r>
          </a:p>
        </p:txBody>
      </p:sp>
      <p:sp>
        <p:nvSpPr>
          <p:cNvPr id="48" name="!!LIM3"/>
          <p:cNvSpPr/>
          <p:nvPr/>
        </p:nvSpPr>
        <p:spPr>
          <a:xfrm>
            <a:off x="9144000" y="4663440"/>
            <a:ext cx="2331720" cy="822960"/>
          </a:xfrm>
          <a:prstGeom prst="roundRect">
            <a:avLst/>
          </a:prstGeom>
          <a:solidFill>
            <a:srgbClr val="0C1D31"/>
          </a:solidFill>
          <a:ln>
            <a:solidFill>
              <a:srgbClr val="526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72016" y="4773168"/>
            <a:ext cx="207568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52677D"/>
                </a:solidFill>
                <a:latin typeface="Aptos"/>
              </a:rPr>
              <a:t>LÍMITE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6" y="5047488"/>
            <a:ext cx="2075687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6F9FC"/>
                </a:solidFill>
                <a:latin typeface="Aptos Display"/>
              </a:rPr>
              <a:t>No muestra evolución temporal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