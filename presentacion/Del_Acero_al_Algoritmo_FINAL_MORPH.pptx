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594360" y="658368"/>
            <a:ext cx="4892040" cy="20116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722376" y="749808"/>
            <a:ext cx="46360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22376" y="1005840"/>
            <a:ext cx="463600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DEL ACERO
AL ALGORITMO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722376" y="2404872"/>
            <a:ext cx="463600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Educación Superior del Biobío</a:t>
            </a:r>
          </a:p>
        </p:txBody>
      </p:sp>
      <p:pic>
        <p:nvPicPr>
          <p:cNvPr id="8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097280"/>
            <a:ext cx="5760720" cy="3744468"/>
          </a:xfrm>
          <a:prstGeom prst="rect">
            <a:avLst/>
          </a:prstGeom>
        </p:spPr>
      </p:pic>
      <p:sp>
        <p:nvSpPr>
          <p:cNvPr id="9" name="!!QUESTION"/>
          <p:cNvSpPr txBox="1"/>
          <p:nvPr/>
        </p:nvSpPr>
        <p:spPr>
          <a:xfrm>
            <a:off x="822960" y="4709160"/>
            <a:ext cx="103327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10" name="!!FLOW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BIOBÍO INDUSTRIAL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importa estudiar esta base formativa?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Industria, manufactura, forestal, puertos, logística, pesca, construcción y energía.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937760" cy="3209544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828800"/>
            <a:ext cx="2926080" cy="1901952"/>
          </a:xfrm>
          <a:prstGeom prst="rect">
            <a:avLst/>
          </a:prstGeom>
        </p:spPr>
      </p:pic>
      <p:sp>
        <p:nvSpPr>
          <p:cNvPr id="23" name="!!SEC0"/>
          <p:cNvSpPr/>
          <p:nvPr/>
        </p:nvSpPr>
        <p:spPr>
          <a:xfrm>
            <a:off x="50749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51114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SEC1"/>
          <p:cNvSpPr/>
          <p:nvPr/>
        </p:nvSpPr>
        <p:spPr>
          <a:xfrm>
            <a:off x="71323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1688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27" name="!!SEC2"/>
          <p:cNvSpPr/>
          <p:nvPr/>
        </p:nvSpPr>
        <p:spPr>
          <a:xfrm>
            <a:off x="50749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1114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29" name="!!SEC3"/>
          <p:cNvSpPr/>
          <p:nvPr/>
        </p:nvSpPr>
        <p:spPr>
          <a:xfrm>
            <a:off x="71323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1688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31" name="!!SEC4"/>
          <p:cNvSpPr/>
          <p:nvPr/>
        </p:nvSpPr>
        <p:spPr>
          <a:xfrm>
            <a:off x="50749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1114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SEC5"/>
          <p:cNvSpPr/>
          <p:nvPr/>
        </p:nvSpPr>
        <p:spPr>
          <a:xfrm>
            <a:off x="71323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1688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</a:t>
            </a:r>
          </a:p>
        </p:txBody>
      </p:sp>
      <p:sp>
        <p:nvSpPr>
          <p:cNvPr id="35" name="!!NOTE"/>
          <p:cNvSpPr/>
          <p:nvPr/>
        </p:nvSpPr>
        <p:spPr>
          <a:xfrm>
            <a:off x="5074920" y="3657600"/>
            <a:ext cx="379476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5166359" y="376732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no es INDUSTRIA vs. TECNOLOGÍA.</a:t>
            </a:r>
          </a:p>
        </p:txBody>
      </p:sp>
      <p:sp>
        <p:nvSpPr>
          <p:cNvPr id="37" name="!!NOTE"/>
          <p:cNvSpPr/>
          <p:nvPr/>
        </p:nvSpPr>
        <p:spPr>
          <a:xfrm>
            <a:off x="5074920" y="4297680"/>
            <a:ext cx="37947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166359" y="440740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es INDUSTRIA + TECNOLOGÍA.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DATASET Y METODOLOGÍA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106.555 registros a tres unidades de análisis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Personas, precios y ofertas requieren bases distintas para no distorsionar resultados.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1640"/>
            <a:ext cx="2743200" cy="1783080"/>
          </a:xfrm>
          <a:prstGeom prst="rect">
            <a:avLst/>
          </a:prstGeom>
        </p:spPr>
      </p:pic>
      <p:sp>
        <p:nvSpPr>
          <p:cNvPr id="22" name="!!K0"/>
          <p:cNvSpPr/>
          <p:nvPr/>
        </p:nvSpPr>
        <p:spPr>
          <a:xfrm>
            <a:off x="342900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355701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355701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28 columnas</a:t>
            </a:r>
          </a:p>
        </p:txBody>
      </p:sp>
      <p:sp>
        <p:nvSpPr>
          <p:cNvPr id="26" name="!!K1"/>
          <p:cNvSpPr/>
          <p:nvPr/>
        </p:nvSpPr>
        <p:spPr>
          <a:xfrm>
            <a:off x="544068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56869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PREGRADO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56869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56869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personas / ADN</a:t>
            </a:r>
          </a:p>
        </p:txBody>
      </p:sp>
      <p:sp>
        <p:nvSpPr>
          <p:cNvPr id="30" name="!!K2"/>
          <p:cNvSpPr/>
          <p:nvPr/>
        </p:nvSpPr>
        <p:spPr>
          <a:xfrm>
            <a:off x="745236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758037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PRECIO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8037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58037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 &gt; $0</a:t>
            </a:r>
          </a:p>
        </p:txBody>
      </p:sp>
      <p:sp>
        <p:nvSpPr>
          <p:cNvPr id="34" name="!!K3"/>
          <p:cNvSpPr/>
          <p:nvPr/>
        </p:nvSpPr>
        <p:spPr>
          <a:xfrm>
            <a:off x="946404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959205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959205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1.273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959205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precios únicos</a:t>
            </a:r>
          </a:p>
        </p:txBody>
      </p:sp>
      <p:sp>
        <p:nvSpPr>
          <p:cNvPr id="38" name="!!NOTE"/>
          <p:cNvSpPr/>
          <p:nvPr/>
        </p:nvSpPr>
        <p:spPr>
          <a:xfrm>
            <a:off x="3429000" y="3657600"/>
            <a:ext cx="7772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3520440" y="3767328"/>
            <a:ext cx="7589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Oferta única = institución + carrera + comuna + modalidad + jornada + duración + matrícula + arancel.</a:t>
            </a:r>
          </a:p>
        </p:txBody>
      </p:sp>
      <p:sp>
        <p:nvSpPr>
          <p:cNvPr id="40" name="pill"/>
          <p:cNvSpPr/>
          <p:nvPr/>
        </p:nvSpPr>
        <p:spPr>
          <a:xfrm>
            <a:off x="3657600" y="4389120"/>
            <a:ext cx="1828800" cy="329184"/>
          </a:xfrm>
          <a:prstGeom prst="roundRect">
            <a:avLst/>
          </a:prstGeom>
          <a:solidFill>
            <a:srgbClr val="58D68D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3694176" y="445770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0 duplicados</a:t>
            </a:r>
          </a:p>
        </p:txBody>
      </p:sp>
      <p:sp>
        <p:nvSpPr>
          <p:cNvPr id="42" name="pill"/>
          <p:cNvSpPr/>
          <p:nvPr/>
        </p:nvSpPr>
        <p:spPr>
          <a:xfrm>
            <a:off x="5669280" y="4389120"/>
            <a:ext cx="228600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5705856" y="4457700"/>
            <a:ext cx="22128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26 aranceles $0</a:t>
            </a:r>
          </a:p>
        </p:txBody>
      </p:sp>
      <p:sp>
        <p:nvSpPr>
          <p:cNvPr id="44" name="pill"/>
          <p:cNvSpPr/>
          <p:nvPr/>
        </p:nvSpPr>
        <p:spPr>
          <a:xfrm>
            <a:off x="8138160" y="4389120"/>
            <a:ext cx="237744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8174736" y="4457700"/>
            <a:ext cx="23042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nulos en acreditación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RADIOGRAFÍA ESTADÍSTICA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nos dicen los datos antes del problema regional?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Frecuencias, tendencia central, percentiles y dispersión resumen la estructura general.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0"/>
          <p:cNvSpPr/>
          <p:nvPr/>
        </p:nvSpPr>
        <p:spPr>
          <a:xfrm>
            <a:off x="685800" y="2036618"/>
            <a:ext cx="589935" cy="207818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08018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B1"/>
          <p:cNvSpPr/>
          <p:nvPr/>
        </p:nvSpPr>
        <p:spPr>
          <a:xfrm>
            <a:off x="1708354" y="2285096"/>
            <a:ext cx="589935" cy="1829703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653490" y="2056496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9862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B2"/>
          <p:cNvSpPr/>
          <p:nvPr/>
        </p:nvSpPr>
        <p:spPr>
          <a:xfrm>
            <a:off x="2730909" y="3105827"/>
            <a:ext cx="589935" cy="1008972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76045" y="2877227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621181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B3"/>
          <p:cNvSpPr/>
          <p:nvPr/>
        </p:nvSpPr>
        <p:spPr>
          <a:xfrm>
            <a:off x="3753464" y="3256420"/>
            <a:ext cx="589935" cy="85837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98600" y="3027820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4373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S0"/>
          <p:cNvSpPr/>
          <p:nvPr/>
        </p:nvSpPr>
        <p:spPr>
          <a:xfrm>
            <a:off x="47548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8828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GÉNERO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8828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54,3% F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8828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45,7% M</a:t>
            </a:r>
          </a:p>
        </p:txBody>
      </p:sp>
      <p:sp>
        <p:nvSpPr>
          <p:cNvPr id="37" name="!!S1"/>
          <p:cNvSpPr/>
          <p:nvPr/>
        </p:nvSpPr>
        <p:spPr>
          <a:xfrm>
            <a:off x="68122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9402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69402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10 sem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9402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moda</a:t>
            </a:r>
          </a:p>
        </p:txBody>
      </p:sp>
      <p:sp>
        <p:nvSpPr>
          <p:cNvPr id="41" name="!!S2"/>
          <p:cNvSpPr/>
          <p:nvPr/>
        </p:nvSpPr>
        <p:spPr>
          <a:xfrm>
            <a:off x="88696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9976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CV ARANCEL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9976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9976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dispersión relativa</a:t>
            </a:r>
          </a:p>
        </p:txBody>
      </p:sp>
      <p:sp>
        <p:nvSpPr>
          <p:cNvPr id="45" name="!!S3"/>
          <p:cNvSpPr/>
          <p:nvPr/>
        </p:nvSpPr>
        <p:spPr>
          <a:xfrm>
            <a:off x="47548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48828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48828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$3,22M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48828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49" name="!!S4"/>
          <p:cNvSpPr/>
          <p:nvPr/>
        </p:nvSpPr>
        <p:spPr>
          <a:xfrm>
            <a:off x="68122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"/>
          <p:cNvSpPr txBox="1"/>
          <p:nvPr/>
        </p:nvSpPr>
        <p:spPr>
          <a:xfrm>
            <a:off x="69402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9402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$3,13M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9402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53" name="!!S5"/>
          <p:cNvSpPr/>
          <p:nvPr/>
        </p:nvSpPr>
        <p:spPr>
          <a:xfrm>
            <a:off x="88696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"/>
          <p:cNvSpPr txBox="1"/>
          <p:nvPr/>
        </p:nvSpPr>
        <p:spPr>
          <a:xfrm>
            <a:off x="89976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CUARTILES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89976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Q1 / Q3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89976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percentiles</a:t>
            </a:r>
          </a:p>
        </p:txBody>
      </p:sp>
      <p:sp>
        <p:nvSpPr>
          <p:cNvPr id="57" name="!!NOTE"/>
          <p:cNvSpPr/>
          <p:nvPr/>
        </p:nvSpPr>
        <p:spPr>
          <a:xfrm>
            <a:off x="4754880" y="4800600"/>
            <a:ext cx="58978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"/>
          <p:cNvSpPr txBox="1"/>
          <p:nvPr/>
        </p:nvSpPr>
        <p:spPr>
          <a:xfrm>
            <a:off x="4846320" y="4910328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notebook aplica fi, hi, acumuladas, moda, percentiles, rango, desviación y CV.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ADN PROFESIONAL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cientos de carreras a nueve familias estratégicas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Taxonomía analítica propia: una carrera se asigna a una sola familia para evitar doble conteo.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2926080" cy="1901952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691640"/>
            <a:ext cx="2560320" cy="1664208"/>
          </a:xfrm>
          <a:prstGeom prst="rect">
            <a:avLst/>
          </a:prstGeom>
        </p:spPr>
      </p:pic>
      <p:sp>
        <p:nvSpPr>
          <p:cNvPr id="23" name="!!F0"/>
          <p:cNvSpPr/>
          <p:nvPr/>
        </p:nvSpPr>
        <p:spPr>
          <a:xfrm>
            <a:off x="306324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09981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F1"/>
          <p:cNvSpPr/>
          <p:nvPr/>
        </p:nvSpPr>
        <p:spPr>
          <a:xfrm>
            <a:off x="493776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97433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Construcción</a:t>
            </a:r>
          </a:p>
        </p:txBody>
      </p:sp>
      <p:sp>
        <p:nvSpPr>
          <p:cNvPr id="27" name="!!F2"/>
          <p:cNvSpPr/>
          <p:nvPr/>
        </p:nvSpPr>
        <p:spPr>
          <a:xfrm>
            <a:off x="6812279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848855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29" name="!!F3"/>
          <p:cNvSpPr/>
          <p:nvPr/>
        </p:nvSpPr>
        <p:spPr>
          <a:xfrm>
            <a:off x="306324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09981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1" name="!!F4"/>
          <p:cNvSpPr/>
          <p:nvPr/>
        </p:nvSpPr>
        <p:spPr>
          <a:xfrm>
            <a:off x="493776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97433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F5"/>
          <p:cNvSpPr/>
          <p:nvPr/>
        </p:nvSpPr>
        <p:spPr>
          <a:xfrm>
            <a:off x="6812279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848855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Agro</a:t>
            </a:r>
          </a:p>
        </p:txBody>
      </p:sp>
      <p:sp>
        <p:nvSpPr>
          <p:cNvPr id="35" name="!!F6"/>
          <p:cNvSpPr/>
          <p:nvPr/>
        </p:nvSpPr>
        <p:spPr>
          <a:xfrm>
            <a:off x="306324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09981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Digital/TIC</a:t>
            </a:r>
          </a:p>
        </p:txBody>
      </p:sp>
      <p:sp>
        <p:nvSpPr>
          <p:cNvPr id="37" name="!!F7"/>
          <p:cNvSpPr/>
          <p:nvPr/>
        </p:nvSpPr>
        <p:spPr>
          <a:xfrm>
            <a:off x="493776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97433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39" name="!!F8"/>
          <p:cNvSpPr/>
          <p:nvPr/>
        </p:nvSpPr>
        <p:spPr>
          <a:xfrm>
            <a:off x="6812279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6848855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Energía+bio</a:t>
            </a:r>
          </a:p>
        </p:txBody>
      </p:sp>
      <p:sp>
        <p:nvSpPr>
          <p:cNvPr id="41" name="!!NOTE"/>
          <p:cNvSpPr/>
          <p:nvPr/>
        </p:nvSpPr>
        <p:spPr>
          <a:xfrm>
            <a:off x="3063240" y="3886200"/>
            <a:ext cx="534924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3154680" y="39959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MOTORES PRODUCTIVOS  →  “ACERO”</a:t>
            </a:r>
          </a:p>
        </p:txBody>
      </p:sp>
      <p:sp>
        <p:nvSpPr>
          <p:cNvPr id="43" name="!!NOTE"/>
          <p:cNvSpPr/>
          <p:nvPr/>
        </p:nvSpPr>
        <p:spPr>
          <a:xfrm>
            <a:off x="3063240" y="4572000"/>
            <a:ext cx="53492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154680" y="46817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CAPACIDADES TRANSFORMADORAS  →  “ALGORITMO”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HALLAZGO CENTRAL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2021, el componente productivo era casi tres veces el transformador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Resultado descriptivo. No demuestra déficit, atraso educativo ni escasez laboral.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828800"/>
            <a:ext cx="2514600" cy="1634490"/>
          </a:xfrm>
          <a:prstGeom prst="rect">
            <a:avLst/>
          </a:prstGeom>
        </p:spPr>
      </p:pic>
      <p:sp>
        <p:nvSpPr>
          <p:cNvPr id="23" name="!!MOT"/>
          <p:cNvSpPr/>
          <p:nvPr/>
        </p:nvSpPr>
        <p:spPr>
          <a:xfrm>
            <a:off x="342900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55701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MOTORES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20.368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55701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20,15%</a:t>
            </a:r>
          </a:p>
        </p:txBody>
      </p:sp>
      <p:sp>
        <p:nvSpPr>
          <p:cNvPr id="27" name="!!TRA"/>
          <p:cNvSpPr/>
          <p:nvPr/>
        </p:nvSpPr>
        <p:spPr>
          <a:xfrm>
            <a:off x="589788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02589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TRANSFORMADORAS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2589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7.000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2589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6,92%</a:t>
            </a:r>
          </a:p>
        </p:txBody>
      </p:sp>
      <p:sp>
        <p:nvSpPr>
          <p:cNvPr id="31" name="!!NOTE"/>
          <p:cNvSpPr/>
          <p:nvPr/>
        </p:nvSpPr>
        <p:spPr>
          <a:xfrm>
            <a:off x="3931920" y="3794760"/>
            <a:ext cx="36576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023359" y="3904488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≈ 2,9 matrículas productivas por cada transformadora.</a:t>
            </a:r>
          </a:p>
        </p:txBody>
      </p:sp>
      <p:sp>
        <p:nvSpPr>
          <p:cNvPr id="33" name="!!NOTE"/>
          <p:cNvSpPr/>
          <p:nvPr/>
        </p:nvSpPr>
        <p:spPr>
          <a:xfrm>
            <a:off x="3108960" y="4617720"/>
            <a:ext cx="53035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3200400" y="472744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Línea base 2021: “más peso” ≠ “déficit”.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LECTURA DE LA ESTRUCTURA FORMATIVA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observamos y qué solo podemos plantear como hipótesis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Primero describimos los datos; explicar sus causas requeriría otras fuentes.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874519"/>
            <a:ext cx="3154680" cy="2050542"/>
          </a:xfrm>
          <a:prstGeom prst="rect">
            <a:avLst/>
          </a:prstGeom>
        </p:spPr>
      </p:pic>
      <p:sp>
        <p:nvSpPr>
          <p:cNvPr id="22" name="!!I0"/>
          <p:cNvSpPr/>
          <p:nvPr/>
        </p:nvSpPr>
        <p:spPr>
          <a:xfrm>
            <a:off x="731520" y="182880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59536" y="192024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TECNOLOGÍA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17627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27,6%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59536" y="275234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27.866 matrículas</a:t>
            </a:r>
          </a:p>
        </p:txBody>
      </p:sp>
      <p:sp>
        <p:nvSpPr>
          <p:cNvPr id="26" name="!!I1"/>
          <p:cNvSpPr/>
          <p:nvPr/>
        </p:nvSpPr>
        <p:spPr>
          <a:xfrm>
            <a:off x="3886200" y="182880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014215" y="192024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SALUD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014215" y="217627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24,3%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014215" y="275234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24.597 matrículas</a:t>
            </a:r>
          </a:p>
        </p:txBody>
      </p:sp>
      <p:sp>
        <p:nvSpPr>
          <p:cNvPr id="30" name="!!I2"/>
          <p:cNvSpPr/>
          <p:nvPr/>
        </p:nvSpPr>
        <p:spPr>
          <a:xfrm>
            <a:off x="731520" y="338328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59536" y="347472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HUMANIDADES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59536" y="373075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0,5%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59536" y="430682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510 matrículas</a:t>
            </a:r>
          </a:p>
        </p:txBody>
      </p:sp>
      <p:sp>
        <p:nvSpPr>
          <p:cNvPr id="34" name="!!I3"/>
          <p:cNvSpPr/>
          <p:nvPr/>
        </p:nvSpPr>
        <p:spPr>
          <a:xfrm>
            <a:off x="3886200" y="3383280"/>
            <a:ext cx="278892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014215" y="3474720"/>
            <a:ext cx="25328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CAUSAS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014215" y="3730752"/>
            <a:ext cx="25328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No identificadas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014215" y="4306824"/>
            <a:ext cx="25328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esta base</a:t>
            </a:r>
          </a:p>
        </p:txBody>
      </p:sp>
      <p:sp>
        <p:nvSpPr>
          <p:cNvPr id="38" name="!!NOTE"/>
          <p:cNvSpPr/>
          <p:nvPr/>
        </p:nvSpPr>
        <p:spPr>
          <a:xfrm>
            <a:off x="731520" y="4937760"/>
            <a:ext cx="59893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22960" y="5047488"/>
            <a:ext cx="5806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patrón es compatible con un fuerte peso técnico/productivo y de salud, pero no demuestra por qué ocurre.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SEÑAL LABORAL 2021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el mismo período, la manufactura reportaba dificultades de contratación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ENADEL aporta contexto laboral, pero NO prueba relación causal con nuestro 6,92%.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3291840" cy="2139696"/>
          </a:xfrm>
          <a:prstGeom prst="rect">
            <a:avLst/>
          </a:prstGeom>
        </p:spPr>
      </p:pic>
      <p:pic>
        <p:nvPicPr>
          <p:cNvPr id="22" name="!!IMG_B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965960"/>
            <a:ext cx="2286000" cy="1485900"/>
          </a:xfrm>
          <a:prstGeom prst="rect">
            <a:avLst/>
          </a:prstGeom>
        </p:spPr>
      </p:pic>
      <p:sp>
        <p:nvSpPr>
          <p:cNvPr id="23" name="!!E1"/>
          <p:cNvSpPr/>
          <p:nvPr/>
        </p:nvSpPr>
        <p:spPr>
          <a:xfrm>
            <a:off x="384048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96849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EMPRESAS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96849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69%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96849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dificultades para llenar vacantes</a:t>
            </a:r>
          </a:p>
        </p:txBody>
      </p:sp>
      <p:sp>
        <p:nvSpPr>
          <p:cNvPr id="27" name="!!E2"/>
          <p:cNvSpPr/>
          <p:nvPr/>
        </p:nvSpPr>
        <p:spPr>
          <a:xfrm>
            <a:off x="598932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11733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POSTULANTES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1733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11733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falta de postulantes</a:t>
            </a:r>
          </a:p>
        </p:txBody>
      </p:sp>
      <p:sp>
        <p:nvSpPr>
          <p:cNvPr id="31" name="!!E3"/>
          <p:cNvSpPr/>
          <p:nvPr/>
        </p:nvSpPr>
        <p:spPr>
          <a:xfrm>
            <a:off x="3840480" y="3520440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968496" y="361188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COMPETENCIAS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968496" y="3867912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3968496" y="458114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técnicas insuficientes</a:t>
            </a:r>
          </a:p>
        </p:txBody>
      </p:sp>
      <p:sp>
        <p:nvSpPr>
          <p:cNvPr id="35" name="!!NOTE"/>
          <p:cNvSpPr/>
          <p:nvPr/>
        </p:nvSpPr>
        <p:spPr>
          <a:xfrm>
            <a:off x="5989320" y="3520440"/>
            <a:ext cx="26974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6080759" y="3630168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69% NO es causado por el 6,92%.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SENCE · Observatorio Laboral Biobío · ENADEL 2021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laboral · no causal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Unidad: 1.273 ofertas únicas. Usamos mediana; la base compara precios, no identifica sus causas.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10"/>
          <p:cNvSpPr/>
          <p:nvPr/>
        </p:nvSpPr>
        <p:spPr>
          <a:xfrm>
            <a:off x="594360" y="2139513"/>
            <a:ext cx="629264" cy="22953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39496" y="191091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3,586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84632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4" name="!!Q11"/>
          <p:cNvSpPr/>
          <p:nvPr/>
        </p:nvSpPr>
        <p:spPr>
          <a:xfrm>
            <a:off x="1638939" y="2328976"/>
            <a:ext cx="629264" cy="210586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584075" y="2100376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3,29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29211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27" name="!!Q12"/>
          <p:cNvSpPr/>
          <p:nvPr/>
        </p:nvSpPr>
        <p:spPr>
          <a:xfrm>
            <a:off x="2683518" y="2526121"/>
            <a:ext cx="629264" cy="1908718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28654" y="2297521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2,982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573790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30" name="!!Q13"/>
          <p:cNvSpPr/>
          <p:nvPr/>
        </p:nvSpPr>
        <p:spPr>
          <a:xfrm>
            <a:off x="3728097" y="3076590"/>
            <a:ext cx="629264" cy="1358249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73233" y="2847990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2,122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18369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3" name="!!Q14"/>
          <p:cNvSpPr/>
          <p:nvPr/>
        </p:nvSpPr>
        <p:spPr>
          <a:xfrm>
            <a:off x="4772676" y="3103473"/>
            <a:ext cx="629264" cy="1331366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717812" y="287487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2,08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662948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6" name="!!Q15"/>
          <p:cNvSpPr/>
          <p:nvPr/>
        </p:nvSpPr>
        <p:spPr>
          <a:xfrm>
            <a:off x="5817255" y="3135477"/>
            <a:ext cx="629264" cy="129936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5762391" y="2906877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2,03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707527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Global</a:t>
            </a:r>
          </a:p>
        </p:txBody>
      </p:sp>
      <p:pic>
        <p:nvPicPr>
          <p:cNvPr id="39" name="!!IMG_A" descr="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20240"/>
            <a:ext cx="3291840" cy="2139696"/>
          </a:xfrm>
          <a:prstGeom prst="rect">
            <a:avLst/>
          </a:prstGeom>
        </p:spPr>
      </p:pic>
      <p:sp>
        <p:nvSpPr>
          <p:cNvPr id="40" name="!!QC"/>
          <p:cNvSpPr/>
          <p:nvPr/>
        </p:nvSpPr>
        <p:spPr>
          <a:xfrm>
            <a:off x="68580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81381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CRITERIO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81381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Mediana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381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área</a:t>
            </a:r>
          </a:p>
        </p:txBody>
      </p:sp>
      <p:sp>
        <p:nvSpPr>
          <p:cNvPr id="44" name="!!QQ"/>
          <p:cNvSpPr/>
          <p:nvPr/>
        </p:nvSpPr>
        <p:spPr>
          <a:xfrm>
            <a:off x="283464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296265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COMPLEMENTO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296265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P25 · P75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296265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+ cantidad</a:t>
            </a:r>
          </a:p>
        </p:txBody>
      </p:sp>
      <p:sp>
        <p:nvSpPr>
          <p:cNvPr id="48" name="!!QD"/>
          <p:cNvSpPr/>
          <p:nvPr/>
        </p:nvSpPr>
        <p:spPr>
          <a:xfrm>
            <a:off x="498348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"/>
          <p:cNvSpPr txBox="1"/>
          <p:nvPr/>
        </p:nvSpPr>
        <p:spPr>
          <a:xfrm>
            <a:off x="511149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11149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Derecho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511149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$3.586.000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composición institucional cambia entre grupos de edad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Tabla de contingencia y porcentajes: asociación observada, no “la edad causa la elección”.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743200" cy="1783080"/>
          </a:xfrm>
          <a:prstGeom prst="rect">
            <a:avLst/>
          </a:prstGeom>
        </p:spPr>
      </p:pic>
      <p:pic>
        <p:nvPicPr>
          <p:cNvPr id="22" name="!!IMG_B" descr="cam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965960"/>
            <a:ext cx="2514600" cy="1634490"/>
          </a:xfrm>
          <a:prstGeom prst="rect">
            <a:avLst/>
          </a:prstGeom>
        </p:spPr>
      </p:pic>
      <p:sp>
        <p:nvSpPr>
          <p:cNvPr id="23" name="!!AGE1"/>
          <p:cNvSpPr/>
          <p:nvPr/>
        </p:nvSpPr>
        <p:spPr>
          <a:xfrm>
            <a:off x="3520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648456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15–19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648456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46,24% CRUCH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48456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19,30% IP</a:t>
            </a:r>
          </a:p>
        </p:txBody>
      </p:sp>
      <p:sp>
        <p:nvSpPr>
          <p:cNvPr id="27" name="!!AGE2"/>
          <p:cNvSpPr/>
          <p:nvPr/>
        </p:nvSpPr>
        <p:spPr>
          <a:xfrm>
            <a:off x="5806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934455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40+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34455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52,93% IP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5934455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10,88% CRUCH</a:t>
            </a:r>
          </a:p>
        </p:txBody>
      </p:sp>
      <p:sp>
        <p:nvSpPr>
          <p:cNvPr id="31" name="!!AGE0"/>
          <p:cNvSpPr/>
          <p:nvPr/>
        </p:nvSpPr>
        <p:spPr>
          <a:xfrm>
            <a:off x="3566160" y="4169298"/>
            <a:ext cx="678425" cy="95134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511296" y="394069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456432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4" name="!!AGE1"/>
          <p:cNvSpPr/>
          <p:nvPr/>
        </p:nvSpPr>
        <p:spPr>
          <a:xfrm>
            <a:off x="4742098" y="4723561"/>
            <a:ext cx="678425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687234" y="4494961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632370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7" name="!!AGE2"/>
          <p:cNvSpPr/>
          <p:nvPr/>
        </p:nvSpPr>
        <p:spPr>
          <a:xfrm>
            <a:off x="5918036" y="4896794"/>
            <a:ext cx="678425" cy="223845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63172" y="4668194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10,88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808308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40" name="!!AGE3"/>
          <p:cNvSpPr/>
          <p:nvPr/>
        </p:nvSpPr>
        <p:spPr>
          <a:xfrm>
            <a:off x="7093974" y="4031658"/>
            <a:ext cx="678425" cy="1088981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039110" y="380305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52,93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984246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3" name="!!NOTE"/>
          <p:cNvSpPr/>
          <p:nvPr/>
        </p:nvSpPr>
        <p:spPr>
          <a:xfrm>
            <a:off x="8046720" y="4069080"/>
            <a:ext cx="28346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8138160" y="417880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observan diferencias ≠ influencia causal.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¿Cuándo un arancel es sustantivamente más caro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Criterio: percentil 90 sobre ofertas académicas únicas.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11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41324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4709160" cy="3060954"/>
          </a:xfrm>
          <a:prstGeom prst="rect">
            <a:avLst/>
          </a:prstGeom>
        </p:spPr>
      </p:pic>
      <p:sp>
        <p:nvSpPr>
          <p:cNvPr id="22" name="!!R0"/>
          <p:cNvSpPr/>
          <p:nvPr/>
        </p:nvSpPr>
        <p:spPr>
          <a:xfrm>
            <a:off x="548640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61441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P90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61441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$4,106M</a:t>
            </a:r>
          </a:p>
        </p:txBody>
      </p:sp>
      <p:sp>
        <p:nvSpPr>
          <p:cNvPr id="25" name="!!R1"/>
          <p:cNvSpPr/>
          <p:nvPr/>
        </p:nvSpPr>
        <p:spPr>
          <a:xfrm>
            <a:off x="736092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48893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OFERTAS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48893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128</a:t>
            </a:r>
          </a:p>
        </p:txBody>
      </p:sp>
      <p:sp>
        <p:nvSpPr>
          <p:cNvPr id="28" name="!!R2"/>
          <p:cNvSpPr/>
          <p:nvPr/>
        </p:nvSpPr>
        <p:spPr>
          <a:xfrm>
            <a:off x="923544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936345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PORCENTAJE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36345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10,1%</a:t>
            </a:r>
          </a:p>
        </p:txBody>
      </p:sp>
      <p:sp>
        <p:nvSpPr>
          <p:cNvPr id="31" name="!!R3"/>
          <p:cNvSpPr/>
          <p:nvPr/>
        </p:nvSpPr>
        <p:spPr>
          <a:xfrm>
            <a:off x="548640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61441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CRUCH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561441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73</a:t>
            </a:r>
          </a:p>
        </p:txBody>
      </p:sp>
      <p:sp>
        <p:nvSpPr>
          <p:cNvPr id="34" name="!!R4"/>
          <p:cNvSpPr/>
          <p:nvPr/>
        </p:nvSpPr>
        <p:spPr>
          <a:xfrm>
            <a:off x="736092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748893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PRIVADAS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48893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55</a:t>
            </a:r>
          </a:p>
        </p:txBody>
      </p:sp>
      <p:sp>
        <p:nvSpPr>
          <p:cNvPr id="37" name="!!NOTE"/>
          <p:cNvSpPr/>
          <p:nvPr/>
        </p:nvSpPr>
        <p:spPr>
          <a:xfrm>
            <a:off x="5486400" y="4709160"/>
            <a:ext cx="54406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577840" y="4818888"/>
            <a:ext cx="5257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128 / 1.273 = 10,1% · 123 Concepción · 5 Biobío · Salud 38 · Tecnología 38.</a:t>
            </a:r>
          </a:p>
        </p:txBody>
      </p:sp>
      <p:sp>
        <p:nvSpPr>
          <p:cNvPr id="39" name="pill"/>
          <p:cNvSpPr/>
          <p:nvPr/>
        </p:nvSpPr>
        <p:spPr>
          <a:xfrm>
            <a:off x="5669280" y="5330952"/>
            <a:ext cx="150876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5705856" y="5399532"/>
            <a:ext cx="14356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P90</a:t>
            </a:r>
          </a:p>
        </p:txBody>
      </p:sp>
      <p:sp>
        <p:nvSpPr>
          <p:cNvPr id="41" name="pill"/>
          <p:cNvSpPr/>
          <p:nvPr/>
        </p:nvSpPr>
        <p:spPr>
          <a:xfrm>
            <a:off x="7360920" y="5330952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397496" y="5399532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Percentil</a:t>
            </a:r>
          </a:p>
        </p:txBody>
      </p:sp>
      <p:sp>
        <p:nvSpPr>
          <p:cNvPr id="43" name="pill"/>
          <p:cNvSpPr/>
          <p:nvPr/>
        </p:nvSpPr>
        <p:spPr>
          <a:xfrm>
            <a:off x="9189720" y="5330952"/>
            <a:ext cx="160020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9226296" y="5399532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10 vs 5 sem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TERRITORIAL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¿Cuánto talento transformador hay y dónde está?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Proporción y volumen absoluto cuentan historias distintas; no inferimos causalidad territorial.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843016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0"/>
          <p:cNvSpPr/>
          <p:nvPr/>
        </p:nvSpPr>
        <p:spPr>
          <a:xfrm>
            <a:off x="777240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90525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ARAUCO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0525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8,55%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0525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232 matrículas transformadoras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3886200"/>
            <a:ext cx="640080" cy="640080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T1"/>
          <p:cNvSpPr/>
          <p:nvPr/>
        </p:nvSpPr>
        <p:spPr>
          <a:xfrm>
            <a:off x="448055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608575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BIOBÍO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5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7,61%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608575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966 matrículas transformadoras</a:t>
            </a:r>
          </a:p>
        </p:txBody>
      </p:sp>
      <p:sp>
        <p:nvSpPr>
          <p:cNvPr id="30" name="Oval 29"/>
          <p:cNvSpPr/>
          <p:nvPr/>
        </p:nvSpPr>
        <p:spPr>
          <a:xfrm>
            <a:off x="5715000" y="3886200"/>
            <a:ext cx="640080" cy="640080"/>
          </a:xfrm>
          <a:prstGeom prst="ellipse">
            <a:avLst/>
          </a:prstGeom>
          <a:solidFill>
            <a:srgbClr val="FFBE5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T2"/>
          <p:cNvSpPr/>
          <p:nvPr/>
        </p:nvSpPr>
        <p:spPr>
          <a:xfrm>
            <a:off x="818387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831189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CONCEPCIÓN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31189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6,77%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831189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5.802 matrículas transformadoras</a:t>
            </a:r>
          </a:p>
        </p:txBody>
      </p:sp>
      <p:sp>
        <p:nvSpPr>
          <p:cNvPr id="35" name="Oval 34"/>
          <p:cNvSpPr/>
          <p:nvPr/>
        </p:nvSpPr>
        <p:spPr>
          <a:xfrm>
            <a:off x="9418320" y="3886200"/>
            <a:ext cx="640080" cy="640080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NOTE"/>
          <p:cNvSpPr/>
          <p:nvPr/>
        </p:nvSpPr>
        <p:spPr>
          <a:xfrm>
            <a:off x="777240" y="4983480"/>
            <a:ext cx="105156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68680" y="5093208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Arauco tiene mayor proporción; Concepción concentra por lejos el mayor volumen.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DE GÉNERO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participación tecnológica también tiene una dimensión de género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Hallazgo descriptivo y pregunta futura, no consecuencia demostrada.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272783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200400" cy="2080260"/>
          </a:xfrm>
          <a:prstGeom prst="rect">
            <a:avLst/>
          </a:prstGeom>
        </p:spPr>
      </p:pic>
      <p:sp>
        <p:nvSpPr>
          <p:cNvPr id="22" name="!!GEN0"/>
          <p:cNvSpPr/>
          <p:nvPr/>
        </p:nvSpPr>
        <p:spPr>
          <a:xfrm>
            <a:off x="4297680" y="2373965"/>
            <a:ext cx="1179870" cy="219803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242816" y="2145365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17,17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187952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Industria</a:t>
            </a:r>
          </a:p>
        </p:txBody>
      </p:sp>
      <p:sp>
        <p:nvSpPr>
          <p:cNvPr id="25" name="!!GEN1"/>
          <p:cNvSpPr/>
          <p:nvPr/>
        </p:nvSpPr>
        <p:spPr>
          <a:xfrm>
            <a:off x="6450944" y="3099816"/>
            <a:ext cx="1179870" cy="147218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6396080" y="2871216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11,5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341216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Digital/TIC</a:t>
            </a:r>
          </a:p>
        </p:txBody>
      </p:sp>
      <p:sp>
        <p:nvSpPr>
          <p:cNvPr id="28" name="!!GEN2"/>
          <p:cNvSpPr/>
          <p:nvPr/>
        </p:nvSpPr>
        <p:spPr>
          <a:xfrm>
            <a:off x="8604209" y="3830787"/>
            <a:ext cx="1179870" cy="741212"/>
          </a:xfrm>
          <a:prstGeom prst="roundRect">
            <a:avLst/>
          </a:prstGeom>
          <a:solidFill>
            <a:srgbClr val="AB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8549345" y="3602187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5,79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494481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Automatización</a:t>
            </a:r>
          </a:p>
        </p:txBody>
      </p:sp>
      <p:sp>
        <p:nvSpPr>
          <p:cNvPr id="31" name="!!NOTE"/>
          <p:cNvSpPr/>
          <p:nvPr/>
        </p:nvSpPr>
        <p:spPr>
          <a:xfrm>
            <a:off x="4297680" y="4800600"/>
            <a:ext cx="5486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389120" y="4910328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¿La transformación reducirá brechas o trasladará desigualdades hacia nuevas ocupaciones?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HUACHIPATO 2024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Un shock industrial vuelve visible la vulnerabilidad regional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Punto de inflexión posterior a 2021. No atribuimos el cierre a falta de talento tecnológico.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70255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4114800" cy="2674620"/>
          </a:xfrm>
          <a:prstGeom prst="rect">
            <a:avLst/>
          </a:prstGeom>
        </p:spPr>
      </p:pic>
      <p:sp>
        <p:nvSpPr>
          <p:cNvPr id="22" name="!!HC"/>
          <p:cNvSpPr/>
          <p:nvPr/>
        </p:nvSpPr>
        <p:spPr>
          <a:xfrm>
            <a:off x="5074920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20293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CIERRE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20293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6F9FC"/>
                </a:solidFill>
                <a:latin typeface="Aptos"/>
              </a:rPr>
              <a:t>2024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520293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Talcahuano</a:t>
            </a:r>
          </a:p>
        </p:txBody>
      </p:sp>
      <p:sp>
        <p:nvSpPr>
          <p:cNvPr id="26" name="!!HW"/>
          <p:cNvSpPr/>
          <p:nvPr/>
        </p:nvSpPr>
        <p:spPr>
          <a:xfrm>
            <a:off x="7726679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785469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AFECTADOS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85469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7.168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85469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directos e indirectos</a:t>
            </a:r>
          </a:p>
        </p:txBody>
      </p:sp>
      <p:sp>
        <p:nvSpPr>
          <p:cNvPr id="30" name="!!H0"/>
          <p:cNvSpPr/>
          <p:nvPr/>
        </p:nvSpPr>
        <p:spPr>
          <a:xfrm>
            <a:off x="5074920" y="370332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5111496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reconversión</a:t>
            </a:r>
          </a:p>
        </p:txBody>
      </p:sp>
      <p:sp>
        <p:nvSpPr>
          <p:cNvPr id="32" name="!!H1"/>
          <p:cNvSpPr/>
          <p:nvPr/>
        </p:nvSpPr>
        <p:spPr>
          <a:xfrm>
            <a:off x="7726679" y="370332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7763255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diversificación</a:t>
            </a:r>
          </a:p>
        </p:txBody>
      </p:sp>
      <p:sp>
        <p:nvSpPr>
          <p:cNvPr id="34" name="!!H2"/>
          <p:cNvSpPr/>
          <p:nvPr/>
        </p:nvSpPr>
        <p:spPr>
          <a:xfrm>
            <a:off x="5074920" y="429768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5111496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fortalecimiento</a:t>
            </a:r>
          </a:p>
        </p:txBody>
      </p:sp>
      <p:sp>
        <p:nvSpPr>
          <p:cNvPr id="36" name="!!H3"/>
          <p:cNvSpPr/>
          <p:nvPr/>
        </p:nvSpPr>
        <p:spPr>
          <a:xfrm>
            <a:off x="7726679" y="429768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5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innovación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 · Plan de Fortalecimiento Industrial / avance 2026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posterior a la línea base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RESPUESTA REGIONAL 2024–2026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región busca transformar su industria, no abandonarla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Manufactura avanzada, Industria 4.0, sistemas inteligentes, transición energética y capital humano.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132320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828800"/>
            <a:ext cx="2377440" cy="1545336"/>
          </a:xfrm>
          <a:prstGeom prst="rect">
            <a:avLst/>
          </a:prstGeom>
        </p:spPr>
      </p:pic>
      <p:sp>
        <p:nvSpPr>
          <p:cNvPr id="23" name="!!RESP0"/>
          <p:cNvSpPr/>
          <p:nvPr/>
        </p:nvSpPr>
        <p:spPr>
          <a:xfrm>
            <a:off x="32004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3284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PLAN INDUSTRIAL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284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32 medidas</a:t>
            </a:r>
          </a:p>
        </p:txBody>
      </p:sp>
      <p:sp>
        <p:nvSpPr>
          <p:cNvPr id="26" name="!!RESP1"/>
          <p:cNvSpPr/>
          <p:nvPr/>
        </p:nvSpPr>
        <p:spPr>
          <a:xfrm>
            <a:off x="57150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8430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INDUSTRIA 4.0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8430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centro tecnológico</a:t>
            </a:r>
          </a:p>
        </p:txBody>
      </p:sp>
      <p:sp>
        <p:nvSpPr>
          <p:cNvPr id="29" name="!!RESP2"/>
          <p:cNvSpPr/>
          <p:nvPr/>
        </p:nvSpPr>
        <p:spPr>
          <a:xfrm>
            <a:off x="32004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3284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SISTEMAS 4.0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33284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mantenimiento predictivo</a:t>
            </a:r>
          </a:p>
        </p:txBody>
      </p:sp>
      <p:sp>
        <p:nvSpPr>
          <p:cNvPr id="32" name="!!RESP3"/>
          <p:cNvSpPr/>
          <p:nvPr/>
        </p:nvSpPr>
        <p:spPr>
          <a:xfrm>
            <a:off x="57150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AB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58430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AB7DFF"/>
                </a:solidFill>
                <a:latin typeface="Aptos"/>
              </a:rPr>
              <a:t>CAPITAL HUMANO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58430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IA avanzada</a:t>
            </a:r>
          </a:p>
        </p:txBody>
      </p:sp>
      <p:sp>
        <p:nvSpPr>
          <p:cNvPr id="35" name="!!RESP4"/>
          <p:cNvSpPr/>
          <p:nvPr/>
        </p:nvSpPr>
        <p:spPr>
          <a:xfrm>
            <a:off x="3200400" y="4114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328416" y="4206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BIOBÍO 2050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28416" y="4462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innovación + talento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Economía; Corfo; GORE Biobío; Desarrolla Biobío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ACERO + ALGORITMO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Transformar no significa reemplazar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Las capacidades digitales pueden incorporarse a los sectores productivos existentes.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56208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691640"/>
            <a:ext cx="4663440" cy="3031236"/>
          </a:xfrm>
          <a:prstGeom prst="rect">
            <a:avLst/>
          </a:prstGeom>
        </p:spPr>
      </p:pic>
      <p:sp>
        <p:nvSpPr>
          <p:cNvPr id="22" name="!!EA0"/>
          <p:cNvSpPr/>
          <p:nvPr/>
        </p:nvSpPr>
        <p:spPr>
          <a:xfrm>
            <a:off x="54864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8521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Manufactura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214884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25" name="!!EB0"/>
          <p:cNvSpPr/>
          <p:nvPr/>
        </p:nvSpPr>
        <p:spPr>
          <a:xfrm>
            <a:off x="242316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2459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27" name="!!EA1"/>
          <p:cNvSpPr/>
          <p:nvPr/>
        </p:nvSpPr>
        <p:spPr>
          <a:xfrm>
            <a:off x="434340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437997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Metalmecánica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0" name="!!EB1"/>
          <p:cNvSpPr/>
          <p:nvPr/>
        </p:nvSpPr>
        <p:spPr>
          <a:xfrm>
            <a:off x="621792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625449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Mantenimiento</a:t>
            </a:r>
          </a:p>
        </p:txBody>
      </p:sp>
      <p:sp>
        <p:nvSpPr>
          <p:cNvPr id="32" name="!!EA2"/>
          <p:cNvSpPr/>
          <p:nvPr/>
        </p:nvSpPr>
        <p:spPr>
          <a:xfrm>
            <a:off x="813816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8174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73836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5" name="!!EB2"/>
          <p:cNvSpPr/>
          <p:nvPr/>
        </p:nvSpPr>
        <p:spPr>
          <a:xfrm>
            <a:off x="1001268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10049255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Sensores+datos</a:t>
            </a:r>
          </a:p>
        </p:txBody>
      </p:sp>
      <p:sp>
        <p:nvSpPr>
          <p:cNvPr id="37" name="!!EA3"/>
          <p:cNvSpPr/>
          <p:nvPr/>
        </p:nvSpPr>
        <p:spPr>
          <a:xfrm>
            <a:off x="54864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521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214884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0" name="!!EB3"/>
          <p:cNvSpPr/>
          <p:nvPr/>
        </p:nvSpPr>
        <p:spPr>
          <a:xfrm>
            <a:off x="242316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459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Sistemas 4.0</a:t>
            </a:r>
          </a:p>
        </p:txBody>
      </p:sp>
      <p:sp>
        <p:nvSpPr>
          <p:cNvPr id="42" name="!!EA4"/>
          <p:cNvSpPr/>
          <p:nvPr/>
        </p:nvSpPr>
        <p:spPr>
          <a:xfrm>
            <a:off x="434340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437997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594360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5" name="!!EB4"/>
          <p:cNvSpPr/>
          <p:nvPr/>
        </p:nvSpPr>
        <p:spPr>
          <a:xfrm>
            <a:off x="621792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Software</a:t>
            </a:r>
          </a:p>
        </p:txBody>
      </p:sp>
      <p:sp>
        <p:nvSpPr>
          <p:cNvPr id="47" name="!!EA5"/>
          <p:cNvSpPr/>
          <p:nvPr/>
        </p:nvSpPr>
        <p:spPr>
          <a:xfrm>
            <a:off x="813816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174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973836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50" name="!!EB5"/>
          <p:cNvSpPr/>
          <p:nvPr/>
        </p:nvSpPr>
        <p:spPr>
          <a:xfrm>
            <a:off x="1001268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10049255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IA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HIPÓTESIS FUTURA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riesgo merece investigarse a continuación?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Hipótesis, no conclusión: requiere empleo, vacantes, salarios, competencias, egresados y series temporales.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991855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383280" cy="2199132"/>
          </a:xfrm>
          <a:prstGeom prst="rect">
            <a:avLst/>
          </a:prstGeom>
        </p:spPr>
      </p:pic>
      <p:sp>
        <p:nvSpPr>
          <p:cNvPr id="22" name="!!HYP"/>
          <p:cNvSpPr/>
          <p:nvPr/>
        </p:nvSpPr>
        <p:spPr>
          <a:xfrm>
            <a:off x="685800" y="1874519"/>
            <a:ext cx="539496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13816" y="1965960"/>
            <a:ext cx="5138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HIPÓTESIS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221991"/>
            <a:ext cx="5138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Velocidades distintas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3816" y="2980944"/>
            <a:ext cx="5138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transformación industrial vs. capital humano</a:t>
            </a:r>
          </a:p>
        </p:txBody>
      </p:sp>
      <p:sp>
        <p:nvSpPr>
          <p:cNvPr id="26" name="!!RSK0"/>
          <p:cNvSpPr/>
          <p:nvPr/>
        </p:nvSpPr>
        <p:spPr>
          <a:xfrm>
            <a:off x="77724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81381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adopción tecnológica</a:t>
            </a:r>
          </a:p>
        </p:txBody>
      </p:sp>
      <p:sp>
        <p:nvSpPr>
          <p:cNvPr id="28" name="!!RSK1"/>
          <p:cNvSpPr/>
          <p:nvPr/>
        </p:nvSpPr>
        <p:spPr>
          <a:xfrm>
            <a:off x="342900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346557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vacantes especializadas</a:t>
            </a:r>
          </a:p>
        </p:txBody>
      </p:sp>
      <p:sp>
        <p:nvSpPr>
          <p:cNvPr id="30" name="!!RSK2"/>
          <p:cNvSpPr/>
          <p:nvPr/>
        </p:nvSpPr>
        <p:spPr>
          <a:xfrm>
            <a:off x="777240" y="4224528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talento externo</a:t>
            </a:r>
          </a:p>
        </p:txBody>
      </p:sp>
      <p:sp>
        <p:nvSpPr>
          <p:cNvPr id="32" name="!!RSK3"/>
          <p:cNvSpPr/>
          <p:nvPr/>
        </p:nvSpPr>
        <p:spPr>
          <a:xfrm>
            <a:off x="3429000" y="4224528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346557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skills mismatch</a:t>
            </a:r>
          </a:p>
        </p:txBody>
      </p:sp>
      <p:sp>
        <p:nvSpPr>
          <p:cNvPr id="34" name="!!RSK4"/>
          <p:cNvSpPr/>
          <p:nvPr/>
        </p:nvSpPr>
        <p:spPr>
          <a:xfrm>
            <a:off x="77724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81381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inversión tecnológica</a:t>
            </a:r>
          </a:p>
        </p:txBody>
      </p:sp>
      <p:sp>
        <p:nvSpPr>
          <p:cNvPr id="36" name="!!RSK5"/>
          <p:cNvSpPr/>
          <p:nvPr/>
        </p:nvSpPr>
        <p:spPr>
          <a:xfrm>
            <a:off x="342900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346557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productividad potencial</a:t>
            </a:r>
          </a:p>
        </p:txBody>
      </p:sp>
      <p:sp>
        <p:nvSpPr>
          <p:cNvPr id="38" name="!!NOTE"/>
          <p:cNvSpPr/>
          <p:nvPr/>
        </p:nvSpPr>
        <p:spPr>
          <a:xfrm>
            <a:off x="777240" y="5486400"/>
            <a:ext cx="49834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68680" y="5596128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Riesgos plausibles ≠ efectos demostrados.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LÍNEA TEMPORAL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Cuatro momentos, no una causalidad inventada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2021 es línea base; los hechos posteriores explican por qué esa fotografía puede volverse relevante.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42162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M0"/>
          <p:cNvSpPr/>
          <p:nvPr/>
        </p:nvSpPr>
        <p:spPr>
          <a:xfrm>
            <a:off x="6858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2021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Fotografía + ENADEL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3337560"/>
            <a:ext cx="438912" cy="438912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TM1"/>
          <p:cNvSpPr/>
          <p:nvPr/>
        </p:nvSpPr>
        <p:spPr>
          <a:xfrm>
            <a:off x="36576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3785615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2024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3785615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Shock Huachipato</a:t>
            </a:r>
          </a:p>
        </p:txBody>
      </p:sp>
      <p:sp>
        <p:nvSpPr>
          <p:cNvPr id="28" name="Oval 27"/>
          <p:cNvSpPr/>
          <p:nvPr/>
        </p:nvSpPr>
        <p:spPr>
          <a:xfrm>
            <a:off x="3886200" y="3337560"/>
            <a:ext cx="438912" cy="438912"/>
          </a:xfrm>
          <a:prstGeom prst="ellipse">
            <a:avLst/>
          </a:prstGeom>
          <a:solidFill>
            <a:srgbClr val="FF5B5B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TM2"/>
          <p:cNvSpPr/>
          <p:nvPr/>
        </p:nvSpPr>
        <p:spPr>
          <a:xfrm>
            <a:off x="66294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67574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2024–26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7574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Industria 4.0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0" y="3337560"/>
            <a:ext cx="438912" cy="438912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M3"/>
          <p:cNvSpPr/>
          <p:nvPr/>
        </p:nvSpPr>
        <p:spPr>
          <a:xfrm>
            <a:off x="96012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7292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2050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97292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Pregunta futura</a:t>
            </a:r>
          </a:p>
        </p:txBody>
      </p:sp>
      <p:sp>
        <p:nvSpPr>
          <p:cNvPr id="36" name="Oval 35"/>
          <p:cNvSpPr/>
          <p:nvPr/>
        </p:nvSpPr>
        <p:spPr>
          <a:xfrm>
            <a:off x="9829800" y="3337560"/>
            <a:ext cx="438912" cy="438912"/>
          </a:xfrm>
          <a:prstGeom prst="ellipse">
            <a:avLst/>
          </a:prstGeom>
          <a:solidFill>
            <a:srgbClr val="58D68D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258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NOTE"/>
          <p:cNvSpPr/>
          <p:nvPr/>
        </p:nvSpPr>
        <p:spPr>
          <a:xfrm>
            <a:off x="2011680" y="4709160"/>
            <a:ext cx="81381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103120" y="4818888"/>
            <a:ext cx="7955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¿Evolucionará el capital humano junto con la transformación productiva que la región proyecta?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 Y LÍMITES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demostramos y qué NO demostramos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Separar resultados, contexto e hipótesis protege la interpretación estadística.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85139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A"/>
          <p:cNvSpPr/>
          <p:nvPr/>
        </p:nvSpPr>
        <p:spPr>
          <a:xfrm>
            <a:off x="68580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DEMOSTRAMOS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6F9FC"/>
                </a:solidFill>
                <a:latin typeface="Aptos"/>
              </a:rPr>
              <a:t>20,15% vs 6,92%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2,9 : 1 en 2021</a:t>
            </a:r>
          </a:p>
        </p:txBody>
      </p:sp>
      <p:sp>
        <p:nvSpPr>
          <p:cNvPr id="25" name="!!CB"/>
          <p:cNvSpPr/>
          <p:nvPr/>
        </p:nvSpPr>
        <p:spPr>
          <a:xfrm>
            <a:off x="416052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28853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DEMOSTRAMOS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8853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Precios + asociaciones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28853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3 preguntas obligatorias</a:t>
            </a:r>
          </a:p>
        </p:txBody>
      </p:sp>
      <p:sp>
        <p:nvSpPr>
          <p:cNvPr id="29" name="!!CC"/>
          <p:cNvSpPr/>
          <p:nvPr/>
        </p:nvSpPr>
        <p:spPr>
          <a:xfrm>
            <a:off x="763524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76325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NO DEMOSTRAMOS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76325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Causalidad / déficit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76325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ni evolución temporal</a:t>
            </a:r>
          </a:p>
        </p:txBody>
      </p:sp>
      <p:sp>
        <p:nvSpPr>
          <p:cNvPr id="33" name="!!L0"/>
          <p:cNvSpPr/>
          <p:nvPr/>
        </p:nvSpPr>
        <p:spPr>
          <a:xfrm>
            <a:off x="7315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680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Solo 2021</a:t>
            </a:r>
          </a:p>
        </p:txBody>
      </p:sp>
      <p:sp>
        <p:nvSpPr>
          <p:cNvPr id="35" name="!!L1"/>
          <p:cNvSpPr/>
          <p:nvPr/>
        </p:nvSpPr>
        <p:spPr>
          <a:xfrm>
            <a:off x="34747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112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Taxonomía propia</a:t>
            </a:r>
          </a:p>
        </p:txBody>
      </p:sp>
      <p:sp>
        <p:nvSpPr>
          <p:cNvPr id="37" name="!!L2"/>
          <p:cNvSpPr/>
          <p:nvPr/>
        </p:nvSpPr>
        <p:spPr>
          <a:xfrm>
            <a:off x="62179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2544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Una familia/carrera</a:t>
            </a:r>
          </a:p>
        </p:txBody>
      </p:sp>
      <p:sp>
        <p:nvSpPr>
          <p:cNvPr id="39" name="!!L3"/>
          <p:cNvSpPr/>
          <p:nvPr/>
        </p:nvSpPr>
        <p:spPr>
          <a:xfrm>
            <a:off x="89611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9976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salarios</a:t>
            </a:r>
          </a:p>
        </p:txBody>
      </p:sp>
      <p:sp>
        <p:nvSpPr>
          <p:cNvPr id="41" name="!!L4"/>
          <p:cNvSpPr/>
          <p:nvPr/>
        </p:nvSpPr>
        <p:spPr>
          <a:xfrm>
            <a:off x="7315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680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vacantes carrera/carrera</a:t>
            </a:r>
          </a:p>
        </p:txBody>
      </p:sp>
      <p:sp>
        <p:nvSpPr>
          <p:cNvPr id="43" name="!!L5"/>
          <p:cNvSpPr/>
          <p:nvPr/>
        </p:nvSpPr>
        <p:spPr>
          <a:xfrm>
            <a:off x="34747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112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productividad</a:t>
            </a:r>
          </a:p>
        </p:txBody>
      </p:sp>
      <p:sp>
        <p:nvSpPr>
          <p:cNvPr id="45" name="!!L6"/>
          <p:cNvSpPr/>
          <p:nvPr/>
        </p:nvSpPr>
        <p:spPr>
          <a:xfrm>
            <a:off x="62179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serie temporal</a:t>
            </a:r>
          </a:p>
        </p:txBody>
      </p:sp>
      <p:sp>
        <p:nvSpPr>
          <p:cNvPr id="47" name="!!L7"/>
          <p:cNvSpPr/>
          <p:nvPr/>
        </p:nvSpPr>
        <p:spPr>
          <a:xfrm>
            <a:off x="89611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9976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Asociación ≠ causalidad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FUENTES Y 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pregunta que queda abierta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El desafío es incorporar capacidades digitales, automatización, datos e innovación a la identidad industrial del Biobío.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20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928115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45920"/>
            <a:ext cx="3931920" cy="2555748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685800" y="1737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SENCE · ENADEL 2021 Biobío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85800" y="2194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Ministerio de Economía · Plan Industrial 2024 / avance 2026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85800" y="26517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Manufactura Avanzada e Industria 4.0, 2025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85800" y="31089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Sistemas inteligentes / mantenimiento predictivo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85800" y="35661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GORE Biobío · Capital Humano Avanzado en IA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85800" y="4023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Desarrolla Biobío · Estrategia Biobío 2050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85800" y="4480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26DAFF"/>
                </a:solidFill>
                <a:latin typeface="Aptos"/>
              </a:rPr>
              <a:t>• Excel del trabajo · elaboración propia</a:t>
            </a:r>
          </a:p>
        </p:txBody>
      </p:sp>
      <p:sp>
        <p:nvSpPr>
          <p:cNvPr id="29" name="!!NOTE"/>
          <p:cNvSpPr/>
          <p:nvPr/>
        </p:nvSpPr>
        <p:spPr>
          <a:xfrm>
            <a:off x="868680" y="5230368"/>
            <a:ext cx="1005840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960120" y="5340096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CIERRE · DEL ACERO AL ALGORITMO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