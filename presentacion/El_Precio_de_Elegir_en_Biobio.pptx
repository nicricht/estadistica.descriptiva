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EL PRECIO 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ELEGIR EN BIOBÍO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68096" y="294436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8F1"/>
                </a:solidFill>
              </a:rPr>
              <a:t>Territorio, edad, instituciones y aranceles en la Educación Superior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3959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</a:rPr>
              <a:t>Trabajo Práctico · Estadística Descriptiva · Región del Biobío · 2021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26680" y="1188720"/>
            <a:ext cx="1463040" cy="1463040"/>
          </a:xfrm>
          <a:prstGeom prst="ellipse">
            <a:avLst/>
          </a:prstGeom>
          <a:solidFill>
            <a:srgbClr val="19A59C">
              <a:alpha val="93000"/>
            </a:srgbClr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810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TERRITORIO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281160" y="2423160"/>
            <a:ext cx="1463040" cy="1463040"/>
          </a:xfrm>
          <a:prstGeom prst="ellipse">
            <a:avLst/>
          </a:prstGeom>
          <a:solidFill>
            <a:srgbClr val="4F7DC9">
              <a:alpha val="93000"/>
            </a:srgbClr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30449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83880" y="3840480"/>
            <a:ext cx="1463040" cy="1463040"/>
          </a:xfrm>
          <a:prstGeom prst="ellipse">
            <a:avLst/>
          </a:prstGeom>
          <a:solidFill>
            <a:srgbClr val="F39A4A">
              <a:alpha val="93000"/>
            </a:srgbClr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" y="47731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101.067 matrículas  ·  1.273 ofertas únicas  ·  3 provincias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96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A59C"/>
                </a:solidFill>
              </a:rPr>
              <a:t>Pregunta guía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57607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FFFFF"/>
                </a:solidFill>
              </a:rPr>
              <a:t>¿Qué diferencias enfrenta una persona al elegir dónde y qué estudiar dentro de la Región del Biobío?</a:t>
            </a:r>
            <a:endParaRPr lang="en-US" sz="13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Primero: separar estudiantes de precios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 decisión metodológica que evita contar una misma carrera cientos de veces.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737360"/>
            <a:ext cx="3017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37360"/>
            <a:ext cx="64008" cy="1170432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0195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101.067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Matrículas analizadas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670048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19A59C"/>
                </a:solidFill>
              </a:rPr>
              <a:t>edad, género, institución y jornada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069080" y="1737360"/>
            <a:ext cx="3017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1737360"/>
            <a:ext cx="64008" cy="1170432"/>
          </a:xfrm>
          <a:prstGeom prst="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248" y="190195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1.273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270248" y="235915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Ofertas académicas únicas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70248" y="2670048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F39A4A"/>
                </a:solidFill>
              </a:rPr>
              <a:t>una fila por oferta para estudiar precios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452360" y="1627632"/>
            <a:ext cx="3749040" cy="1389888"/>
          </a:xfrm>
          <a:prstGeom prst="roundRect">
            <a:avLst/>
          </a:prstGeom>
          <a:solidFill>
            <a:srgbClr val="EEF6FB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874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7DC9"/>
                </a:solidFill>
              </a:rPr>
              <a:t>¿POR QUÉ IMPORTA?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26680" y="217627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Una oferta con 500 estudiantes no debe pesar 500 veces al responder cuánto cuesta una carrera.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3429000"/>
            <a:ext cx="1049731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822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106.555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4279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Base original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697480" y="3950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C0CD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29000" y="3822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252"/>
                </a:solidFill>
              </a:rPr>
              <a:t>− 5.488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37560" y="4279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Registros excluidos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029200" y="3950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C0CD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33872" y="3822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A59C"/>
                </a:solidFill>
              </a:rPr>
              <a:t>101.067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42432" y="4279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Matrículas de pregrado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34072" y="3950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C0CD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12480" y="3822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A4A"/>
                </a:solidFill>
              </a:rPr>
              <a:t>1.273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21040" y="4279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Ofertas únicas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DF8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606704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6E68"/>
                </a:solidFill>
              </a:rPr>
              <a:t>Regla clave: personas → matrículas · precios → ofertas académicas únicas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Biobío no es uniforme: la oferta está muy concentrada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 primera señal regional aparece antes de responder las tres preguntas obligatorias.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645920"/>
            <a:ext cx="4617720" cy="3246120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645920"/>
            <a:ext cx="4617720" cy="73152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938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</a:rPr>
              <a:t>Concepción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9264" y="2487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Matrículas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69264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9A59C"/>
                </a:solidFill>
              </a:rPr>
              <a:t>84,75%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9264" y="33558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Ofertas únicas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969264" y="3575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</a:rPr>
              <a:t>74,86%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264" y="4224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Arancel mediano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969264" y="44439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</a:rPr>
              <a:t>$2,146 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50992" y="1645920"/>
            <a:ext cx="26060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0992" y="1645920"/>
            <a:ext cx="2606040" cy="73152"/>
          </a:xfrm>
          <a:prstGeom prst="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1938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Biobío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07024" y="24871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Matrículas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907024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F7DC9"/>
                </a:solidFill>
              </a:rPr>
              <a:t>12,56%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907024" y="33558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Ofertas únicas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907024" y="35753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20,35%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07024" y="4224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Arancel mediano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907024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$1,770 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77072" y="1645920"/>
            <a:ext cx="26060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1645920"/>
            <a:ext cx="2606040" cy="73152"/>
          </a:xfrm>
          <a:prstGeom prst="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33104" y="1938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Arauco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833104" y="24871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Matrículas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8833104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39A4A"/>
                </a:solidFill>
              </a:rPr>
              <a:t>2,69%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833104" y="33558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Ofertas únicas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8833104" y="35753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4,79%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33104" y="4224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Arancel mediano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833104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$1,450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85800" y="5596128"/>
            <a:ext cx="10835640" cy="384048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673852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D87828"/>
                </a:solidFill>
              </a:rPr>
              <a:t>Concepción concentra 3 de cada 4 ofertas únicas y tiene el arancel mediano más alto de las tres provincias.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Radiografía descriptiva de la matrícula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Antes de investigar relaciones, describimos la forma general de la base.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64008" cy="1170432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51,91%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Tecnología + Salud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054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19A59C"/>
                </a:solidFill>
              </a:rPr>
              <a:t>más de la mitad de la matrícula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337560" y="1572768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72768"/>
            <a:ext cx="64008" cy="1170432"/>
          </a:xfrm>
          <a:prstGeom prst="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7373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23 años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538728" y="21945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Edad mediana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38728" y="25054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4F7DC9"/>
                </a:solidFill>
              </a:rPr>
              <a:t>P25 = 21 · P75 = 26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961888" y="1572768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1888" y="1572768"/>
            <a:ext cx="64008" cy="1170432"/>
          </a:xfrm>
          <a:prstGeom prst="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7373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$3,134 M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163056" y="21945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Arancel mediano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63056" y="25054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F39A4A"/>
                </a:solidFill>
              </a:rPr>
              <a:t>por matrícula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586216" y="1572768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86216" y="1572768"/>
            <a:ext cx="64008" cy="1170432"/>
          </a:xfrm>
          <a:prstGeom prst="rect">
            <a:avLst/>
          </a:prstGeom>
          <a:solidFill>
            <a:srgbClr val="C75252"/>
          </a:solidFill>
          <a:ln w="12700">
            <a:solidFill>
              <a:srgbClr val="C7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87384" y="17373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47,1%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787384" y="21945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CV del arancel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87384" y="25054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C75252"/>
                </a:solidFill>
              </a:rPr>
              <a:t>alta dispersión relativa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13232" y="3200400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Tecnología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404872" y="3273552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04872" y="3273552"/>
            <a:ext cx="4004105" cy="103693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32186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27,57%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13232" y="344728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Salud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404872" y="3520440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04872" y="3520440"/>
            <a:ext cx="3534378" cy="103693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34655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24,34%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13232" y="3694176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Adm. y Comercio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404872" y="3767328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04872" y="3767328"/>
            <a:ext cx="1939834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37124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13,36%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13232" y="3941064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Educación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2404872" y="4014216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04872" y="4014216"/>
            <a:ext cx="1649578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3959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11,36%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13232" y="4187952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Ciencias Sociales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404872" y="4261104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4872" y="4261104"/>
            <a:ext cx="1534193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83096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10,56%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713232" y="4434840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Arte y Arq.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2404872" y="4507992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04872" y="4507992"/>
            <a:ext cx="518870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83096" y="44531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3,57%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713232" y="468172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Derecho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2404872" y="4754880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04872" y="4754880"/>
            <a:ext cx="507087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3096" y="47000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3,49%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713232" y="4928616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Ciencias Básicas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2404872" y="5001768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4872" y="5001768"/>
            <a:ext cx="421878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49469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2,91%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713232" y="5175504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Agropecuaria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2404872" y="5248656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04872" y="5248656"/>
            <a:ext cx="339255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83096" y="51937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2,34%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713232" y="5422392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Humanidades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2404872" y="5495544"/>
            <a:ext cx="4023360" cy="10369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04872" y="5495544"/>
            <a:ext cx="73283" cy="10369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83096" y="5440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0,50%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7726680" y="3108960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0100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Qué significan las medidas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001000" y="3794760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Mediana: centro resistente a valores extremos.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Percentiles: posición dentro de la distribución.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RIC: amplitud del 50% central.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CV: dispersión relativa respecto de la media.</a:t>
            </a:r>
            <a:endParaRPr lang="en-US" sz="1030" dirty="0"/>
          </a:p>
        </p:txBody>
      </p:sp>
      <p:sp>
        <p:nvSpPr>
          <p:cNvPr id="70" name="Shape 68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DF8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606704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6E68"/>
                </a:solidFill>
              </a:rPr>
              <a:t>Tecnología y Salud dominan la matrícula; los aranceles muestran una dispersión importante.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Pregunta 1: ¿hay áreas donde las carreras sean más caras?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Criterio: mediana del arancel por área usando ofertas académicas únicas.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41080" y="640080"/>
            <a:ext cx="2286000" cy="310896"/>
          </a:xfrm>
          <a:prstGeom prst="round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59952" y="71323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Mediana global: $2,030 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Derecho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468880" y="1673352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673352"/>
            <a:ext cx="4262750" cy="184343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8624" y="16184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$3,586 M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77240" y="2039112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Ciencias Básicas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468880" y="2112264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112264"/>
            <a:ext cx="3910889" cy="184343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8624" y="20574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$3,290 M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77240" y="2478024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Agropecuaria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468880" y="2551176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551176"/>
            <a:ext cx="3544763" cy="184343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8624" y="249631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$2,982 M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77240" y="2916936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Tecnología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468880" y="2990088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990088"/>
            <a:ext cx="2522464" cy="184343"/>
          </a:xfrm>
          <a:prstGeom prst="round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293522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9A59C"/>
                </a:solidFill>
              </a:rPr>
              <a:t>$2,122 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77240" y="335584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Salud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468880" y="3429000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429000"/>
            <a:ext cx="2472538" cy="184343"/>
          </a:xfrm>
          <a:prstGeom prst="round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9A59C"/>
                </a:solidFill>
              </a:rPr>
              <a:t>$2,080 M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77240" y="3794760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Humanidades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468880" y="3867912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867912"/>
            <a:ext cx="2385761" cy="18434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381304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$2,007 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77240" y="4233672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Arte y Arq.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468880" y="4306824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4306824"/>
            <a:ext cx="2306117" cy="18434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425196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$1,940 M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77240" y="4672584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Adm. y Comercio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468880" y="4745736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4745736"/>
            <a:ext cx="2205076" cy="18434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78624" y="46908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$1,855 M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777240" y="5111496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Educación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468880" y="5184648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68880" y="5184648"/>
            <a:ext cx="2048165" cy="18434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8624" y="512978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$1,723 M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777240" y="555040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Ciencias Sociales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468880" y="5623560"/>
            <a:ext cx="4754880" cy="184343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5623560"/>
            <a:ext cx="1992295" cy="184343"/>
          </a:xfrm>
          <a:prstGeom prst="round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6869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F7DC9"/>
                </a:solidFill>
              </a:rPr>
              <a:t>$1,676 M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1645920"/>
            <a:ext cx="2788920" cy="31546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68512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Tres áreas destacan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659368" y="24871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7828"/>
                </a:solidFill>
              </a:rPr>
              <a:t>01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8280" y="2487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</a:rPr>
              <a:t>Derecho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10287000" y="2487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7828"/>
                </a:solidFill>
              </a:rPr>
              <a:t>$3,586 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59368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7828"/>
                </a:solidFill>
              </a:rPr>
              <a:t>02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098280" y="3154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</a:rPr>
              <a:t>Ciencias Básicas</a:t>
            </a:r>
            <a:endParaRPr lang="en-US" sz="1030" dirty="0"/>
          </a:p>
        </p:txBody>
      </p:sp>
      <p:sp>
        <p:nvSpPr>
          <p:cNvPr id="56" name="Text 54"/>
          <p:cNvSpPr/>
          <p:nvPr/>
        </p:nvSpPr>
        <p:spPr>
          <a:xfrm>
            <a:off x="10287000" y="3154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7828"/>
                </a:solidFill>
              </a:rPr>
              <a:t>$3,290 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59368" y="3822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7828"/>
                </a:solidFill>
              </a:rPr>
              <a:t>03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98280" y="38221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</a:rPr>
              <a:t>Agropecuaria</a:t>
            </a:r>
            <a:endParaRPr lang="en-US" sz="1030" dirty="0"/>
          </a:p>
        </p:txBody>
      </p:sp>
      <p:sp>
        <p:nvSpPr>
          <p:cNvPr id="59" name="Text 57"/>
          <p:cNvSpPr/>
          <p:nvPr/>
        </p:nvSpPr>
        <p:spPr>
          <a:xfrm>
            <a:off x="10287000" y="38221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7828"/>
                </a:solidFill>
              </a:rPr>
              <a:t>$2,982 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659368" y="4480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Derecho está $1,556 M sobre la mediana global.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DF8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606704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6E68"/>
                </a:solidFill>
              </a:rPr>
              <a:t>Respuesta: sí. El costo típico cambia de forma clara según el área del conocimiento.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Pregunta 2: la edad reordena el mapa institucional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Porcentajes dentro de cada rango de edad: asociación, no causalidad.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0" y="1572768"/>
            <a:ext cx="137160" cy="137160"/>
          </a:xfrm>
          <a:prstGeom prst="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CFT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880360" y="1572768"/>
            <a:ext cx="137160" cy="13716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IP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114800" y="1572768"/>
            <a:ext cx="137160" cy="137160"/>
          </a:xfrm>
          <a:prstGeom prst="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CRUCH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349240" y="1572768"/>
            <a:ext cx="137160" cy="137160"/>
          </a:xfrm>
          <a:prstGeom prst="rect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Privadas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31520" y="19933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15–19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508760" y="1920240"/>
            <a:ext cx="657051" cy="310896"/>
          </a:xfrm>
          <a:prstGeom prst="rect">
            <a:avLst/>
          </a:prstGeom>
          <a:solidFill>
            <a:srgbClr val="F39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1984248"/>
            <a:ext cx="638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10%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165811" y="1920240"/>
            <a:ext cx="1270650" cy="310896"/>
          </a:xfrm>
          <a:prstGeom prst="rect">
            <a:avLst/>
          </a:prstGeom>
          <a:solidFill>
            <a:srgbClr val="19A5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4955" y="1984248"/>
            <a:ext cx="12523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19%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3436462" y="1920240"/>
            <a:ext cx="3044294" cy="310896"/>
          </a:xfrm>
          <a:prstGeom prst="rect">
            <a:avLst/>
          </a:prstGeom>
          <a:solidFill>
            <a:srgbClr val="0D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5606" y="1984248"/>
            <a:ext cx="30260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46%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480755" y="1920240"/>
            <a:ext cx="1611026" cy="310896"/>
          </a:xfrm>
          <a:prstGeom prst="rect">
            <a:avLst/>
          </a:prstGeom>
          <a:solidFill>
            <a:srgbClr val="4F7D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9899" y="1984248"/>
            <a:ext cx="159273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24%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731520" y="2560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20–24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508760" y="2487168"/>
            <a:ext cx="512210" cy="310896"/>
          </a:xfrm>
          <a:prstGeom prst="rect">
            <a:avLst/>
          </a:prstGeom>
          <a:solidFill>
            <a:srgbClr val="F39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2551176"/>
            <a:ext cx="49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8%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2020970" y="2487168"/>
            <a:ext cx="1460919" cy="310896"/>
          </a:xfrm>
          <a:prstGeom prst="rect">
            <a:avLst/>
          </a:prstGeom>
          <a:solidFill>
            <a:srgbClr val="19A5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30114" y="2551176"/>
            <a:ext cx="14426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22%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481889" y="2487168"/>
            <a:ext cx="2759879" cy="310896"/>
          </a:xfrm>
          <a:prstGeom prst="rect">
            <a:avLst/>
          </a:prstGeom>
          <a:solidFill>
            <a:srgbClr val="0D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1033" y="2551176"/>
            <a:ext cx="274159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42%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241768" y="2487168"/>
            <a:ext cx="1850672" cy="310896"/>
          </a:xfrm>
          <a:prstGeom prst="rect">
            <a:avLst/>
          </a:prstGeom>
          <a:solidFill>
            <a:srgbClr val="4F7D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0912" y="2551176"/>
            <a:ext cx="183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28%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731520" y="31272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25–29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508760" y="3054096"/>
            <a:ext cx="583972" cy="310896"/>
          </a:xfrm>
          <a:prstGeom prst="rect">
            <a:avLst/>
          </a:prstGeom>
          <a:solidFill>
            <a:srgbClr val="F39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7904" y="3118104"/>
            <a:ext cx="5656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9%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092732" y="3054096"/>
            <a:ext cx="1925068" cy="310896"/>
          </a:xfrm>
          <a:prstGeom prst="rect">
            <a:avLst/>
          </a:prstGeom>
          <a:solidFill>
            <a:srgbClr val="19A5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1876" y="3118104"/>
            <a:ext cx="19067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29%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4017800" y="3054096"/>
            <a:ext cx="2153522" cy="310896"/>
          </a:xfrm>
          <a:prstGeom prst="rect">
            <a:avLst/>
          </a:prstGeom>
          <a:solidFill>
            <a:srgbClr val="0D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6944" y="3118104"/>
            <a:ext cx="2135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33%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6171322" y="3054096"/>
            <a:ext cx="1921118" cy="310896"/>
          </a:xfrm>
          <a:prstGeom prst="rect">
            <a:avLst/>
          </a:prstGeom>
          <a:solidFill>
            <a:srgbClr val="4F7D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0466" y="3118104"/>
            <a:ext cx="19028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29%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731520" y="36941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30–34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1508760" y="3621024"/>
            <a:ext cx="924349" cy="310896"/>
          </a:xfrm>
          <a:prstGeom prst="rect">
            <a:avLst/>
          </a:prstGeom>
          <a:solidFill>
            <a:srgbClr val="F39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17904" y="3685032"/>
            <a:ext cx="9060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14%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2433109" y="3621024"/>
            <a:ext cx="2917887" cy="310896"/>
          </a:xfrm>
          <a:prstGeom prst="rect">
            <a:avLst/>
          </a:prstGeom>
          <a:solidFill>
            <a:srgbClr val="19A5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42253" y="3685032"/>
            <a:ext cx="28995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44%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5350996" y="3621024"/>
            <a:ext cx="1212714" cy="310896"/>
          </a:xfrm>
          <a:prstGeom prst="rect">
            <a:avLst/>
          </a:prstGeom>
          <a:solidFill>
            <a:srgbClr val="0D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60140" y="3685032"/>
            <a:ext cx="11944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18%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6563710" y="3621024"/>
            <a:ext cx="1526755" cy="310896"/>
          </a:xfrm>
          <a:prstGeom prst="rect">
            <a:avLst/>
          </a:prstGeom>
          <a:solidFill>
            <a:srgbClr val="4F7D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72854" y="3685032"/>
            <a:ext cx="15084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23%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731520" y="4261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35–39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1508760" y="4187952"/>
            <a:ext cx="944758" cy="310896"/>
          </a:xfrm>
          <a:prstGeom prst="rect">
            <a:avLst/>
          </a:prstGeom>
          <a:solidFill>
            <a:srgbClr val="F39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17904" y="4251960"/>
            <a:ext cx="9264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14%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2453518" y="4187952"/>
            <a:ext cx="3477500" cy="310896"/>
          </a:xfrm>
          <a:prstGeom prst="rect">
            <a:avLst/>
          </a:prstGeom>
          <a:solidFill>
            <a:srgbClr val="19A5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2662" y="4251960"/>
            <a:ext cx="34592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53%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5931018" y="4187952"/>
            <a:ext cx="917765" cy="310896"/>
          </a:xfrm>
          <a:prstGeom prst="rect">
            <a:avLst/>
          </a:prstGeom>
          <a:solidFill>
            <a:srgbClr val="0D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0162" y="4251960"/>
            <a:ext cx="89947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14%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848783" y="4187952"/>
            <a:ext cx="1241682" cy="310896"/>
          </a:xfrm>
          <a:prstGeom prst="rect">
            <a:avLst/>
          </a:prstGeom>
          <a:solidFill>
            <a:srgbClr val="4F7D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7927" y="4251960"/>
            <a:ext cx="12233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19%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73152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40+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1508760" y="4754880"/>
            <a:ext cx="1165970" cy="310896"/>
          </a:xfrm>
          <a:prstGeom prst="rect">
            <a:avLst/>
          </a:prstGeom>
          <a:solidFill>
            <a:srgbClr val="F39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17904" y="4818888"/>
            <a:ext cx="11476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18%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2674730" y="4754880"/>
            <a:ext cx="3479475" cy="310896"/>
          </a:xfrm>
          <a:prstGeom prst="rect">
            <a:avLst/>
          </a:prstGeom>
          <a:solidFill>
            <a:srgbClr val="19A5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83874" y="4818888"/>
            <a:ext cx="3461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53%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6154205" y="4754880"/>
            <a:ext cx="717621" cy="310896"/>
          </a:xfrm>
          <a:prstGeom prst="rect">
            <a:avLst/>
          </a:prstGeom>
          <a:solidFill>
            <a:srgbClr val="0D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63349" y="4818888"/>
            <a:ext cx="69933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11%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6871826" y="4754880"/>
            <a:ext cx="1210739" cy="310896"/>
          </a:xfrm>
          <a:prstGeom prst="rect">
            <a:avLst/>
          </a:prstGeom>
          <a:solidFill>
            <a:srgbClr val="4F7D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80970" y="4818888"/>
            <a:ext cx="11924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18%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8732520" y="1737360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732520" y="1737360"/>
            <a:ext cx="64008" cy="1170432"/>
          </a:xfrm>
          <a:prstGeom prst="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33688" y="190195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46,24% → 10,90%</a:t>
            </a:r>
            <a:endParaRPr lang="en-US" sz="2300" dirty="0"/>
          </a:p>
        </p:txBody>
      </p:sp>
      <p:sp>
        <p:nvSpPr>
          <p:cNvPr id="72" name="Text 70"/>
          <p:cNvSpPr/>
          <p:nvPr/>
        </p:nvSpPr>
        <p:spPr>
          <a:xfrm>
            <a:off x="8933688" y="235915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CRUCH: 15–19 años → 40+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732520" y="3246120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32520" y="3246120"/>
            <a:ext cx="64008" cy="1170432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33688" y="341071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19,30% → 52,85%</a:t>
            </a:r>
            <a:endParaRPr lang="en-US" sz="2300" dirty="0"/>
          </a:p>
        </p:txBody>
      </p:sp>
      <p:sp>
        <p:nvSpPr>
          <p:cNvPr id="76" name="Text 74"/>
          <p:cNvSpPr/>
          <p:nvPr/>
        </p:nvSpPr>
        <p:spPr>
          <a:xfrm>
            <a:off x="8933688" y="38679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IP: 15–19 años → 40+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732520" y="4736592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79408" y="4956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Contexto de jornada</a:t>
            </a:r>
            <a:endParaRPr lang="en-US" sz="830" dirty="0"/>
          </a:p>
        </p:txBody>
      </p:sp>
      <p:sp>
        <p:nvSpPr>
          <p:cNvPr id="79" name="Text 77"/>
          <p:cNvSpPr/>
          <p:nvPr/>
        </p:nvSpPr>
        <p:spPr>
          <a:xfrm>
            <a:off x="8979408" y="5193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Diurno 22 años · Vespertino 28 años</a:t>
            </a:r>
            <a:endParaRPr lang="en-US" sz="880" dirty="0"/>
          </a:p>
        </p:txBody>
      </p:sp>
      <p:sp>
        <p:nvSpPr>
          <p:cNvPr id="80" name="Shape 78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DF8F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68680" y="606704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6E68"/>
                </a:solidFill>
              </a:rPr>
              <a:t>Respuesta: sí hay asociación. A mayor edad aumenta la presencia relativa en IP y CFT, y disminuye CRUCH.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Pregunta 3: ¿qué significa “sustantivamente más caro”?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Definimos un criterio reproducible con el rango intercuartílico.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755648"/>
            <a:ext cx="20574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4F7DC9"/>
                </a:solidFill>
              </a:rPr>
              <a:t>Q1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96112" y="23682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</a:rPr>
              <a:t>$1,616 M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063240" y="1755648"/>
            <a:ext cx="20574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9A59C"/>
                </a:solidFill>
              </a:rPr>
              <a:t>Q3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3246120" y="23682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</a:rPr>
              <a:t>$2,580 M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13248" y="1755648"/>
            <a:ext cx="20574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39A4A"/>
                </a:solidFill>
              </a:rPr>
              <a:t>RIC = Q3 − Q1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596128" y="23682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</a:rPr>
              <a:t>$0,964 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909560" y="1755648"/>
            <a:ext cx="329184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9751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D233F"/>
                </a:solidFill>
              </a:rPr>
              <a:t>Límite = Q3 + 1,5 × RIC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092440" y="23682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$4,026 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51560" y="3840480"/>
            <a:ext cx="9966960" cy="0"/>
          </a:xfrm>
          <a:prstGeom prst="line">
            <a:avLst/>
          </a:prstGeom>
          <a:noFill/>
          <a:ln w="50800">
            <a:solidFill>
              <a:srgbClr val="B7C1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11444" y="3730752"/>
            <a:ext cx="5407076" cy="219456"/>
          </a:xfrm>
          <a:prstGeom prst="rect">
            <a:avLst/>
          </a:prstGeom>
          <a:solidFill>
            <a:srgbClr val="F39A4A">
              <a:alpha val="88000"/>
            </a:srgbClr>
          </a:solidFill>
          <a:ln w="12700">
            <a:solidFill>
              <a:srgbClr val="F39A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8604" y="3383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87828"/>
                </a:solidFill>
              </a:rPr>
              <a:t>ofertas extraordinariamente altas →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920240" y="4572000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4572000"/>
            <a:ext cx="64008" cy="1170432"/>
          </a:xfrm>
          <a:prstGeom prst="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408" y="4736592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135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2121408" y="519379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ofertas sobre el límite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55046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F39A4A"/>
                </a:solidFill>
              </a:rPr>
              <a:t>de 1.273 ofertas únicas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806440" y="4572000"/>
            <a:ext cx="3383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4572000"/>
            <a:ext cx="64008" cy="1170432"/>
          </a:xfrm>
          <a:prstGeom prst="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4736592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12B"/>
                </a:solidFill>
              </a:rPr>
              <a:t>10,6%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6007608" y="519379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 las ofertas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07608" y="55046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0D233F"/>
                </a:solidFill>
              </a:rPr>
              <a:t>clasificadas como sustantivamente altas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DF8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606704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6E68"/>
                </a:solidFill>
              </a:rPr>
              <a:t>El criterio no depende de una opinión: cualquier persona que repita el cálculo obtiene el mismo umbral.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Las 135 ofertas altas también están territorialmente concentradas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 pregunta de precio extremo vuelve a conectarse con la Región del Biobío.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4800600" cy="4297680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68"/>
                </a:solidFill>
              </a:rPr>
              <a:t>POR PROVINCIA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22677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A59C"/>
                </a:solidFill>
              </a:rPr>
              <a:t>129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28600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Concepción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286000" y="27980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95,6% de las ofertas sobre el límite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7552" y="35661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DC9"/>
                </a:solidFill>
              </a:rPr>
              <a:t>6  Biobío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54680" y="35661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A4A"/>
                </a:solidFill>
              </a:rPr>
              <a:t>0  Arauco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F"/>
                </a:solidFill>
              </a:rPr>
              <a:t>73 CRUCH  ·  62 privadas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7552" y="49834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Áreas con más casos: Salud 39 · Tecnología 39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1572768"/>
            <a:ext cx="5349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5623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7828"/>
                </a:solidFill>
              </a:rPr>
              <a:t>CARRERAS CON MAYOR ARANCEL MEDIANO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Medicina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863840" y="2404872"/>
            <a:ext cx="2011680" cy="207386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2404872"/>
            <a:ext cx="1982564" cy="207386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0384" y="23500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$7,490 M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172200" y="2825496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Odontología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863840" y="2898648"/>
            <a:ext cx="2011680" cy="207386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898648"/>
            <a:ext cx="1929625" cy="207386"/>
          </a:xfrm>
          <a:prstGeom prst="roundRect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284378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39A4A"/>
                </a:solidFill>
              </a:rPr>
              <a:t>$7,290 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172200" y="3319272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Ing. Civil Química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863840" y="3392424"/>
            <a:ext cx="2011680" cy="207386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3392424"/>
            <a:ext cx="1271594" cy="207386"/>
          </a:xfrm>
          <a:prstGeom prst="round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30384" y="33375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D233F"/>
                </a:solidFill>
              </a:rPr>
              <a:t>$4,804 M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172200" y="381304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Tecnología Médica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863840" y="3886200"/>
            <a:ext cx="2011680" cy="207386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3886200"/>
            <a:ext cx="1262859" cy="207386"/>
          </a:xfrm>
          <a:prstGeom prst="round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30384" y="383133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D233F"/>
                </a:solidFill>
              </a:rPr>
              <a:t>$4,771 M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172200" y="4306824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Ing. Civil Informática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863840" y="4379976"/>
            <a:ext cx="2011680" cy="207386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4379976"/>
            <a:ext cx="1256241" cy="207386"/>
          </a:xfrm>
          <a:prstGeom prst="roundRect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0384" y="432511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D233F"/>
                </a:solidFill>
              </a:rPr>
              <a:t>$4,746 M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172200" y="5056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67085"/>
                </a:solidFill>
              </a:rPr>
              <a:t>Criterio del ranking: al menos 3 ofertas por carrera.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6172200" y="5394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252"/>
                </a:solidFill>
              </a:rPr>
              <a:t>La concentración no demuestra causalidad territorial.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DF8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606704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6E68"/>
                </a:solidFill>
              </a:rPr>
              <a:t>Hallazgo regional fuerte: 129 de 135 ofertas altas se ubican en la provincia de Concepción.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Conclusión: el precio de elegir no es uniforme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Territorio, área de estudio y perfil etario muestran diferencias medibles dentro del Biobío.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64592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92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A59C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81912" y="186537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Territorio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1912" y="23317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Concepción concentra 84,75% de las matrículas y 74,86% de las ofertas únicas.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080760" y="164592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92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A4A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186537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Área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3317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Derecho, Ciencias Básicas y Agropecuaria presentan las mayores medianas de arancel.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13232" y="370332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950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DC9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81912" y="392277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Edad e institución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1912" y="43891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Con mayor edad crece la participación relativa en IP y CFT, mientras disminuye CRUCH.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080760" y="3703320"/>
            <a:ext cx="5074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950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33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92277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Aranceles extremos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3891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135 ofertas superan $4,026 M; 129 están en la provincia de Concepción.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685800" y="5733288"/>
            <a:ext cx="10835640" cy="384048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811012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D233F"/>
                </a:solidFill>
              </a:rPr>
              <a:t>Idea final: identificamos patrones y asociaciones observadas; no atribuimos causas que la base no puede demostrar.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Apoyo para la defensa oral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1060704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Cinco conceptos que explican casi todo el análisis.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</a:rPr>
              <a:t>Fuente: Registro de Matrícula de Educación Superior 2021, Región del Biobío. Elaboración propia.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84080" y="651967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A93A0"/>
                </a:solidFill>
              </a:rPr>
              <a:t>El precio de elegir en Biobío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04672" y="1618488"/>
            <a:ext cx="384048" cy="384048"/>
          </a:xfrm>
          <a:prstGeom prst="ellipse">
            <a:avLst/>
          </a:prstGeom>
          <a:solidFill>
            <a:srgbClr val="19A59C"/>
          </a:solidFill>
          <a:ln w="12700">
            <a:solidFill>
              <a:srgbClr val="19A5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007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Frecuencia relativa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01568" y="15727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Porcentaje que representa una categoría respecto del total.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2423160"/>
            <a:ext cx="384048" cy="384048"/>
          </a:xfrm>
          <a:prstGeom prst="ellipse">
            <a:avLst/>
          </a:prstGeom>
          <a:solidFill>
            <a:srgbClr val="4F7DC9"/>
          </a:solidFill>
          <a:ln w="12700">
            <a:solidFill>
              <a:srgbClr val="4F7D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054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Mediana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377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Valor central; resiste mejor los valores extremos que la media.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227832"/>
            <a:ext cx="384048" cy="384048"/>
          </a:xfrm>
          <a:prstGeom prst="ellipse">
            <a:avLst/>
          </a:prstGeom>
          <a:solidFill>
            <a:srgbClr val="F39A4A"/>
          </a:solidFill>
          <a:ln w="12700">
            <a:solidFill>
              <a:srgbClr val="F39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310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71600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Percentil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1821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Valor que deja por debajo un porcentaje específico de observaciones.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" y="4032504"/>
            <a:ext cx="384048" cy="384048"/>
          </a:xfrm>
          <a:prstGeom prst="ellipse">
            <a:avLst/>
          </a:prstGeom>
          <a:solidFill>
            <a:srgbClr val="0D233F"/>
          </a:solidFill>
          <a:ln w="12700">
            <a:solidFill>
              <a:srgbClr val="0D2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1148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71600" y="39867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RIC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39867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Q3 − Q1; amplitud del 50% central de los datos.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" y="4837176"/>
            <a:ext cx="384048" cy="384048"/>
          </a:xfrm>
          <a:prstGeom prst="ellipse">
            <a:avLst/>
          </a:prstGeom>
          <a:solidFill>
            <a:srgbClr val="C75252"/>
          </a:solidFill>
          <a:ln w="12700">
            <a:solidFill>
              <a:srgbClr val="C7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9194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71600" y="47914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Asociación ≠ causalidad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01568" y="47914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Dos variables pueden cambiar juntas sin que una sea la causa de la otra.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5669280"/>
            <a:ext cx="10195560" cy="566928"/>
          </a:xfrm>
          <a:prstGeom prst="roundRect">
            <a:avLst/>
          </a:prstGeom>
          <a:solidFill>
            <a:srgbClr val="EDF8F7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852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68"/>
                </a:solidFill>
              </a:rPr>
              <a:t>Pregunta clave: ¿por qué ofertas únicas para precios?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58247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Porque una oferta no debe pesar más solo por tener más estudiantes matriculados.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precio de elegir en Biobío</dc:title>
  <dc:subject>Estadística Descriptiva</dc:subject>
  <dc:creator>Nicolás Iván Vega Linero</dc:creator>
  <cp:lastModifiedBy>Nicolás Iván Vega Linero</cp:lastModifiedBy>
  <cp:revision>1</cp:revision>
  <dcterms:created xsi:type="dcterms:W3CDTF">2026-09-26T02:54:11Z</dcterms:created>
  <dcterms:modified xsi:type="dcterms:W3CDTF">2026-09-26T02:54:11Z</dcterms:modified>
</cp:coreProperties>
</file>